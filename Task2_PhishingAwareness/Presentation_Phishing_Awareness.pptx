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nva Sans Bold" charset="1" panose="020B0803030501040103"/>
      <p:regular r:id="rId16"/>
    </p:embeddedFont>
    <p:embeddedFont>
      <p:font typeface="Canva Sans" charset="1" panose="020B0503030501040103"/>
      <p:regular r:id="rId17"/>
    </p:embeddedFont>
    <p:embeddedFont>
      <p:font typeface="TT Runs Bold" charset="1" panose="02000000000000000607"/>
      <p:regular r:id="rId18"/>
    </p:embeddedFont>
    <p:embeddedFont>
      <p:font typeface="TT Runs" charset="1" panose="02000000000000000607"/>
      <p:regular r:id="rId19"/>
    </p:embeddedFont>
    <p:embeddedFont>
      <p:font typeface="Canva Sans Bold Italics" charset="1" panose="020B0803030501040103"/>
      <p:regular r:id="rId20"/>
    </p:embeddedFont>
    <p:embeddedFont>
      <p:font typeface="Roboto Bold" charset="1" panose="02000000000000000000"/>
      <p:regular r:id="rId21"/>
    </p:embeddedFont>
    <p:embeddedFont>
      <p:font typeface="Roboto" charset="1" panose="02000000000000000000"/>
      <p:regular r:id="rId22"/>
    </p:embeddedFont>
    <p:embeddedFont>
      <p:font typeface="Cormorant Garamond Bold" charset="1" panose="000008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CF5FE">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0" y="9565"/>
            <a:ext cx="18288000" cy="10277435"/>
            <a:chOff x="0" y="0"/>
            <a:chExt cx="24384000" cy="13703246"/>
          </a:xfrm>
        </p:grpSpPr>
        <p:grpSp>
          <p:nvGrpSpPr>
            <p:cNvPr name="Group 3" id="3"/>
            <p:cNvGrpSpPr/>
            <p:nvPr/>
          </p:nvGrpSpPr>
          <p:grpSpPr>
            <a:xfrm rot="0">
              <a:off x="0" y="0"/>
              <a:ext cx="24384000" cy="13703246"/>
              <a:chOff x="0" y="0"/>
              <a:chExt cx="4596479" cy="2583115"/>
            </a:xfrm>
          </p:grpSpPr>
          <p:sp>
            <p:nvSpPr>
              <p:cNvPr name="Freeform 4" id="4"/>
              <p:cNvSpPr/>
              <p:nvPr/>
            </p:nvSpPr>
            <p:spPr>
              <a:xfrm flipH="false" flipV="false" rot="0">
                <a:off x="0" y="0"/>
                <a:ext cx="4596479" cy="2583115"/>
              </a:xfrm>
              <a:custGeom>
                <a:avLst/>
                <a:gdLst/>
                <a:ahLst/>
                <a:cxnLst/>
                <a:rect r="r" b="b" t="t" l="l"/>
                <a:pathLst>
                  <a:path h="2583115" w="4596479">
                    <a:moveTo>
                      <a:pt x="4517061" y="0"/>
                    </a:moveTo>
                    <a:lnTo>
                      <a:pt x="79418" y="0"/>
                    </a:lnTo>
                    <a:cubicBezTo>
                      <a:pt x="79418" y="43699"/>
                      <a:pt x="44079" y="79418"/>
                      <a:pt x="0" y="79418"/>
                    </a:cubicBezTo>
                    <a:lnTo>
                      <a:pt x="0" y="2503697"/>
                    </a:lnTo>
                    <a:cubicBezTo>
                      <a:pt x="43699" y="2503697"/>
                      <a:pt x="79418" y="2539036"/>
                      <a:pt x="79418" y="2583115"/>
                    </a:cubicBezTo>
                    <a:lnTo>
                      <a:pt x="4517061" y="2583115"/>
                    </a:lnTo>
                    <a:cubicBezTo>
                      <a:pt x="4517061" y="2539416"/>
                      <a:pt x="4552400" y="2503697"/>
                      <a:pt x="4596479" y="2503697"/>
                    </a:cubicBezTo>
                    <a:lnTo>
                      <a:pt x="4596479" y="79418"/>
                    </a:lnTo>
                    <a:cubicBezTo>
                      <a:pt x="4552780" y="79418"/>
                      <a:pt x="4517061" y="44079"/>
                      <a:pt x="4517061" y="0"/>
                    </a:cubicBezTo>
                    <a:close/>
                  </a:path>
                </a:pathLst>
              </a:custGeom>
              <a:ln w="9525" cap="sq">
                <a:solidFill>
                  <a:srgbClr val="C29C84"/>
                </a:solidFill>
                <a:prstDash val="solid"/>
                <a:miter/>
              </a:ln>
            </p:spPr>
          </p:sp>
          <p:sp>
            <p:nvSpPr>
              <p:cNvPr name="TextBox 5" id="5"/>
              <p:cNvSpPr txBox="true"/>
              <p:nvPr/>
            </p:nvSpPr>
            <p:spPr>
              <a:xfrm>
                <a:off x="38100" y="-9525"/>
                <a:ext cx="4520279" cy="2554540"/>
              </a:xfrm>
              <a:prstGeom prst="rect">
                <a:avLst/>
              </a:prstGeom>
            </p:spPr>
            <p:txBody>
              <a:bodyPr anchor="ctr" rtlCol="false" tIns="50800" lIns="50800" bIns="50800" rIns="50800"/>
              <a:lstStyle/>
              <a:p>
                <a:pPr algn="ctr">
                  <a:lnSpc>
                    <a:spcPts val="2660"/>
                  </a:lnSpc>
                </a:pPr>
              </a:p>
            </p:txBody>
          </p:sp>
        </p:grpSp>
        <p:grpSp>
          <p:nvGrpSpPr>
            <p:cNvPr name="Group 6" id="6"/>
            <p:cNvGrpSpPr/>
            <p:nvPr/>
          </p:nvGrpSpPr>
          <p:grpSpPr>
            <a:xfrm rot="0">
              <a:off x="178937" y="207890"/>
              <a:ext cx="23995525" cy="13287466"/>
              <a:chOff x="0" y="0"/>
              <a:chExt cx="4596479" cy="2545290"/>
            </a:xfrm>
          </p:grpSpPr>
          <p:sp>
            <p:nvSpPr>
              <p:cNvPr name="Freeform 7" id="7"/>
              <p:cNvSpPr/>
              <p:nvPr/>
            </p:nvSpPr>
            <p:spPr>
              <a:xfrm flipH="false" flipV="false" rot="0">
                <a:off x="0" y="0"/>
                <a:ext cx="4596479" cy="2545290"/>
              </a:xfrm>
              <a:custGeom>
                <a:avLst/>
                <a:gdLst/>
                <a:ahLst/>
                <a:cxnLst/>
                <a:rect r="r" b="b" t="t" l="l"/>
                <a:pathLst>
                  <a:path h="2545290" w="4596479">
                    <a:moveTo>
                      <a:pt x="4517061" y="0"/>
                    </a:moveTo>
                    <a:lnTo>
                      <a:pt x="79418" y="0"/>
                    </a:lnTo>
                    <a:cubicBezTo>
                      <a:pt x="79418" y="43699"/>
                      <a:pt x="44079" y="79418"/>
                      <a:pt x="0" y="79418"/>
                    </a:cubicBezTo>
                    <a:lnTo>
                      <a:pt x="0" y="2465872"/>
                    </a:lnTo>
                    <a:cubicBezTo>
                      <a:pt x="43699" y="2465872"/>
                      <a:pt x="79418" y="2501211"/>
                      <a:pt x="79418" y="2545290"/>
                    </a:cubicBezTo>
                    <a:lnTo>
                      <a:pt x="4517061" y="2545290"/>
                    </a:lnTo>
                    <a:cubicBezTo>
                      <a:pt x="4517061" y="2501590"/>
                      <a:pt x="4552400" y="2465872"/>
                      <a:pt x="4596479" y="2465872"/>
                    </a:cubicBezTo>
                    <a:lnTo>
                      <a:pt x="4596479" y="79418"/>
                    </a:lnTo>
                    <a:cubicBezTo>
                      <a:pt x="4552780" y="79418"/>
                      <a:pt x="4517061" y="44079"/>
                      <a:pt x="4517061" y="0"/>
                    </a:cubicBezTo>
                    <a:close/>
                  </a:path>
                </a:pathLst>
              </a:custGeom>
              <a:solidFill>
                <a:srgbClr val="F8F2EC"/>
              </a:solidFill>
              <a:ln w="9525" cap="sq">
                <a:solidFill>
                  <a:srgbClr val="C29C84"/>
                </a:solidFill>
                <a:prstDash val="solid"/>
                <a:miter/>
              </a:ln>
            </p:spPr>
          </p:sp>
          <p:sp>
            <p:nvSpPr>
              <p:cNvPr name="TextBox 8" id="8"/>
              <p:cNvSpPr txBox="true"/>
              <p:nvPr/>
            </p:nvSpPr>
            <p:spPr>
              <a:xfrm>
                <a:off x="38100" y="-9525"/>
                <a:ext cx="4520279" cy="2516715"/>
              </a:xfrm>
              <a:prstGeom prst="rect">
                <a:avLst/>
              </a:prstGeom>
            </p:spPr>
            <p:txBody>
              <a:bodyPr anchor="ctr" rtlCol="false" tIns="50800" lIns="50800" bIns="50800" rIns="50800"/>
              <a:lstStyle/>
              <a:p>
                <a:pPr algn="ctr">
                  <a:lnSpc>
                    <a:spcPts val="2660"/>
                  </a:lnSpc>
                </a:pPr>
              </a:p>
            </p:txBody>
          </p:sp>
        </p:grpSp>
      </p:grpSp>
      <p:grpSp>
        <p:nvGrpSpPr>
          <p:cNvPr name="Group 9" id="9"/>
          <p:cNvGrpSpPr/>
          <p:nvPr/>
        </p:nvGrpSpPr>
        <p:grpSpPr>
          <a:xfrm rot="0">
            <a:off x="16690807" y="-2005476"/>
            <a:ext cx="3966878" cy="4010953"/>
            <a:chOff x="0" y="0"/>
            <a:chExt cx="981509" cy="992414"/>
          </a:xfrm>
        </p:grpSpPr>
        <p:sp>
          <p:nvSpPr>
            <p:cNvPr name="Freeform 10" id="10"/>
            <p:cNvSpPr/>
            <p:nvPr/>
          </p:nvSpPr>
          <p:spPr>
            <a:xfrm flipH="false" flipV="false" rot="0">
              <a:off x="0" y="0"/>
              <a:ext cx="981509" cy="992414"/>
            </a:xfrm>
            <a:custGeom>
              <a:avLst/>
              <a:gdLst/>
              <a:ahLst/>
              <a:cxnLst/>
              <a:rect r="r" b="b" t="t" l="l"/>
              <a:pathLst>
                <a:path h="992414" w="981509">
                  <a:moveTo>
                    <a:pt x="490754" y="0"/>
                  </a:moveTo>
                  <a:cubicBezTo>
                    <a:pt x="219718" y="0"/>
                    <a:pt x="0" y="222159"/>
                    <a:pt x="0" y="496207"/>
                  </a:cubicBezTo>
                  <a:cubicBezTo>
                    <a:pt x="0" y="770254"/>
                    <a:pt x="219718" y="992414"/>
                    <a:pt x="490754" y="992414"/>
                  </a:cubicBezTo>
                  <a:cubicBezTo>
                    <a:pt x="761790" y="992414"/>
                    <a:pt x="981509" y="770254"/>
                    <a:pt x="981509" y="496207"/>
                  </a:cubicBezTo>
                  <a:cubicBezTo>
                    <a:pt x="981509" y="222159"/>
                    <a:pt x="761790" y="0"/>
                    <a:pt x="490754" y="0"/>
                  </a:cubicBezTo>
                  <a:close/>
                </a:path>
              </a:pathLst>
            </a:custGeom>
            <a:ln w="38100" cap="sq">
              <a:gradFill>
                <a:gsLst>
                  <a:gs pos="0">
                    <a:srgbClr val="F8F2EC">
                      <a:alpha val="100000"/>
                    </a:srgbClr>
                  </a:gs>
                  <a:gs pos="100000">
                    <a:srgbClr val="B2977C">
                      <a:alpha val="100000"/>
                    </a:srgbClr>
                  </a:gs>
                </a:gsLst>
                <a:lin ang="2700000"/>
              </a:gradFill>
              <a:prstDash val="solid"/>
              <a:miter/>
            </a:ln>
          </p:spPr>
        </p:sp>
        <p:sp>
          <p:nvSpPr>
            <p:cNvPr name="TextBox 11" id="11"/>
            <p:cNvSpPr txBox="true"/>
            <p:nvPr/>
          </p:nvSpPr>
          <p:spPr>
            <a:xfrm>
              <a:off x="92016" y="112089"/>
              <a:ext cx="797476" cy="787286"/>
            </a:xfrm>
            <a:prstGeom prst="rect">
              <a:avLst/>
            </a:prstGeom>
          </p:spPr>
          <p:txBody>
            <a:bodyPr anchor="ctr" rtlCol="false" tIns="50800" lIns="50800" bIns="50800" rIns="50800"/>
            <a:lstStyle/>
            <a:p>
              <a:pPr algn="ctr">
                <a:lnSpc>
                  <a:spcPts val="2859"/>
                </a:lnSpc>
              </a:pPr>
            </a:p>
          </p:txBody>
        </p:sp>
      </p:grpSp>
      <p:sp>
        <p:nvSpPr>
          <p:cNvPr name="Freeform 12" id="12"/>
          <p:cNvSpPr/>
          <p:nvPr/>
        </p:nvSpPr>
        <p:spPr>
          <a:xfrm flipH="false" flipV="false" rot="0">
            <a:off x="135148" y="2675473"/>
            <a:ext cx="18017704" cy="2801366"/>
          </a:xfrm>
          <a:custGeom>
            <a:avLst/>
            <a:gdLst/>
            <a:ahLst/>
            <a:cxnLst/>
            <a:rect r="r" b="b" t="t" l="l"/>
            <a:pathLst>
              <a:path h="2801366" w="18017704">
                <a:moveTo>
                  <a:pt x="0" y="0"/>
                </a:moveTo>
                <a:lnTo>
                  <a:pt x="18017704" y="0"/>
                </a:lnTo>
                <a:lnTo>
                  <a:pt x="18017704" y="2801366"/>
                </a:lnTo>
                <a:lnTo>
                  <a:pt x="0" y="2801366"/>
                </a:lnTo>
                <a:lnTo>
                  <a:pt x="0" y="0"/>
                </a:lnTo>
                <a:close/>
              </a:path>
            </a:pathLst>
          </a:custGeom>
          <a:blipFill>
            <a:blip r:embed="rId2"/>
            <a:stretch>
              <a:fillRect l="-11113" t="-28150" r="-8224" b="-28150"/>
            </a:stretch>
          </a:blipFill>
        </p:spPr>
      </p:sp>
      <p:grpSp>
        <p:nvGrpSpPr>
          <p:cNvPr name="Group 13" id="13"/>
          <p:cNvGrpSpPr/>
          <p:nvPr/>
        </p:nvGrpSpPr>
        <p:grpSpPr>
          <a:xfrm rot="0">
            <a:off x="5492627" y="6251158"/>
            <a:ext cx="7724650" cy="719375"/>
            <a:chOff x="0" y="0"/>
            <a:chExt cx="2034476" cy="189465"/>
          </a:xfrm>
        </p:grpSpPr>
        <p:sp>
          <p:nvSpPr>
            <p:cNvPr name="Freeform 14" id="14"/>
            <p:cNvSpPr/>
            <p:nvPr/>
          </p:nvSpPr>
          <p:spPr>
            <a:xfrm flipH="false" flipV="false" rot="0">
              <a:off x="0" y="0"/>
              <a:ext cx="2034476" cy="189465"/>
            </a:xfrm>
            <a:custGeom>
              <a:avLst/>
              <a:gdLst/>
              <a:ahLst/>
              <a:cxnLst/>
              <a:rect r="r" b="b" t="t" l="l"/>
              <a:pathLst>
                <a:path h="189465" w="2034476">
                  <a:moveTo>
                    <a:pt x="50112" y="0"/>
                  </a:moveTo>
                  <a:lnTo>
                    <a:pt x="1984364" y="0"/>
                  </a:lnTo>
                  <a:cubicBezTo>
                    <a:pt x="1997654" y="0"/>
                    <a:pt x="2010401" y="5280"/>
                    <a:pt x="2019798" y="14677"/>
                  </a:cubicBezTo>
                  <a:cubicBezTo>
                    <a:pt x="2029196" y="24075"/>
                    <a:pt x="2034476" y="36821"/>
                    <a:pt x="2034476" y="50112"/>
                  </a:cubicBezTo>
                  <a:lnTo>
                    <a:pt x="2034476" y="139353"/>
                  </a:lnTo>
                  <a:cubicBezTo>
                    <a:pt x="2034476" y="167029"/>
                    <a:pt x="2012040" y="189465"/>
                    <a:pt x="1984364" y="189465"/>
                  </a:cubicBezTo>
                  <a:lnTo>
                    <a:pt x="50112" y="189465"/>
                  </a:lnTo>
                  <a:cubicBezTo>
                    <a:pt x="22436" y="189465"/>
                    <a:pt x="0" y="167029"/>
                    <a:pt x="0" y="139353"/>
                  </a:cubicBezTo>
                  <a:lnTo>
                    <a:pt x="0" y="50112"/>
                  </a:lnTo>
                  <a:cubicBezTo>
                    <a:pt x="0" y="36821"/>
                    <a:pt x="5280" y="24075"/>
                    <a:pt x="14677" y="14677"/>
                  </a:cubicBezTo>
                  <a:cubicBezTo>
                    <a:pt x="24075" y="5280"/>
                    <a:pt x="36821" y="0"/>
                    <a:pt x="50112"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a:ln w="19050" cap="rnd">
              <a:solidFill>
                <a:srgbClr val="000000"/>
              </a:solidFill>
              <a:prstDash val="solid"/>
              <a:round/>
            </a:ln>
          </p:spPr>
        </p:sp>
        <p:sp>
          <p:nvSpPr>
            <p:cNvPr name="TextBox 15" id="15"/>
            <p:cNvSpPr txBox="true"/>
            <p:nvPr/>
          </p:nvSpPr>
          <p:spPr>
            <a:xfrm>
              <a:off x="0" y="47625"/>
              <a:ext cx="2034476" cy="141840"/>
            </a:xfrm>
            <a:prstGeom prst="rect">
              <a:avLst/>
            </a:prstGeom>
          </p:spPr>
          <p:txBody>
            <a:bodyPr anchor="ctr" rtlCol="false" tIns="50800" lIns="50800" bIns="50800" rIns="50800"/>
            <a:lstStyle/>
            <a:p>
              <a:pPr algn="ctr">
                <a:lnSpc>
                  <a:spcPts val="1620"/>
                </a:lnSpc>
              </a:pPr>
            </a:p>
          </p:txBody>
        </p:sp>
      </p:grpSp>
      <p:grpSp>
        <p:nvGrpSpPr>
          <p:cNvPr name="Group 16" id="16"/>
          <p:cNvGrpSpPr/>
          <p:nvPr/>
        </p:nvGrpSpPr>
        <p:grpSpPr>
          <a:xfrm rot="0">
            <a:off x="16660951" y="8875129"/>
            <a:ext cx="792192" cy="79219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a:ln w="19050" cap="rnd">
              <a:solidFill>
                <a:srgbClr val="000000"/>
              </a:solidFill>
              <a:prstDash val="solid"/>
              <a:round/>
            </a:ln>
          </p:spPr>
        </p:sp>
        <p:sp>
          <p:nvSpPr>
            <p:cNvPr name="TextBox 18" id="18"/>
            <p:cNvSpPr txBox="true"/>
            <p:nvPr/>
          </p:nvSpPr>
          <p:spPr>
            <a:xfrm>
              <a:off x="76200" y="123825"/>
              <a:ext cx="660400" cy="612775"/>
            </a:xfrm>
            <a:prstGeom prst="rect">
              <a:avLst/>
            </a:prstGeom>
          </p:spPr>
          <p:txBody>
            <a:bodyPr anchor="ctr" rtlCol="false" tIns="50800" lIns="50800" bIns="50800" rIns="50800"/>
            <a:lstStyle/>
            <a:p>
              <a:pPr algn="ctr" marL="0" indent="0" lvl="0">
                <a:lnSpc>
                  <a:spcPts val="1620"/>
                </a:lnSpc>
                <a:spcBef>
                  <a:spcPct val="0"/>
                </a:spcBef>
              </a:pPr>
            </a:p>
          </p:txBody>
        </p:sp>
      </p:grpSp>
      <p:grpSp>
        <p:nvGrpSpPr>
          <p:cNvPr name="Group 19" id="19"/>
          <p:cNvGrpSpPr/>
          <p:nvPr/>
        </p:nvGrpSpPr>
        <p:grpSpPr>
          <a:xfrm rot="0">
            <a:off x="16852884" y="6970533"/>
            <a:ext cx="1458288" cy="145828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1" id="21"/>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22" id="22"/>
          <p:cNvGrpSpPr/>
          <p:nvPr/>
        </p:nvGrpSpPr>
        <p:grpSpPr>
          <a:xfrm rot="0">
            <a:off x="17453143" y="1380239"/>
            <a:ext cx="519003" cy="51900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4" id="24"/>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25" id="25"/>
          <p:cNvGrpSpPr/>
          <p:nvPr/>
        </p:nvGrpSpPr>
        <p:grpSpPr>
          <a:xfrm rot="0">
            <a:off x="-602402" y="7919482"/>
            <a:ext cx="4053563" cy="4010953"/>
            <a:chOff x="0" y="0"/>
            <a:chExt cx="1002957" cy="992414"/>
          </a:xfrm>
        </p:grpSpPr>
        <p:sp>
          <p:nvSpPr>
            <p:cNvPr name="Freeform 26" id="26"/>
            <p:cNvSpPr/>
            <p:nvPr/>
          </p:nvSpPr>
          <p:spPr>
            <a:xfrm flipH="false" flipV="false" rot="0">
              <a:off x="0" y="0"/>
              <a:ext cx="1002957" cy="992414"/>
            </a:xfrm>
            <a:custGeom>
              <a:avLst/>
              <a:gdLst/>
              <a:ahLst/>
              <a:cxnLst/>
              <a:rect r="r" b="b" t="t" l="l"/>
              <a:pathLst>
                <a:path h="992414" w="1002957">
                  <a:moveTo>
                    <a:pt x="501478" y="0"/>
                  </a:moveTo>
                  <a:cubicBezTo>
                    <a:pt x="224519" y="0"/>
                    <a:pt x="0" y="222159"/>
                    <a:pt x="0" y="496207"/>
                  </a:cubicBezTo>
                  <a:cubicBezTo>
                    <a:pt x="0" y="770254"/>
                    <a:pt x="224519" y="992414"/>
                    <a:pt x="501478" y="992414"/>
                  </a:cubicBezTo>
                  <a:cubicBezTo>
                    <a:pt x="778437" y="992414"/>
                    <a:pt x="1002957" y="770254"/>
                    <a:pt x="1002957" y="496207"/>
                  </a:cubicBezTo>
                  <a:cubicBezTo>
                    <a:pt x="1002957" y="222159"/>
                    <a:pt x="778437" y="0"/>
                    <a:pt x="501478" y="0"/>
                  </a:cubicBezTo>
                  <a:close/>
                </a:path>
              </a:pathLst>
            </a:custGeom>
            <a:ln w="38100" cap="sq">
              <a:gradFill>
                <a:gsLst>
                  <a:gs pos="0">
                    <a:srgbClr val="F8F2EC">
                      <a:alpha val="100000"/>
                    </a:srgbClr>
                  </a:gs>
                  <a:gs pos="100000">
                    <a:srgbClr val="B2977C">
                      <a:alpha val="100000"/>
                    </a:srgbClr>
                  </a:gs>
                </a:gsLst>
                <a:lin ang="2700000"/>
              </a:gradFill>
              <a:prstDash val="solid"/>
              <a:miter/>
            </a:ln>
          </p:spPr>
        </p:sp>
        <p:sp>
          <p:nvSpPr>
            <p:cNvPr name="TextBox 27" id="27"/>
            <p:cNvSpPr txBox="true"/>
            <p:nvPr/>
          </p:nvSpPr>
          <p:spPr>
            <a:xfrm>
              <a:off x="94027" y="112089"/>
              <a:ext cx="814902" cy="787286"/>
            </a:xfrm>
            <a:prstGeom prst="rect">
              <a:avLst/>
            </a:prstGeom>
          </p:spPr>
          <p:txBody>
            <a:bodyPr anchor="ctr" rtlCol="false" tIns="50800" lIns="50800" bIns="50800" rIns="50800"/>
            <a:lstStyle/>
            <a:p>
              <a:pPr algn="ctr">
                <a:lnSpc>
                  <a:spcPts val="2859"/>
                </a:lnSpc>
              </a:pPr>
            </a:p>
          </p:txBody>
        </p:sp>
      </p:grpSp>
      <p:grpSp>
        <p:nvGrpSpPr>
          <p:cNvPr name="Group 28" id="28"/>
          <p:cNvGrpSpPr/>
          <p:nvPr/>
        </p:nvGrpSpPr>
        <p:grpSpPr>
          <a:xfrm rot="0">
            <a:off x="135148" y="2627848"/>
            <a:ext cx="18017704" cy="2844208"/>
            <a:chOff x="0" y="0"/>
            <a:chExt cx="4745404" cy="749092"/>
          </a:xfrm>
        </p:grpSpPr>
        <p:sp>
          <p:nvSpPr>
            <p:cNvPr name="Freeform 29" id="29"/>
            <p:cNvSpPr/>
            <p:nvPr/>
          </p:nvSpPr>
          <p:spPr>
            <a:xfrm flipH="false" flipV="false" rot="0">
              <a:off x="0" y="0"/>
              <a:ext cx="4745404" cy="749092"/>
            </a:xfrm>
            <a:custGeom>
              <a:avLst/>
              <a:gdLst/>
              <a:ahLst/>
              <a:cxnLst/>
              <a:rect r="r" b="b" t="t" l="l"/>
              <a:pathLst>
                <a:path h="749092" w="4745404">
                  <a:moveTo>
                    <a:pt x="0" y="0"/>
                  </a:moveTo>
                  <a:lnTo>
                    <a:pt x="4745404" y="0"/>
                  </a:lnTo>
                  <a:lnTo>
                    <a:pt x="4745404" y="749092"/>
                  </a:lnTo>
                  <a:lnTo>
                    <a:pt x="0" y="749092"/>
                  </a:ln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a:ln w="19050" cap="sq">
              <a:gradFill>
                <a:gsLst>
                  <a:gs pos="0">
                    <a:srgbClr val="FFFFFF">
                      <a:alpha val="100000"/>
                    </a:srgbClr>
                  </a:gs>
                  <a:gs pos="50000">
                    <a:srgbClr val="FFFFFF">
                      <a:alpha val="100000"/>
                    </a:srgbClr>
                  </a:gs>
                  <a:gs pos="100000">
                    <a:srgbClr val="ECF5FE">
                      <a:alpha val="100000"/>
                    </a:srgbClr>
                  </a:gs>
                </a:gsLst>
                <a:lin ang="5400000"/>
              </a:gradFill>
              <a:prstDash val="solid"/>
              <a:miter/>
            </a:ln>
          </p:spPr>
        </p:sp>
        <p:sp>
          <p:nvSpPr>
            <p:cNvPr name="TextBox 30" id="30"/>
            <p:cNvSpPr txBox="true"/>
            <p:nvPr/>
          </p:nvSpPr>
          <p:spPr>
            <a:xfrm>
              <a:off x="0" y="47625"/>
              <a:ext cx="4745404" cy="701467"/>
            </a:xfrm>
            <a:prstGeom prst="rect">
              <a:avLst/>
            </a:prstGeom>
          </p:spPr>
          <p:txBody>
            <a:bodyPr anchor="ctr" rtlCol="false" tIns="50800" lIns="50800" bIns="50800" rIns="50800"/>
            <a:lstStyle/>
            <a:p>
              <a:pPr algn="ctr">
                <a:lnSpc>
                  <a:spcPts val="1620"/>
                </a:lnSpc>
              </a:pPr>
            </a:p>
          </p:txBody>
        </p:sp>
      </p:grpSp>
      <p:sp>
        <p:nvSpPr>
          <p:cNvPr name="TextBox 31" id="31"/>
          <p:cNvSpPr txBox="true"/>
          <p:nvPr/>
        </p:nvSpPr>
        <p:spPr>
          <a:xfrm rot="0">
            <a:off x="1885188" y="3303827"/>
            <a:ext cx="14967696" cy="746125"/>
          </a:xfrm>
          <a:prstGeom prst="rect">
            <a:avLst/>
          </a:prstGeom>
        </p:spPr>
        <p:txBody>
          <a:bodyPr anchor="t" rtlCol="false" tIns="0" lIns="0" bIns="0" rIns="0">
            <a:spAutoFit/>
          </a:bodyPr>
          <a:lstStyle/>
          <a:p>
            <a:pPr algn="ctr">
              <a:lnSpc>
                <a:spcPts val="5899"/>
              </a:lnSpc>
            </a:pPr>
            <a:r>
              <a:rPr lang="en-US" b="true" sz="4999">
                <a:solidFill>
                  <a:srgbClr val="000000"/>
                </a:solidFill>
                <a:latin typeface="Canva Sans Bold"/>
                <a:ea typeface="Canva Sans Bold"/>
                <a:cs typeface="Canva Sans Bold"/>
                <a:sym typeface="Canva Sans Bold"/>
              </a:rPr>
              <a:t>PHI</a:t>
            </a:r>
            <a:r>
              <a:rPr lang="en-US" b="true" sz="4999">
                <a:solidFill>
                  <a:srgbClr val="000000"/>
                </a:solidFill>
                <a:latin typeface="Canva Sans Bold"/>
                <a:ea typeface="Canva Sans Bold"/>
                <a:cs typeface="Canva Sans Bold"/>
                <a:sym typeface="Canva Sans Bold"/>
              </a:rPr>
              <a:t>SHING AWARENESS TRAINING</a:t>
            </a:r>
          </a:p>
        </p:txBody>
      </p:sp>
      <p:grpSp>
        <p:nvGrpSpPr>
          <p:cNvPr name="Group 32" id="32"/>
          <p:cNvGrpSpPr/>
          <p:nvPr/>
        </p:nvGrpSpPr>
        <p:grpSpPr>
          <a:xfrm rot="0">
            <a:off x="674168" y="332843"/>
            <a:ext cx="1427910" cy="142791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34" id="3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35" id="35"/>
          <p:cNvGrpSpPr/>
          <p:nvPr/>
        </p:nvGrpSpPr>
        <p:grpSpPr>
          <a:xfrm rot="0">
            <a:off x="0" y="5978043"/>
            <a:ext cx="665846" cy="665846"/>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37" id="3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38" id="38"/>
          <p:cNvGrpSpPr/>
          <p:nvPr/>
        </p:nvGrpSpPr>
        <p:grpSpPr>
          <a:xfrm rot="0">
            <a:off x="574247" y="435694"/>
            <a:ext cx="1427910" cy="1427910"/>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40" id="4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41" id="41"/>
          <p:cNvGrpSpPr/>
          <p:nvPr/>
        </p:nvGrpSpPr>
        <p:grpSpPr>
          <a:xfrm rot="0">
            <a:off x="3192050" y="9012113"/>
            <a:ext cx="518222" cy="518222"/>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43" id="43"/>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sp>
        <p:nvSpPr>
          <p:cNvPr name="TextBox 44" id="44"/>
          <p:cNvSpPr txBox="true"/>
          <p:nvPr/>
        </p:nvSpPr>
        <p:spPr>
          <a:xfrm rot="0">
            <a:off x="6082787" y="4263499"/>
            <a:ext cx="6572497" cy="763143"/>
          </a:xfrm>
          <a:prstGeom prst="rect">
            <a:avLst/>
          </a:prstGeom>
        </p:spPr>
        <p:txBody>
          <a:bodyPr anchor="t" rtlCol="false" tIns="0" lIns="0" bIns="0" rIns="0">
            <a:spAutoFit/>
          </a:bodyPr>
          <a:lstStyle/>
          <a:p>
            <a:pPr algn="ctr">
              <a:lnSpc>
                <a:spcPts val="3095"/>
              </a:lnSpc>
            </a:pPr>
            <a:r>
              <a:rPr lang="en-US" sz="2399" spc="43">
                <a:solidFill>
                  <a:srgbClr val="000000"/>
                </a:solidFill>
                <a:latin typeface="Canva Sans"/>
                <a:ea typeface="Canva Sans"/>
                <a:cs typeface="Canva Sans"/>
                <a:sym typeface="Canva Sans"/>
              </a:rPr>
              <a:t>CODEALPH</a:t>
            </a:r>
            <a:r>
              <a:rPr lang="en-US" sz="2399" spc="43">
                <a:solidFill>
                  <a:srgbClr val="000000"/>
                </a:solidFill>
                <a:latin typeface="Canva Sans"/>
                <a:ea typeface="Canva Sans"/>
                <a:cs typeface="Canva Sans"/>
                <a:sym typeface="Canva Sans"/>
              </a:rPr>
              <a:t>A CYBER SECURITY INTERNSHIP — TASK 2</a:t>
            </a:r>
          </a:p>
        </p:txBody>
      </p:sp>
      <p:sp>
        <p:nvSpPr>
          <p:cNvPr name="TextBox 45" id="45"/>
          <p:cNvSpPr txBox="true"/>
          <p:nvPr/>
        </p:nvSpPr>
        <p:spPr>
          <a:xfrm rot="0">
            <a:off x="6288615" y="9440603"/>
            <a:ext cx="6132674" cy="405809"/>
          </a:xfrm>
          <a:prstGeom prst="rect">
            <a:avLst/>
          </a:prstGeom>
        </p:spPr>
        <p:txBody>
          <a:bodyPr anchor="t" rtlCol="false" tIns="0" lIns="0" bIns="0" rIns="0">
            <a:spAutoFit/>
          </a:bodyPr>
          <a:lstStyle/>
          <a:p>
            <a:pPr algn="ctr">
              <a:lnSpc>
                <a:spcPts val="3359"/>
              </a:lnSpc>
            </a:pPr>
            <a:r>
              <a:rPr lang="en-US" b="true" sz="2400" spc="1020">
                <a:solidFill>
                  <a:srgbClr val="000000"/>
                </a:solidFill>
                <a:latin typeface="TT Runs Bold"/>
                <a:ea typeface="TT Runs Bold"/>
                <a:cs typeface="TT Runs Bold"/>
                <a:sym typeface="TT Runs Bold"/>
              </a:rPr>
              <a:t>PRESENTATION</a:t>
            </a:r>
          </a:p>
        </p:txBody>
      </p:sp>
      <p:sp>
        <p:nvSpPr>
          <p:cNvPr name="TextBox 46" id="46"/>
          <p:cNvSpPr txBox="true"/>
          <p:nvPr/>
        </p:nvSpPr>
        <p:spPr>
          <a:xfrm rot="0">
            <a:off x="7343389" y="9181545"/>
            <a:ext cx="4023125" cy="306705"/>
          </a:xfrm>
          <a:prstGeom prst="rect">
            <a:avLst/>
          </a:prstGeom>
        </p:spPr>
        <p:txBody>
          <a:bodyPr anchor="t" rtlCol="false" tIns="0" lIns="0" bIns="0" rIns="0">
            <a:spAutoFit/>
          </a:bodyPr>
          <a:lstStyle/>
          <a:p>
            <a:pPr algn="ctr">
              <a:lnSpc>
                <a:spcPts val="2519"/>
              </a:lnSpc>
            </a:pPr>
            <a:r>
              <a:rPr lang="en-US" sz="1799">
                <a:solidFill>
                  <a:srgbClr val="000000"/>
                </a:solidFill>
                <a:latin typeface="TT Runs"/>
                <a:ea typeface="TT Runs"/>
                <a:cs typeface="TT Runs"/>
                <a:sym typeface="TT Runs"/>
              </a:rPr>
              <a:t>AUGU 2026</a:t>
            </a:r>
          </a:p>
        </p:txBody>
      </p:sp>
      <p:sp>
        <p:nvSpPr>
          <p:cNvPr name="TextBox 47" id="47"/>
          <p:cNvSpPr txBox="true"/>
          <p:nvPr/>
        </p:nvSpPr>
        <p:spPr>
          <a:xfrm rot="0">
            <a:off x="6553286" y="6455651"/>
            <a:ext cx="5868003" cy="319913"/>
          </a:xfrm>
          <a:prstGeom prst="rect">
            <a:avLst/>
          </a:prstGeom>
        </p:spPr>
        <p:txBody>
          <a:bodyPr anchor="t" rtlCol="false" tIns="0" lIns="0" bIns="0" rIns="0">
            <a:spAutoFit/>
          </a:bodyPr>
          <a:lstStyle/>
          <a:p>
            <a:pPr algn="l">
              <a:lnSpc>
                <a:spcPts val="2595"/>
              </a:lnSpc>
            </a:pPr>
            <a:r>
              <a:rPr lang="en-US" sz="2199" spc="81" u="sng">
                <a:solidFill>
                  <a:srgbClr val="000000"/>
                </a:solidFill>
                <a:latin typeface="Canva Sans"/>
                <a:ea typeface="Canva Sans"/>
                <a:cs typeface="Canva Sans"/>
                <a:sym typeface="Canva Sans"/>
              </a:rPr>
              <a:t>STUDENT NAME:</a:t>
            </a:r>
            <a:r>
              <a:rPr lang="en-US" sz="2199" spc="81">
                <a:solidFill>
                  <a:srgbClr val="000000"/>
                </a:solidFill>
                <a:latin typeface="Canva Sans"/>
                <a:ea typeface="Canva Sans"/>
                <a:cs typeface="Canva Sans"/>
                <a:sym typeface="Canva Sans"/>
              </a:rPr>
              <a:t> </a:t>
            </a:r>
            <a:r>
              <a:rPr lang="en-US" sz="2199" spc="81">
                <a:solidFill>
                  <a:srgbClr val="000000"/>
                </a:solidFill>
                <a:latin typeface="Canva Sans"/>
                <a:ea typeface="Canva Sans"/>
                <a:cs typeface="Canva Sans"/>
                <a:sym typeface="Canva Sans"/>
              </a:rPr>
              <a:t>KACHROUD MAROUA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CF5FE">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0" y="9565"/>
            <a:ext cx="18288000" cy="10277435"/>
            <a:chOff x="0" y="0"/>
            <a:chExt cx="24384000" cy="13703246"/>
          </a:xfrm>
        </p:grpSpPr>
        <p:grpSp>
          <p:nvGrpSpPr>
            <p:cNvPr name="Group 3" id="3"/>
            <p:cNvGrpSpPr/>
            <p:nvPr/>
          </p:nvGrpSpPr>
          <p:grpSpPr>
            <a:xfrm rot="0">
              <a:off x="0" y="0"/>
              <a:ext cx="24384000" cy="13703246"/>
              <a:chOff x="0" y="0"/>
              <a:chExt cx="4596479" cy="2583115"/>
            </a:xfrm>
          </p:grpSpPr>
          <p:sp>
            <p:nvSpPr>
              <p:cNvPr name="Freeform 4" id="4"/>
              <p:cNvSpPr/>
              <p:nvPr/>
            </p:nvSpPr>
            <p:spPr>
              <a:xfrm flipH="false" flipV="false" rot="0">
                <a:off x="0" y="0"/>
                <a:ext cx="4596479" cy="2583115"/>
              </a:xfrm>
              <a:custGeom>
                <a:avLst/>
                <a:gdLst/>
                <a:ahLst/>
                <a:cxnLst/>
                <a:rect r="r" b="b" t="t" l="l"/>
                <a:pathLst>
                  <a:path h="2583115" w="4596479">
                    <a:moveTo>
                      <a:pt x="4517061" y="0"/>
                    </a:moveTo>
                    <a:lnTo>
                      <a:pt x="79418" y="0"/>
                    </a:lnTo>
                    <a:cubicBezTo>
                      <a:pt x="79418" y="43699"/>
                      <a:pt x="44079" y="79418"/>
                      <a:pt x="0" y="79418"/>
                    </a:cubicBezTo>
                    <a:lnTo>
                      <a:pt x="0" y="2503697"/>
                    </a:lnTo>
                    <a:cubicBezTo>
                      <a:pt x="43699" y="2503697"/>
                      <a:pt x="79418" y="2539036"/>
                      <a:pt x="79418" y="2583115"/>
                    </a:cubicBezTo>
                    <a:lnTo>
                      <a:pt x="4517061" y="2583115"/>
                    </a:lnTo>
                    <a:cubicBezTo>
                      <a:pt x="4517061" y="2539416"/>
                      <a:pt x="4552400" y="2503697"/>
                      <a:pt x="4596479" y="2503697"/>
                    </a:cubicBezTo>
                    <a:lnTo>
                      <a:pt x="4596479" y="79418"/>
                    </a:lnTo>
                    <a:cubicBezTo>
                      <a:pt x="4552780" y="79418"/>
                      <a:pt x="4517061" y="44079"/>
                      <a:pt x="4517061" y="0"/>
                    </a:cubicBezTo>
                    <a:close/>
                  </a:path>
                </a:pathLst>
              </a:custGeom>
              <a:ln w="9525" cap="sq">
                <a:solidFill>
                  <a:srgbClr val="C29C84"/>
                </a:solidFill>
                <a:prstDash val="solid"/>
                <a:miter/>
              </a:ln>
            </p:spPr>
          </p:sp>
          <p:sp>
            <p:nvSpPr>
              <p:cNvPr name="TextBox 5" id="5"/>
              <p:cNvSpPr txBox="true"/>
              <p:nvPr/>
            </p:nvSpPr>
            <p:spPr>
              <a:xfrm>
                <a:off x="38100" y="-9525"/>
                <a:ext cx="4520279" cy="2554540"/>
              </a:xfrm>
              <a:prstGeom prst="rect">
                <a:avLst/>
              </a:prstGeom>
            </p:spPr>
            <p:txBody>
              <a:bodyPr anchor="ctr" rtlCol="false" tIns="50800" lIns="50800" bIns="50800" rIns="50800"/>
              <a:lstStyle/>
              <a:p>
                <a:pPr algn="ctr">
                  <a:lnSpc>
                    <a:spcPts val="2660"/>
                  </a:lnSpc>
                </a:pPr>
              </a:p>
            </p:txBody>
          </p:sp>
        </p:grpSp>
        <p:grpSp>
          <p:nvGrpSpPr>
            <p:cNvPr name="Group 6" id="6"/>
            <p:cNvGrpSpPr/>
            <p:nvPr/>
          </p:nvGrpSpPr>
          <p:grpSpPr>
            <a:xfrm rot="0">
              <a:off x="178937" y="207890"/>
              <a:ext cx="23995525" cy="13287466"/>
              <a:chOff x="0" y="0"/>
              <a:chExt cx="4596479" cy="2545290"/>
            </a:xfrm>
          </p:grpSpPr>
          <p:sp>
            <p:nvSpPr>
              <p:cNvPr name="Freeform 7" id="7"/>
              <p:cNvSpPr/>
              <p:nvPr/>
            </p:nvSpPr>
            <p:spPr>
              <a:xfrm flipH="false" flipV="false" rot="0">
                <a:off x="0" y="0"/>
                <a:ext cx="4596479" cy="2545290"/>
              </a:xfrm>
              <a:custGeom>
                <a:avLst/>
                <a:gdLst/>
                <a:ahLst/>
                <a:cxnLst/>
                <a:rect r="r" b="b" t="t" l="l"/>
                <a:pathLst>
                  <a:path h="2545290" w="4596479">
                    <a:moveTo>
                      <a:pt x="4517061" y="0"/>
                    </a:moveTo>
                    <a:lnTo>
                      <a:pt x="79418" y="0"/>
                    </a:lnTo>
                    <a:cubicBezTo>
                      <a:pt x="79418" y="43699"/>
                      <a:pt x="44079" y="79418"/>
                      <a:pt x="0" y="79418"/>
                    </a:cubicBezTo>
                    <a:lnTo>
                      <a:pt x="0" y="2465872"/>
                    </a:lnTo>
                    <a:cubicBezTo>
                      <a:pt x="43699" y="2465872"/>
                      <a:pt x="79418" y="2501211"/>
                      <a:pt x="79418" y="2545290"/>
                    </a:cubicBezTo>
                    <a:lnTo>
                      <a:pt x="4517061" y="2545290"/>
                    </a:lnTo>
                    <a:cubicBezTo>
                      <a:pt x="4517061" y="2501590"/>
                      <a:pt x="4552400" y="2465872"/>
                      <a:pt x="4596479" y="2465872"/>
                    </a:cubicBezTo>
                    <a:lnTo>
                      <a:pt x="4596479" y="79418"/>
                    </a:lnTo>
                    <a:cubicBezTo>
                      <a:pt x="4552780" y="79418"/>
                      <a:pt x="4517061" y="44079"/>
                      <a:pt x="4517061" y="0"/>
                    </a:cubicBezTo>
                    <a:close/>
                  </a:path>
                </a:pathLst>
              </a:custGeom>
              <a:solidFill>
                <a:srgbClr val="F8F2EC"/>
              </a:solidFill>
              <a:ln w="9525" cap="sq">
                <a:solidFill>
                  <a:srgbClr val="C29C84"/>
                </a:solidFill>
                <a:prstDash val="solid"/>
                <a:miter/>
              </a:ln>
            </p:spPr>
          </p:sp>
          <p:sp>
            <p:nvSpPr>
              <p:cNvPr name="TextBox 8" id="8"/>
              <p:cNvSpPr txBox="true"/>
              <p:nvPr/>
            </p:nvSpPr>
            <p:spPr>
              <a:xfrm>
                <a:off x="38100" y="-9525"/>
                <a:ext cx="4520279" cy="2516715"/>
              </a:xfrm>
              <a:prstGeom prst="rect">
                <a:avLst/>
              </a:prstGeom>
            </p:spPr>
            <p:txBody>
              <a:bodyPr anchor="ctr" rtlCol="false" tIns="50800" lIns="50800" bIns="50800" rIns="50800"/>
              <a:lstStyle/>
              <a:p>
                <a:pPr algn="ctr">
                  <a:lnSpc>
                    <a:spcPts val="2660"/>
                  </a:lnSpc>
                </a:pPr>
              </a:p>
            </p:txBody>
          </p:sp>
        </p:grpSp>
      </p:grpSp>
      <p:grpSp>
        <p:nvGrpSpPr>
          <p:cNvPr name="Group 9" id="9"/>
          <p:cNvGrpSpPr/>
          <p:nvPr/>
        </p:nvGrpSpPr>
        <p:grpSpPr>
          <a:xfrm rot="0">
            <a:off x="1288202" y="677425"/>
            <a:ext cx="16405157" cy="9053461"/>
            <a:chOff x="0" y="0"/>
            <a:chExt cx="4320700" cy="2384451"/>
          </a:xfrm>
        </p:grpSpPr>
        <p:sp>
          <p:nvSpPr>
            <p:cNvPr name="Freeform 10" id="10"/>
            <p:cNvSpPr/>
            <p:nvPr/>
          </p:nvSpPr>
          <p:spPr>
            <a:xfrm flipH="false" flipV="false" rot="0">
              <a:off x="0" y="0"/>
              <a:ext cx="4320700" cy="2384451"/>
            </a:xfrm>
            <a:custGeom>
              <a:avLst/>
              <a:gdLst/>
              <a:ahLst/>
              <a:cxnLst/>
              <a:rect r="r" b="b" t="t" l="l"/>
              <a:pathLst>
                <a:path h="2384451" w="4320700">
                  <a:moveTo>
                    <a:pt x="24068" y="0"/>
                  </a:moveTo>
                  <a:lnTo>
                    <a:pt x="4296632" y="0"/>
                  </a:lnTo>
                  <a:cubicBezTo>
                    <a:pt x="4309924" y="0"/>
                    <a:pt x="4320700" y="10776"/>
                    <a:pt x="4320700" y="24068"/>
                  </a:cubicBezTo>
                  <a:lnTo>
                    <a:pt x="4320700" y="2360383"/>
                  </a:lnTo>
                  <a:cubicBezTo>
                    <a:pt x="4320700" y="2373675"/>
                    <a:pt x="4309924" y="2384451"/>
                    <a:pt x="4296632" y="2384451"/>
                  </a:cubicBezTo>
                  <a:lnTo>
                    <a:pt x="24068" y="2384451"/>
                  </a:lnTo>
                  <a:cubicBezTo>
                    <a:pt x="10776" y="2384451"/>
                    <a:pt x="0" y="2373675"/>
                    <a:pt x="0" y="2360383"/>
                  </a:cubicBezTo>
                  <a:lnTo>
                    <a:pt x="0" y="24068"/>
                  </a:lnTo>
                  <a:cubicBezTo>
                    <a:pt x="0" y="10776"/>
                    <a:pt x="10776" y="0"/>
                    <a:pt x="24068"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a:ln w="19050" cap="rnd">
              <a:solidFill>
                <a:srgbClr val="000000"/>
              </a:solidFill>
              <a:prstDash val="solid"/>
              <a:round/>
            </a:ln>
          </p:spPr>
        </p:sp>
        <p:sp>
          <p:nvSpPr>
            <p:cNvPr name="TextBox 11" id="11"/>
            <p:cNvSpPr txBox="true"/>
            <p:nvPr/>
          </p:nvSpPr>
          <p:spPr>
            <a:xfrm>
              <a:off x="0" y="47625"/>
              <a:ext cx="4320700" cy="2336826"/>
            </a:xfrm>
            <a:prstGeom prst="rect">
              <a:avLst/>
            </a:prstGeom>
          </p:spPr>
          <p:txBody>
            <a:bodyPr anchor="ctr" rtlCol="false" tIns="50800" lIns="50800" bIns="50800" rIns="50800"/>
            <a:lstStyle/>
            <a:p>
              <a:pPr algn="ctr">
                <a:lnSpc>
                  <a:spcPts val="1620"/>
                </a:lnSpc>
              </a:pPr>
            </a:p>
          </p:txBody>
        </p:sp>
      </p:grpSp>
      <p:grpSp>
        <p:nvGrpSpPr>
          <p:cNvPr name="Group 12" id="12"/>
          <p:cNvGrpSpPr/>
          <p:nvPr/>
        </p:nvGrpSpPr>
        <p:grpSpPr>
          <a:xfrm rot="-10800000">
            <a:off x="11155563" y="2321714"/>
            <a:ext cx="6537796" cy="5663114"/>
            <a:chOff x="0" y="0"/>
            <a:chExt cx="1721922" cy="1491603"/>
          </a:xfrm>
        </p:grpSpPr>
        <p:sp>
          <p:nvSpPr>
            <p:cNvPr name="Freeform 13" id="13"/>
            <p:cNvSpPr/>
            <p:nvPr/>
          </p:nvSpPr>
          <p:spPr>
            <a:xfrm flipH="false" flipV="false" rot="0">
              <a:off x="0" y="0"/>
              <a:ext cx="1721922" cy="1491603"/>
            </a:xfrm>
            <a:custGeom>
              <a:avLst/>
              <a:gdLst/>
              <a:ahLst/>
              <a:cxnLst/>
              <a:rect r="r" b="b" t="t" l="l"/>
              <a:pathLst>
                <a:path h="1491603" w="1721922">
                  <a:moveTo>
                    <a:pt x="1721922" y="59209"/>
                  </a:moveTo>
                  <a:lnTo>
                    <a:pt x="1721922" y="1432394"/>
                  </a:lnTo>
                  <a:cubicBezTo>
                    <a:pt x="1721922" y="1448097"/>
                    <a:pt x="1715684" y="1463157"/>
                    <a:pt x="1704580" y="1474261"/>
                  </a:cubicBezTo>
                  <a:cubicBezTo>
                    <a:pt x="1693476" y="1485365"/>
                    <a:pt x="1678416" y="1491603"/>
                    <a:pt x="1662713" y="1491603"/>
                  </a:cubicBezTo>
                  <a:lnTo>
                    <a:pt x="59209" y="1491603"/>
                  </a:lnTo>
                  <a:cubicBezTo>
                    <a:pt x="43506" y="1491603"/>
                    <a:pt x="28446" y="1485365"/>
                    <a:pt x="17342" y="1474261"/>
                  </a:cubicBezTo>
                  <a:cubicBezTo>
                    <a:pt x="6238" y="1463157"/>
                    <a:pt x="0" y="1448097"/>
                    <a:pt x="0" y="1432394"/>
                  </a:cubicBezTo>
                  <a:lnTo>
                    <a:pt x="0" y="59209"/>
                  </a:lnTo>
                  <a:cubicBezTo>
                    <a:pt x="0" y="43506"/>
                    <a:pt x="6238" y="28446"/>
                    <a:pt x="17342" y="17342"/>
                  </a:cubicBezTo>
                  <a:cubicBezTo>
                    <a:pt x="28446" y="6238"/>
                    <a:pt x="43506" y="0"/>
                    <a:pt x="59209" y="0"/>
                  </a:cubicBezTo>
                  <a:lnTo>
                    <a:pt x="1662713" y="0"/>
                  </a:lnTo>
                  <a:cubicBezTo>
                    <a:pt x="1695413" y="0"/>
                    <a:pt x="1721922" y="26509"/>
                    <a:pt x="1721922" y="59209"/>
                  </a:cubicBezTo>
                  <a:close/>
                </a:path>
              </a:pathLst>
            </a:custGeom>
            <a:solidFill>
              <a:srgbClr val="FFFFFF"/>
            </a:solidFill>
            <a:ln w="9525" cap="rnd">
              <a:solidFill>
                <a:srgbClr val="1E1E1E"/>
              </a:solidFill>
              <a:prstDash val="solid"/>
              <a:round/>
            </a:ln>
          </p:spPr>
        </p:sp>
        <p:sp>
          <p:nvSpPr>
            <p:cNvPr name="TextBox 14" id="14"/>
            <p:cNvSpPr txBox="true"/>
            <p:nvPr/>
          </p:nvSpPr>
          <p:spPr>
            <a:xfrm>
              <a:off x="0" y="-38100"/>
              <a:ext cx="1721922" cy="1529703"/>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4745418" y="417923"/>
            <a:ext cx="519003" cy="51900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17" id="17"/>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18" id="18"/>
          <p:cNvGrpSpPr/>
          <p:nvPr/>
        </p:nvGrpSpPr>
        <p:grpSpPr>
          <a:xfrm rot="0">
            <a:off x="15976646" y="155750"/>
            <a:ext cx="1427910" cy="142791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0" id="2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21" id="21"/>
          <p:cNvGrpSpPr/>
          <p:nvPr/>
        </p:nvGrpSpPr>
        <p:grpSpPr>
          <a:xfrm rot="0">
            <a:off x="2257890" y="9271213"/>
            <a:ext cx="626973" cy="62697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3" id="23"/>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24" id="24"/>
          <p:cNvGrpSpPr/>
          <p:nvPr/>
        </p:nvGrpSpPr>
        <p:grpSpPr>
          <a:xfrm rot="-5400000">
            <a:off x="-4484763" y="4484763"/>
            <a:ext cx="10439441" cy="1469916"/>
            <a:chOff x="0" y="0"/>
            <a:chExt cx="2749482" cy="387138"/>
          </a:xfrm>
        </p:grpSpPr>
        <p:sp>
          <p:nvSpPr>
            <p:cNvPr name="Freeform 25" id="25"/>
            <p:cNvSpPr/>
            <p:nvPr/>
          </p:nvSpPr>
          <p:spPr>
            <a:xfrm flipH="false" flipV="false" rot="0">
              <a:off x="0" y="0"/>
              <a:ext cx="2749483" cy="387138"/>
            </a:xfrm>
            <a:custGeom>
              <a:avLst/>
              <a:gdLst/>
              <a:ahLst/>
              <a:cxnLst/>
              <a:rect r="r" b="b" t="t" l="l"/>
              <a:pathLst>
                <a:path h="387138" w="2749483">
                  <a:moveTo>
                    <a:pt x="74160" y="0"/>
                  </a:moveTo>
                  <a:lnTo>
                    <a:pt x="2675322" y="0"/>
                  </a:lnTo>
                  <a:cubicBezTo>
                    <a:pt x="2694991" y="0"/>
                    <a:pt x="2713854" y="7813"/>
                    <a:pt x="2727762" y="21721"/>
                  </a:cubicBezTo>
                  <a:cubicBezTo>
                    <a:pt x="2741669" y="35629"/>
                    <a:pt x="2749483" y="54492"/>
                    <a:pt x="2749483" y="74160"/>
                  </a:cubicBezTo>
                  <a:lnTo>
                    <a:pt x="2749483" y="312978"/>
                  </a:lnTo>
                  <a:cubicBezTo>
                    <a:pt x="2749483" y="332647"/>
                    <a:pt x="2741669" y="351510"/>
                    <a:pt x="2727762" y="365417"/>
                  </a:cubicBezTo>
                  <a:cubicBezTo>
                    <a:pt x="2713854" y="379325"/>
                    <a:pt x="2694991" y="387138"/>
                    <a:pt x="2675322" y="387138"/>
                  </a:cubicBezTo>
                  <a:lnTo>
                    <a:pt x="74160" y="387138"/>
                  </a:lnTo>
                  <a:cubicBezTo>
                    <a:pt x="54492" y="387138"/>
                    <a:pt x="35629" y="379325"/>
                    <a:pt x="21721" y="365417"/>
                  </a:cubicBezTo>
                  <a:cubicBezTo>
                    <a:pt x="7813" y="351510"/>
                    <a:pt x="0" y="332647"/>
                    <a:pt x="0" y="312978"/>
                  </a:cubicBezTo>
                  <a:lnTo>
                    <a:pt x="0" y="74160"/>
                  </a:lnTo>
                  <a:cubicBezTo>
                    <a:pt x="0" y="54492"/>
                    <a:pt x="7813" y="35629"/>
                    <a:pt x="21721" y="21721"/>
                  </a:cubicBezTo>
                  <a:cubicBezTo>
                    <a:pt x="35629" y="7813"/>
                    <a:pt x="54492" y="0"/>
                    <a:pt x="7416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6" id="26"/>
            <p:cNvSpPr txBox="true"/>
            <p:nvPr/>
          </p:nvSpPr>
          <p:spPr>
            <a:xfrm>
              <a:off x="0" y="-38100"/>
              <a:ext cx="2749482" cy="425238"/>
            </a:xfrm>
            <a:prstGeom prst="rect">
              <a:avLst/>
            </a:prstGeom>
          </p:spPr>
          <p:txBody>
            <a:bodyPr anchor="ctr" rtlCol="false" tIns="50800" lIns="50800" bIns="50800" rIns="50800"/>
            <a:lstStyle/>
            <a:p>
              <a:pPr algn="ctr" marL="0" indent="0" lvl="0">
                <a:lnSpc>
                  <a:spcPts val="2659"/>
                </a:lnSpc>
              </a:pPr>
            </a:p>
          </p:txBody>
        </p:sp>
      </p:grpSp>
      <p:grpSp>
        <p:nvGrpSpPr>
          <p:cNvPr name="Group 27" id="27"/>
          <p:cNvGrpSpPr/>
          <p:nvPr/>
        </p:nvGrpSpPr>
        <p:grpSpPr>
          <a:xfrm rot="0">
            <a:off x="368456" y="350702"/>
            <a:ext cx="2202920" cy="2211457"/>
            <a:chOff x="0" y="0"/>
            <a:chExt cx="732060" cy="734897"/>
          </a:xfrm>
        </p:grpSpPr>
        <p:sp>
          <p:nvSpPr>
            <p:cNvPr name="Freeform 28" id="28"/>
            <p:cNvSpPr/>
            <p:nvPr/>
          </p:nvSpPr>
          <p:spPr>
            <a:xfrm flipH="false" flipV="false" rot="0">
              <a:off x="0" y="0"/>
              <a:ext cx="732060" cy="734897"/>
            </a:xfrm>
            <a:custGeom>
              <a:avLst/>
              <a:gdLst/>
              <a:ahLst/>
              <a:cxnLst/>
              <a:rect r="r" b="b" t="t" l="l"/>
              <a:pathLst>
                <a:path h="734897" w="732060">
                  <a:moveTo>
                    <a:pt x="366030" y="0"/>
                  </a:moveTo>
                  <a:cubicBezTo>
                    <a:pt x="163877" y="0"/>
                    <a:pt x="0" y="164512"/>
                    <a:pt x="0" y="367448"/>
                  </a:cubicBezTo>
                  <a:cubicBezTo>
                    <a:pt x="0" y="570384"/>
                    <a:pt x="163877" y="734897"/>
                    <a:pt x="366030" y="734897"/>
                  </a:cubicBezTo>
                  <a:cubicBezTo>
                    <a:pt x="568183" y="734897"/>
                    <a:pt x="732060" y="570384"/>
                    <a:pt x="732060" y="367448"/>
                  </a:cubicBezTo>
                  <a:cubicBezTo>
                    <a:pt x="732060" y="164512"/>
                    <a:pt x="568183" y="0"/>
                    <a:pt x="36603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9" id="29"/>
            <p:cNvSpPr txBox="true"/>
            <p:nvPr/>
          </p:nvSpPr>
          <p:spPr>
            <a:xfrm>
              <a:off x="68631" y="87947"/>
              <a:ext cx="594799" cy="578054"/>
            </a:xfrm>
            <a:prstGeom prst="rect">
              <a:avLst/>
            </a:prstGeom>
          </p:spPr>
          <p:txBody>
            <a:bodyPr anchor="ctr" rtlCol="false" tIns="50800" lIns="50800" bIns="50800" rIns="50800"/>
            <a:lstStyle/>
            <a:p>
              <a:pPr algn="ctr">
                <a:lnSpc>
                  <a:spcPts val="2859"/>
                </a:lnSpc>
              </a:pPr>
            </a:p>
          </p:txBody>
        </p:sp>
      </p:grpSp>
      <p:grpSp>
        <p:nvGrpSpPr>
          <p:cNvPr name="Group 30" id="30"/>
          <p:cNvGrpSpPr/>
          <p:nvPr/>
        </p:nvGrpSpPr>
        <p:grpSpPr>
          <a:xfrm rot="0">
            <a:off x="584560" y="555442"/>
            <a:ext cx="1770713" cy="1766272"/>
            <a:chOff x="0" y="0"/>
            <a:chExt cx="2360950" cy="2355029"/>
          </a:xfrm>
        </p:grpSpPr>
        <p:grpSp>
          <p:nvGrpSpPr>
            <p:cNvPr name="Group 31" id="31"/>
            <p:cNvGrpSpPr/>
            <p:nvPr/>
          </p:nvGrpSpPr>
          <p:grpSpPr>
            <a:xfrm rot="0">
              <a:off x="0" y="0"/>
              <a:ext cx="2360950" cy="2355029"/>
              <a:chOff x="0" y="0"/>
              <a:chExt cx="829178" cy="827099"/>
            </a:xfrm>
          </p:grpSpPr>
          <p:sp>
            <p:nvSpPr>
              <p:cNvPr name="Freeform 32" id="32"/>
              <p:cNvSpPr/>
              <p:nvPr/>
            </p:nvSpPr>
            <p:spPr>
              <a:xfrm flipH="false" flipV="false" rot="0">
                <a:off x="0" y="0"/>
                <a:ext cx="829178" cy="827099"/>
              </a:xfrm>
              <a:custGeom>
                <a:avLst/>
                <a:gdLst/>
                <a:ahLst/>
                <a:cxnLst/>
                <a:rect r="r" b="b" t="t" l="l"/>
                <a:pathLst>
                  <a:path h="827099" w="829178">
                    <a:moveTo>
                      <a:pt x="414589" y="0"/>
                    </a:moveTo>
                    <a:cubicBezTo>
                      <a:pt x="185618" y="0"/>
                      <a:pt x="0" y="185152"/>
                      <a:pt x="0" y="413549"/>
                    </a:cubicBezTo>
                    <a:cubicBezTo>
                      <a:pt x="0" y="641946"/>
                      <a:pt x="185618" y="827099"/>
                      <a:pt x="414589" y="827099"/>
                    </a:cubicBezTo>
                    <a:cubicBezTo>
                      <a:pt x="643560" y="827099"/>
                      <a:pt x="829178" y="641946"/>
                      <a:pt x="829178" y="413549"/>
                    </a:cubicBezTo>
                    <a:cubicBezTo>
                      <a:pt x="829178" y="185152"/>
                      <a:pt x="643560" y="0"/>
                      <a:pt x="414589"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33" id="33"/>
              <p:cNvSpPr txBox="true"/>
              <p:nvPr/>
            </p:nvSpPr>
            <p:spPr>
              <a:xfrm>
                <a:off x="77735" y="-36759"/>
                <a:ext cx="673707" cy="786318"/>
              </a:xfrm>
              <a:prstGeom prst="rect">
                <a:avLst/>
              </a:prstGeom>
            </p:spPr>
            <p:txBody>
              <a:bodyPr anchor="ctr" rtlCol="false" tIns="76777" lIns="76777" bIns="76777" rIns="76777"/>
              <a:lstStyle/>
              <a:p>
                <a:pPr algn="ctr">
                  <a:lnSpc>
                    <a:spcPts val="8400"/>
                  </a:lnSpc>
                </a:pPr>
              </a:p>
            </p:txBody>
          </p:sp>
        </p:grpSp>
        <p:sp>
          <p:nvSpPr>
            <p:cNvPr name="TextBox 34" id="34"/>
            <p:cNvSpPr txBox="true"/>
            <p:nvPr/>
          </p:nvSpPr>
          <p:spPr>
            <a:xfrm rot="0">
              <a:off x="907076" y="658719"/>
              <a:ext cx="546799" cy="1123316"/>
            </a:xfrm>
            <a:prstGeom prst="rect">
              <a:avLst/>
            </a:prstGeom>
          </p:spPr>
          <p:txBody>
            <a:bodyPr anchor="t" rtlCol="false" tIns="0" lIns="0" bIns="0" rIns="0">
              <a:spAutoFit/>
            </a:bodyPr>
            <a:lstStyle/>
            <a:p>
              <a:pPr algn="ctr" marL="0" indent="0" lvl="0">
                <a:lnSpc>
                  <a:spcPts val="6360"/>
                </a:lnSpc>
              </a:pPr>
              <a:r>
                <a:rPr lang="en-US" b="true" sz="6000" spc="222">
                  <a:solidFill>
                    <a:srgbClr val="000000"/>
                  </a:solidFill>
                  <a:latin typeface="Canva Sans Bold"/>
                  <a:ea typeface="Canva Sans Bold"/>
                  <a:cs typeface="Canva Sans Bold"/>
                  <a:sym typeface="Canva Sans Bold"/>
                </a:rPr>
                <a:t>1</a:t>
              </a:r>
            </a:p>
          </p:txBody>
        </p:sp>
      </p:grpSp>
      <p:grpSp>
        <p:nvGrpSpPr>
          <p:cNvPr name="Group 35" id="35"/>
          <p:cNvGrpSpPr/>
          <p:nvPr/>
        </p:nvGrpSpPr>
        <p:grpSpPr>
          <a:xfrm rot="0">
            <a:off x="177637" y="2701377"/>
            <a:ext cx="1114641" cy="1082510"/>
            <a:chOff x="0" y="0"/>
            <a:chExt cx="1486188" cy="1443347"/>
          </a:xfrm>
        </p:grpSpPr>
        <p:grpSp>
          <p:nvGrpSpPr>
            <p:cNvPr name="Group 36" id="36"/>
            <p:cNvGrpSpPr/>
            <p:nvPr/>
          </p:nvGrpSpPr>
          <p:grpSpPr>
            <a:xfrm rot="0">
              <a:off x="0" y="0"/>
              <a:ext cx="1486188" cy="1443347"/>
              <a:chOff x="0" y="0"/>
              <a:chExt cx="812800" cy="789370"/>
            </a:xfrm>
          </p:grpSpPr>
          <p:sp>
            <p:nvSpPr>
              <p:cNvPr name="Freeform 37" id="37"/>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38" id="38"/>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39" id="39"/>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2</a:t>
              </a:r>
            </a:p>
          </p:txBody>
        </p:sp>
      </p:grpSp>
      <p:grpSp>
        <p:nvGrpSpPr>
          <p:cNvPr name="Group 40" id="40"/>
          <p:cNvGrpSpPr/>
          <p:nvPr/>
        </p:nvGrpSpPr>
        <p:grpSpPr>
          <a:xfrm rot="0">
            <a:off x="173560" y="4060990"/>
            <a:ext cx="1114641" cy="1082510"/>
            <a:chOff x="0" y="0"/>
            <a:chExt cx="1486188" cy="1443347"/>
          </a:xfrm>
        </p:grpSpPr>
        <p:grpSp>
          <p:nvGrpSpPr>
            <p:cNvPr name="Group 41" id="41"/>
            <p:cNvGrpSpPr/>
            <p:nvPr/>
          </p:nvGrpSpPr>
          <p:grpSpPr>
            <a:xfrm rot="0">
              <a:off x="0" y="0"/>
              <a:ext cx="1486188" cy="1443347"/>
              <a:chOff x="0" y="0"/>
              <a:chExt cx="812800" cy="789370"/>
            </a:xfrm>
          </p:grpSpPr>
          <p:sp>
            <p:nvSpPr>
              <p:cNvPr name="Freeform 42" id="42"/>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43" id="43"/>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44" id="44"/>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3</a:t>
              </a:r>
            </a:p>
          </p:txBody>
        </p:sp>
      </p:grpSp>
      <p:grpSp>
        <p:nvGrpSpPr>
          <p:cNvPr name="Group 45" id="45"/>
          <p:cNvGrpSpPr/>
          <p:nvPr/>
        </p:nvGrpSpPr>
        <p:grpSpPr>
          <a:xfrm rot="0">
            <a:off x="177637" y="5419725"/>
            <a:ext cx="1114641" cy="1082510"/>
            <a:chOff x="0" y="0"/>
            <a:chExt cx="1486188" cy="1443347"/>
          </a:xfrm>
        </p:grpSpPr>
        <p:grpSp>
          <p:nvGrpSpPr>
            <p:cNvPr name="Group 46" id="46"/>
            <p:cNvGrpSpPr/>
            <p:nvPr/>
          </p:nvGrpSpPr>
          <p:grpSpPr>
            <a:xfrm rot="0">
              <a:off x="0" y="0"/>
              <a:ext cx="1486188" cy="1443347"/>
              <a:chOff x="0" y="0"/>
              <a:chExt cx="812800" cy="789370"/>
            </a:xfrm>
          </p:grpSpPr>
          <p:sp>
            <p:nvSpPr>
              <p:cNvPr name="Freeform 47" id="47"/>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48" id="48"/>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49" id="49"/>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4</a:t>
              </a:r>
            </a:p>
          </p:txBody>
        </p:sp>
      </p:grpSp>
      <p:grpSp>
        <p:nvGrpSpPr>
          <p:cNvPr name="Group 50" id="50"/>
          <p:cNvGrpSpPr/>
          <p:nvPr/>
        </p:nvGrpSpPr>
        <p:grpSpPr>
          <a:xfrm rot="0">
            <a:off x="173560" y="6778460"/>
            <a:ext cx="1114641" cy="1082510"/>
            <a:chOff x="0" y="0"/>
            <a:chExt cx="1486188" cy="1443347"/>
          </a:xfrm>
        </p:grpSpPr>
        <p:grpSp>
          <p:nvGrpSpPr>
            <p:cNvPr name="Group 51" id="51"/>
            <p:cNvGrpSpPr/>
            <p:nvPr/>
          </p:nvGrpSpPr>
          <p:grpSpPr>
            <a:xfrm rot="0">
              <a:off x="0" y="0"/>
              <a:ext cx="1486188" cy="1443347"/>
              <a:chOff x="0" y="0"/>
              <a:chExt cx="812800" cy="789370"/>
            </a:xfrm>
          </p:grpSpPr>
          <p:sp>
            <p:nvSpPr>
              <p:cNvPr name="Freeform 52" id="52"/>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53" id="53"/>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54" id="54"/>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5</a:t>
              </a:r>
            </a:p>
          </p:txBody>
        </p:sp>
      </p:grpSp>
      <p:grpSp>
        <p:nvGrpSpPr>
          <p:cNvPr name="Group 55" id="55"/>
          <p:cNvGrpSpPr/>
          <p:nvPr/>
        </p:nvGrpSpPr>
        <p:grpSpPr>
          <a:xfrm rot="0">
            <a:off x="177637" y="8106641"/>
            <a:ext cx="1114641" cy="1082510"/>
            <a:chOff x="0" y="0"/>
            <a:chExt cx="1486188" cy="1443347"/>
          </a:xfrm>
        </p:grpSpPr>
        <p:grpSp>
          <p:nvGrpSpPr>
            <p:cNvPr name="Group 56" id="56"/>
            <p:cNvGrpSpPr/>
            <p:nvPr/>
          </p:nvGrpSpPr>
          <p:grpSpPr>
            <a:xfrm rot="0">
              <a:off x="0" y="0"/>
              <a:ext cx="1486188" cy="1443347"/>
              <a:chOff x="0" y="0"/>
              <a:chExt cx="812800" cy="789370"/>
            </a:xfrm>
          </p:grpSpPr>
          <p:sp>
            <p:nvSpPr>
              <p:cNvPr name="Freeform 57" id="57"/>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58" id="58"/>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59" id="59"/>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6</a:t>
              </a:r>
            </a:p>
          </p:txBody>
        </p:sp>
      </p:grpSp>
      <p:grpSp>
        <p:nvGrpSpPr>
          <p:cNvPr name="Group 60" id="60"/>
          <p:cNvGrpSpPr/>
          <p:nvPr/>
        </p:nvGrpSpPr>
        <p:grpSpPr>
          <a:xfrm rot="0">
            <a:off x="15397573" y="9325198"/>
            <a:ext cx="519003" cy="519003"/>
            <a:chOff x="0" y="0"/>
            <a:chExt cx="812800" cy="812800"/>
          </a:xfrm>
        </p:grpSpPr>
        <p:sp>
          <p:nvSpPr>
            <p:cNvPr name="Freeform 61" id="6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62" id="62"/>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sp>
        <p:nvSpPr>
          <p:cNvPr name="TextBox 63" id="63"/>
          <p:cNvSpPr txBox="true"/>
          <p:nvPr/>
        </p:nvSpPr>
        <p:spPr>
          <a:xfrm rot="0">
            <a:off x="2884863" y="1250468"/>
            <a:ext cx="9983198" cy="556895"/>
          </a:xfrm>
          <a:prstGeom prst="rect">
            <a:avLst/>
          </a:prstGeom>
        </p:spPr>
        <p:txBody>
          <a:bodyPr anchor="t" rtlCol="false" tIns="0" lIns="0" bIns="0" rIns="0">
            <a:spAutoFit/>
          </a:bodyPr>
          <a:lstStyle/>
          <a:p>
            <a:pPr algn="l">
              <a:lnSpc>
                <a:spcPts val="4240"/>
              </a:lnSpc>
              <a:spcBef>
                <a:spcPct val="0"/>
              </a:spcBef>
            </a:pPr>
            <a:r>
              <a:rPr lang="en-US" b="true" sz="4000" i="true" spc="148" u="sng">
                <a:solidFill>
                  <a:srgbClr val="000000"/>
                </a:solidFill>
                <a:latin typeface="Canva Sans Bold Italics"/>
                <a:ea typeface="Canva Sans Bold Italics"/>
                <a:cs typeface="Canva Sans Bold Italics"/>
                <a:sym typeface="Canva Sans Bold Italics"/>
              </a:rPr>
              <a:t>What</a:t>
            </a:r>
            <a:r>
              <a:rPr lang="en-US" b="true" sz="4000" i="true" spc="148" u="sng">
                <a:solidFill>
                  <a:srgbClr val="000000"/>
                </a:solidFill>
                <a:latin typeface="Canva Sans Bold Italics"/>
                <a:ea typeface="Canva Sans Bold Italics"/>
                <a:cs typeface="Canva Sans Bold Italics"/>
                <a:sym typeface="Canva Sans Bold Italics"/>
              </a:rPr>
              <a:t> Is Phishing?</a:t>
            </a:r>
          </a:p>
        </p:txBody>
      </p:sp>
      <p:sp>
        <p:nvSpPr>
          <p:cNvPr name="TextBox 64" id="64"/>
          <p:cNvSpPr txBox="true"/>
          <p:nvPr/>
        </p:nvSpPr>
        <p:spPr>
          <a:xfrm rot="0">
            <a:off x="2355273" y="2644227"/>
            <a:ext cx="8385033" cy="3498850"/>
          </a:xfrm>
          <a:prstGeom prst="rect">
            <a:avLst/>
          </a:prstGeom>
        </p:spPr>
        <p:txBody>
          <a:bodyPr anchor="t" rtlCol="false" tIns="0" lIns="0" bIns="0" rIns="0">
            <a:spAutoFit/>
          </a:bodyPr>
          <a:lstStyle/>
          <a:p>
            <a:pPr algn="just" marL="539751" indent="-269876" lvl="1">
              <a:lnSpc>
                <a:spcPts val="3500"/>
              </a:lnSpc>
              <a:buFont typeface="Arial"/>
              <a:buChar char="•"/>
            </a:pPr>
            <a:r>
              <a:rPr lang="en-US" sz="2500" spc="-50">
                <a:solidFill>
                  <a:srgbClr val="1E1E1E"/>
                </a:solidFill>
                <a:latin typeface="Canva Sans"/>
                <a:ea typeface="Canva Sans"/>
                <a:cs typeface="Canva Sans"/>
                <a:sym typeface="Canva Sans"/>
              </a:rPr>
              <a:t>Phi</a:t>
            </a:r>
            <a:r>
              <a:rPr lang="en-US" sz="2500" spc="-50">
                <a:solidFill>
                  <a:srgbClr val="1E1E1E"/>
                </a:solidFill>
                <a:latin typeface="Canva Sans"/>
                <a:ea typeface="Canva Sans"/>
                <a:cs typeface="Canva Sans"/>
                <a:sym typeface="Canva Sans"/>
              </a:rPr>
              <a:t>shing is a form of social engineering designed to trick people into revealing information, clicking harmful links, or opening malicious files.</a:t>
            </a:r>
          </a:p>
          <a:p>
            <a:pPr algn="just" marL="539751" indent="-269876" lvl="1">
              <a:lnSpc>
                <a:spcPts val="3500"/>
              </a:lnSpc>
              <a:buFont typeface="Arial"/>
              <a:buChar char="•"/>
            </a:pPr>
            <a:r>
              <a:rPr lang="en-US" sz="2500" spc="-50">
                <a:solidFill>
                  <a:srgbClr val="1E1E1E"/>
                </a:solidFill>
                <a:latin typeface="Canva Sans"/>
                <a:ea typeface="Canva Sans"/>
                <a:cs typeface="Canva Sans"/>
                <a:sym typeface="Canva Sans"/>
              </a:rPr>
              <a:t>Attackers often impersonate trusted </a:t>
            </a:r>
            <a:r>
              <a:rPr lang="en-US" sz="2500" spc="-50">
                <a:solidFill>
                  <a:srgbClr val="1E1E1E"/>
                </a:solidFill>
                <a:latin typeface="Canva Sans"/>
                <a:ea typeface="Canva Sans"/>
                <a:cs typeface="Canva Sans"/>
                <a:sym typeface="Canva Sans"/>
              </a:rPr>
              <a:t>organizations, colleagues, services, or people.</a:t>
            </a:r>
          </a:p>
          <a:p>
            <a:pPr algn="just" marL="539751" indent="-269876" lvl="1">
              <a:lnSpc>
                <a:spcPts val="3500"/>
              </a:lnSpc>
              <a:buFont typeface="Arial"/>
              <a:buChar char="•"/>
            </a:pPr>
            <a:r>
              <a:rPr lang="en-US" sz="2500" spc="-50">
                <a:solidFill>
                  <a:srgbClr val="1E1E1E"/>
                </a:solidFill>
                <a:latin typeface="Canva Sans"/>
                <a:ea typeface="Canva Sans"/>
                <a:cs typeface="Canva Sans"/>
                <a:sym typeface="Canva Sans"/>
              </a:rPr>
              <a:t>Common goals include stealing credentials, financial information, or gaining access to systems.</a:t>
            </a:r>
          </a:p>
          <a:p>
            <a:pPr algn="just">
              <a:lnSpc>
                <a:spcPts val="3500"/>
              </a:lnSpc>
            </a:pPr>
          </a:p>
        </p:txBody>
      </p:sp>
      <p:grpSp>
        <p:nvGrpSpPr>
          <p:cNvPr name="Group 65" id="65"/>
          <p:cNvGrpSpPr/>
          <p:nvPr/>
        </p:nvGrpSpPr>
        <p:grpSpPr>
          <a:xfrm rot="0">
            <a:off x="11155563" y="2364218"/>
            <a:ext cx="6537796" cy="5558564"/>
            <a:chOff x="0" y="0"/>
            <a:chExt cx="8717062" cy="7411418"/>
          </a:xfrm>
        </p:grpSpPr>
        <p:pic>
          <p:nvPicPr>
            <p:cNvPr name="Picture 66" id="66"/>
            <p:cNvPicPr>
              <a:picLocks noChangeAspect="true"/>
            </p:cNvPicPr>
            <p:nvPr/>
          </p:nvPicPr>
          <p:blipFill>
            <a:blip r:embed="rId2"/>
            <a:srcRect l="0" t="0" r="36982" b="1198"/>
            <a:stretch>
              <a:fillRect/>
            </a:stretch>
          </p:blipFill>
          <p:spPr>
            <a:xfrm flipH="false" flipV="false">
              <a:off x="0" y="0"/>
              <a:ext cx="8717062" cy="7411418"/>
            </a:xfrm>
            <a:prstGeom prst="rect">
              <a:avLst/>
            </a:prstGeom>
          </p:spPr>
        </p:pic>
      </p:grpSp>
      <p:grpSp>
        <p:nvGrpSpPr>
          <p:cNvPr name="Group 67" id="67"/>
          <p:cNvGrpSpPr/>
          <p:nvPr/>
        </p:nvGrpSpPr>
        <p:grpSpPr>
          <a:xfrm rot="0">
            <a:off x="177637" y="9356931"/>
            <a:ext cx="1114641" cy="1082510"/>
            <a:chOff x="0" y="0"/>
            <a:chExt cx="1486188" cy="1443347"/>
          </a:xfrm>
        </p:grpSpPr>
        <p:grpSp>
          <p:nvGrpSpPr>
            <p:cNvPr name="Group 68" id="68"/>
            <p:cNvGrpSpPr/>
            <p:nvPr/>
          </p:nvGrpSpPr>
          <p:grpSpPr>
            <a:xfrm rot="0">
              <a:off x="0" y="0"/>
              <a:ext cx="1486188" cy="1443347"/>
              <a:chOff x="0" y="0"/>
              <a:chExt cx="812800" cy="789370"/>
            </a:xfrm>
          </p:grpSpPr>
          <p:sp>
            <p:nvSpPr>
              <p:cNvPr name="Freeform 69" id="69"/>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70" id="70"/>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71" id="71"/>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7</a:t>
              </a:r>
            </a:p>
          </p:txBody>
        </p:sp>
      </p:grpSp>
      <p:grpSp>
        <p:nvGrpSpPr>
          <p:cNvPr name="Group 72" id="72"/>
          <p:cNvGrpSpPr/>
          <p:nvPr/>
        </p:nvGrpSpPr>
        <p:grpSpPr>
          <a:xfrm rot="0">
            <a:off x="17879135" y="8106641"/>
            <a:ext cx="408865" cy="408865"/>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74" id="74"/>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CF5FE">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0" y="9565"/>
            <a:ext cx="18288000" cy="10277435"/>
            <a:chOff x="0" y="0"/>
            <a:chExt cx="24384000" cy="13703246"/>
          </a:xfrm>
        </p:grpSpPr>
        <p:grpSp>
          <p:nvGrpSpPr>
            <p:cNvPr name="Group 3" id="3"/>
            <p:cNvGrpSpPr/>
            <p:nvPr/>
          </p:nvGrpSpPr>
          <p:grpSpPr>
            <a:xfrm rot="0">
              <a:off x="0" y="0"/>
              <a:ext cx="24384000" cy="13703246"/>
              <a:chOff x="0" y="0"/>
              <a:chExt cx="4596479" cy="2583115"/>
            </a:xfrm>
          </p:grpSpPr>
          <p:sp>
            <p:nvSpPr>
              <p:cNvPr name="Freeform 4" id="4"/>
              <p:cNvSpPr/>
              <p:nvPr/>
            </p:nvSpPr>
            <p:spPr>
              <a:xfrm flipH="false" flipV="false" rot="0">
                <a:off x="0" y="0"/>
                <a:ext cx="4596479" cy="2583115"/>
              </a:xfrm>
              <a:custGeom>
                <a:avLst/>
                <a:gdLst/>
                <a:ahLst/>
                <a:cxnLst/>
                <a:rect r="r" b="b" t="t" l="l"/>
                <a:pathLst>
                  <a:path h="2583115" w="4596479">
                    <a:moveTo>
                      <a:pt x="4517061" y="0"/>
                    </a:moveTo>
                    <a:lnTo>
                      <a:pt x="79418" y="0"/>
                    </a:lnTo>
                    <a:cubicBezTo>
                      <a:pt x="79418" y="43699"/>
                      <a:pt x="44079" y="79418"/>
                      <a:pt x="0" y="79418"/>
                    </a:cubicBezTo>
                    <a:lnTo>
                      <a:pt x="0" y="2503697"/>
                    </a:lnTo>
                    <a:cubicBezTo>
                      <a:pt x="43699" y="2503697"/>
                      <a:pt x="79418" y="2539036"/>
                      <a:pt x="79418" y="2583115"/>
                    </a:cubicBezTo>
                    <a:lnTo>
                      <a:pt x="4517061" y="2583115"/>
                    </a:lnTo>
                    <a:cubicBezTo>
                      <a:pt x="4517061" y="2539416"/>
                      <a:pt x="4552400" y="2503697"/>
                      <a:pt x="4596479" y="2503697"/>
                    </a:cubicBezTo>
                    <a:lnTo>
                      <a:pt x="4596479" y="79418"/>
                    </a:lnTo>
                    <a:cubicBezTo>
                      <a:pt x="4552780" y="79418"/>
                      <a:pt x="4517061" y="44079"/>
                      <a:pt x="4517061" y="0"/>
                    </a:cubicBezTo>
                    <a:close/>
                  </a:path>
                </a:pathLst>
              </a:custGeom>
              <a:ln w="9525" cap="sq">
                <a:solidFill>
                  <a:srgbClr val="C29C84"/>
                </a:solidFill>
                <a:prstDash val="solid"/>
                <a:miter/>
              </a:ln>
            </p:spPr>
          </p:sp>
          <p:sp>
            <p:nvSpPr>
              <p:cNvPr name="TextBox 5" id="5"/>
              <p:cNvSpPr txBox="true"/>
              <p:nvPr/>
            </p:nvSpPr>
            <p:spPr>
              <a:xfrm>
                <a:off x="38100" y="-9525"/>
                <a:ext cx="4520279" cy="2554540"/>
              </a:xfrm>
              <a:prstGeom prst="rect">
                <a:avLst/>
              </a:prstGeom>
            </p:spPr>
            <p:txBody>
              <a:bodyPr anchor="ctr" rtlCol="false" tIns="50800" lIns="50800" bIns="50800" rIns="50800"/>
              <a:lstStyle/>
              <a:p>
                <a:pPr algn="ctr">
                  <a:lnSpc>
                    <a:spcPts val="2660"/>
                  </a:lnSpc>
                </a:pPr>
              </a:p>
            </p:txBody>
          </p:sp>
        </p:grpSp>
        <p:grpSp>
          <p:nvGrpSpPr>
            <p:cNvPr name="Group 6" id="6"/>
            <p:cNvGrpSpPr/>
            <p:nvPr/>
          </p:nvGrpSpPr>
          <p:grpSpPr>
            <a:xfrm rot="0">
              <a:off x="178937" y="207890"/>
              <a:ext cx="23995525" cy="13287466"/>
              <a:chOff x="0" y="0"/>
              <a:chExt cx="4596479" cy="2545290"/>
            </a:xfrm>
          </p:grpSpPr>
          <p:sp>
            <p:nvSpPr>
              <p:cNvPr name="Freeform 7" id="7"/>
              <p:cNvSpPr/>
              <p:nvPr/>
            </p:nvSpPr>
            <p:spPr>
              <a:xfrm flipH="false" flipV="false" rot="0">
                <a:off x="0" y="0"/>
                <a:ext cx="4596479" cy="2545290"/>
              </a:xfrm>
              <a:custGeom>
                <a:avLst/>
                <a:gdLst/>
                <a:ahLst/>
                <a:cxnLst/>
                <a:rect r="r" b="b" t="t" l="l"/>
                <a:pathLst>
                  <a:path h="2545290" w="4596479">
                    <a:moveTo>
                      <a:pt x="4517061" y="0"/>
                    </a:moveTo>
                    <a:lnTo>
                      <a:pt x="79418" y="0"/>
                    </a:lnTo>
                    <a:cubicBezTo>
                      <a:pt x="79418" y="43699"/>
                      <a:pt x="44079" y="79418"/>
                      <a:pt x="0" y="79418"/>
                    </a:cubicBezTo>
                    <a:lnTo>
                      <a:pt x="0" y="2465872"/>
                    </a:lnTo>
                    <a:cubicBezTo>
                      <a:pt x="43699" y="2465872"/>
                      <a:pt x="79418" y="2501211"/>
                      <a:pt x="79418" y="2545290"/>
                    </a:cubicBezTo>
                    <a:lnTo>
                      <a:pt x="4517061" y="2545290"/>
                    </a:lnTo>
                    <a:cubicBezTo>
                      <a:pt x="4517061" y="2501590"/>
                      <a:pt x="4552400" y="2465872"/>
                      <a:pt x="4596479" y="2465872"/>
                    </a:cubicBezTo>
                    <a:lnTo>
                      <a:pt x="4596479" y="79418"/>
                    </a:lnTo>
                    <a:cubicBezTo>
                      <a:pt x="4552780" y="79418"/>
                      <a:pt x="4517061" y="44079"/>
                      <a:pt x="4517061" y="0"/>
                    </a:cubicBezTo>
                    <a:close/>
                  </a:path>
                </a:pathLst>
              </a:custGeom>
              <a:solidFill>
                <a:srgbClr val="F8F2EC"/>
              </a:solidFill>
              <a:ln w="9525" cap="sq">
                <a:solidFill>
                  <a:srgbClr val="C29C84"/>
                </a:solidFill>
                <a:prstDash val="solid"/>
                <a:miter/>
              </a:ln>
            </p:spPr>
          </p:sp>
          <p:sp>
            <p:nvSpPr>
              <p:cNvPr name="TextBox 8" id="8"/>
              <p:cNvSpPr txBox="true"/>
              <p:nvPr/>
            </p:nvSpPr>
            <p:spPr>
              <a:xfrm>
                <a:off x="38100" y="-9525"/>
                <a:ext cx="4520279" cy="2516715"/>
              </a:xfrm>
              <a:prstGeom prst="rect">
                <a:avLst/>
              </a:prstGeom>
            </p:spPr>
            <p:txBody>
              <a:bodyPr anchor="ctr" rtlCol="false" tIns="50800" lIns="50800" bIns="50800" rIns="50800"/>
              <a:lstStyle/>
              <a:p>
                <a:pPr algn="ctr">
                  <a:lnSpc>
                    <a:spcPts val="2660"/>
                  </a:lnSpc>
                </a:pPr>
              </a:p>
            </p:txBody>
          </p:sp>
        </p:grpSp>
      </p:grpSp>
      <p:grpSp>
        <p:nvGrpSpPr>
          <p:cNvPr name="Group 9" id="9"/>
          <p:cNvGrpSpPr/>
          <p:nvPr/>
        </p:nvGrpSpPr>
        <p:grpSpPr>
          <a:xfrm rot="0">
            <a:off x="1288202" y="677425"/>
            <a:ext cx="16405157" cy="9053461"/>
            <a:chOff x="0" y="0"/>
            <a:chExt cx="4320700" cy="2384451"/>
          </a:xfrm>
        </p:grpSpPr>
        <p:sp>
          <p:nvSpPr>
            <p:cNvPr name="Freeform 10" id="10"/>
            <p:cNvSpPr/>
            <p:nvPr/>
          </p:nvSpPr>
          <p:spPr>
            <a:xfrm flipH="false" flipV="false" rot="0">
              <a:off x="0" y="0"/>
              <a:ext cx="4320700" cy="2384451"/>
            </a:xfrm>
            <a:custGeom>
              <a:avLst/>
              <a:gdLst/>
              <a:ahLst/>
              <a:cxnLst/>
              <a:rect r="r" b="b" t="t" l="l"/>
              <a:pathLst>
                <a:path h="2384451" w="4320700">
                  <a:moveTo>
                    <a:pt x="24068" y="0"/>
                  </a:moveTo>
                  <a:lnTo>
                    <a:pt x="4296632" y="0"/>
                  </a:lnTo>
                  <a:cubicBezTo>
                    <a:pt x="4309924" y="0"/>
                    <a:pt x="4320700" y="10776"/>
                    <a:pt x="4320700" y="24068"/>
                  </a:cubicBezTo>
                  <a:lnTo>
                    <a:pt x="4320700" y="2360383"/>
                  </a:lnTo>
                  <a:cubicBezTo>
                    <a:pt x="4320700" y="2373675"/>
                    <a:pt x="4309924" y="2384451"/>
                    <a:pt x="4296632" y="2384451"/>
                  </a:cubicBezTo>
                  <a:lnTo>
                    <a:pt x="24068" y="2384451"/>
                  </a:lnTo>
                  <a:cubicBezTo>
                    <a:pt x="10776" y="2384451"/>
                    <a:pt x="0" y="2373675"/>
                    <a:pt x="0" y="2360383"/>
                  </a:cubicBezTo>
                  <a:lnTo>
                    <a:pt x="0" y="24068"/>
                  </a:lnTo>
                  <a:cubicBezTo>
                    <a:pt x="0" y="10776"/>
                    <a:pt x="10776" y="0"/>
                    <a:pt x="24068"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a:ln w="19050" cap="rnd">
              <a:solidFill>
                <a:srgbClr val="000000"/>
              </a:solidFill>
              <a:prstDash val="solid"/>
              <a:round/>
            </a:ln>
          </p:spPr>
        </p:sp>
        <p:sp>
          <p:nvSpPr>
            <p:cNvPr name="TextBox 11" id="11"/>
            <p:cNvSpPr txBox="true"/>
            <p:nvPr/>
          </p:nvSpPr>
          <p:spPr>
            <a:xfrm>
              <a:off x="0" y="47625"/>
              <a:ext cx="4320700" cy="2336826"/>
            </a:xfrm>
            <a:prstGeom prst="rect">
              <a:avLst/>
            </a:prstGeom>
          </p:spPr>
          <p:txBody>
            <a:bodyPr anchor="ctr" rtlCol="false" tIns="50800" lIns="50800" bIns="50800" rIns="50800"/>
            <a:lstStyle/>
            <a:p>
              <a:pPr algn="ctr">
                <a:lnSpc>
                  <a:spcPts val="1620"/>
                </a:lnSpc>
              </a:pPr>
            </a:p>
          </p:txBody>
        </p:sp>
      </p:grpSp>
      <p:grpSp>
        <p:nvGrpSpPr>
          <p:cNvPr name="Group 12" id="12"/>
          <p:cNvGrpSpPr/>
          <p:nvPr/>
        </p:nvGrpSpPr>
        <p:grpSpPr>
          <a:xfrm rot="0">
            <a:off x="15976646" y="155750"/>
            <a:ext cx="1427910" cy="142791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14" id="1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5" id="15"/>
          <p:cNvGrpSpPr/>
          <p:nvPr/>
        </p:nvGrpSpPr>
        <p:grpSpPr>
          <a:xfrm rot="-5400000">
            <a:off x="-4403759" y="4413325"/>
            <a:ext cx="10277435" cy="1469916"/>
            <a:chOff x="0" y="0"/>
            <a:chExt cx="2706814" cy="387138"/>
          </a:xfrm>
        </p:grpSpPr>
        <p:sp>
          <p:nvSpPr>
            <p:cNvPr name="Freeform 16" id="16"/>
            <p:cNvSpPr/>
            <p:nvPr/>
          </p:nvSpPr>
          <p:spPr>
            <a:xfrm flipH="false" flipV="false" rot="0">
              <a:off x="0" y="0"/>
              <a:ext cx="2706814" cy="387138"/>
            </a:xfrm>
            <a:custGeom>
              <a:avLst/>
              <a:gdLst/>
              <a:ahLst/>
              <a:cxnLst/>
              <a:rect r="r" b="b" t="t" l="l"/>
              <a:pathLst>
                <a:path h="387138" w="2706814">
                  <a:moveTo>
                    <a:pt x="75329" y="0"/>
                  </a:moveTo>
                  <a:lnTo>
                    <a:pt x="2631485" y="0"/>
                  </a:lnTo>
                  <a:cubicBezTo>
                    <a:pt x="2651463" y="0"/>
                    <a:pt x="2670624" y="7936"/>
                    <a:pt x="2684751" y="22063"/>
                  </a:cubicBezTo>
                  <a:cubicBezTo>
                    <a:pt x="2698878" y="36190"/>
                    <a:pt x="2706814" y="55351"/>
                    <a:pt x="2706814" y="75329"/>
                  </a:cubicBezTo>
                  <a:lnTo>
                    <a:pt x="2706814" y="311809"/>
                  </a:lnTo>
                  <a:cubicBezTo>
                    <a:pt x="2706814" y="331788"/>
                    <a:pt x="2698878" y="350948"/>
                    <a:pt x="2684751" y="365075"/>
                  </a:cubicBezTo>
                  <a:cubicBezTo>
                    <a:pt x="2670624" y="379202"/>
                    <a:pt x="2651463" y="387138"/>
                    <a:pt x="2631485" y="387138"/>
                  </a:cubicBezTo>
                  <a:lnTo>
                    <a:pt x="75329" y="387138"/>
                  </a:lnTo>
                  <a:cubicBezTo>
                    <a:pt x="33726" y="387138"/>
                    <a:pt x="0" y="353412"/>
                    <a:pt x="0" y="311809"/>
                  </a:cubicBezTo>
                  <a:lnTo>
                    <a:pt x="0" y="75329"/>
                  </a:lnTo>
                  <a:cubicBezTo>
                    <a:pt x="0" y="55351"/>
                    <a:pt x="7936" y="36190"/>
                    <a:pt x="22063" y="22063"/>
                  </a:cubicBezTo>
                  <a:cubicBezTo>
                    <a:pt x="36190" y="7936"/>
                    <a:pt x="55351" y="0"/>
                    <a:pt x="75329"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17" id="17"/>
            <p:cNvSpPr txBox="true"/>
            <p:nvPr/>
          </p:nvSpPr>
          <p:spPr>
            <a:xfrm>
              <a:off x="0" y="-38100"/>
              <a:ext cx="2706814" cy="425238"/>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2257890" y="9271213"/>
            <a:ext cx="626973" cy="62697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0" id="2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21" id="21"/>
          <p:cNvGrpSpPr/>
          <p:nvPr/>
        </p:nvGrpSpPr>
        <p:grpSpPr>
          <a:xfrm rot="0">
            <a:off x="368456" y="350702"/>
            <a:ext cx="2202920" cy="2211457"/>
            <a:chOff x="0" y="0"/>
            <a:chExt cx="732060" cy="734897"/>
          </a:xfrm>
        </p:grpSpPr>
        <p:sp>
          <p:nvSpPr>
            <p:cNvPr name="Freeform 22" id="22"/>
            <p:cNvSpPr/>
            <p:nvPr/>
          </p:nvSpPr>
          <p:spPr>
            <a:xfrm flipH="false" flipV="false" rot="0">
              <a:off x="0" y="0"/>
              <a:ext cx="732060" cy="734897"/>
            </a:xfrm>
            <a:custGeom>
              <a:avLst/>
              <a:gdLst/>
              <a:ahLst/>
              <a:cxnLst/>
              <a:rect r="r" b="b" t="t" l="l"/>
              <a:pathLst>
                <a:path h="734897" w="732060">
                  <a:moveTo>
                    <a:pt x="366030" y="0"/>
                  </a:moveTo>
                  <a:cubicBezTo>
                    <a:pt x="163877" y="0"/>
                    <a:pt x="0" y="164512"/>
                    <a:pt x="0" y="367448"/>
                  </a:cubicBezTo>
                  <a:cubicBezTo>
                    <a:pt x="0" y="570384"/>
                    <a:pt x="163877" y="734897"/>
                    <a:pt x="366030" y="734897"/>
                  </a:cubicBezTo>
                  <a:cubicBezTo>
                    <a:pt x="568183" y="734897"/>
                    <a:pt x="732060" y="570384"/>
                    <a:pt x="732060" y="367448"/>
                  </a:cubicBezTo>
                  <a:cubicBezTo>
                    <a:pt x="732060" y="164512"/>
                    <a:pt x="568183" y="0"/>
                    <a:pt x="36603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3" id="23"/>
            <p:cNvSpPr txBox="true"/>
            <p:nvPr/>
          </p:nvSpPr>
          <p:spPr>
            <a:xfrm>
              <a:off x="68631" y="87947"/>
              <a:ext cx="594799" cy="578054"/>
            </a:xfrm>
            <a:prstGeom prst="rect">
              <a:avLst/>
            </a:prstGeom>
          </p:spPr>
          <p:txBody>
            <a:bodyPr anchor="ctr" rtlCol="false" tIns="50800" lIns="50800" bIns="50800" rIns="50800"/>
            <a:lstStyle/>
            <a:p>
              <a:pPr algn="ctr">
                <a:lnSpc>
                  <a:spcPts val="2859"/>
                </a:lnSpc>
              </a:pPr>
            </a:p>
          </p:txBody>
        </p:sp>
      </p:grpSp>
      <p:grpSp>
        <p:nvGrpSpPr>
          <p:cNvPr name="Group 24" id="24"/>
          <p:cNvGrpSpPr/>
          <p:nvPr/>
        </p:nvGrpSpPr>
        <p:grpSpPr>
          <a:xfrm rot="0">
            <a:off x="584560" y="559709"/>
            <a:ext cx="1809910" cy="1757737"/>
            <a:chOff x="0" y="0"/>
            <a:chExt cx="2413213" cy="2343649"/>
          </a:xfrm>
        </p:grpSpPr>
        <p:grpSp>
          <p:nvGrpSpPr>
            <p:cNvPr name="Group 25" id="25"/>
            <p:cNvGrpSpPr/>
            <p:nvPr/>
          </p:nvGrpSpPr>
          <p:grpSpPr>
            <a:xfrm rot="0">
              <a:off x="0" y="0"/>
              <a:ext cx="2413213" cy="2343649"/>
              <a:chOff x="0" y="0"/>
              <a:chExt cx="812800" cy="789370"/>
            </a:xfrm>
          </p:grpSpPr>
          <p:sp>
            <p:nvSpPr>
              <p:cNvPr name="Freeform 26" id="26"/>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27" id="27"/>
              <p:cNvSpPr txBox="true"/>
              <p:nvPr/>
            </p:nvSpPr>
            <p:spPr>
              <a:xfrm>
                <a:off x="76200" y="35903"/>
                <a:ext cx="660400" cy="679463"/>
              </a:xfrm>
              <a:prstGeom prst="rect">
                <a:avLst/>
              </a:prstGeom>
            </p:spPr>
            <p:txBody>
              <a:bodyPr anchor="ctr" rtlCol="false" tIns="89620" lIns="89620" bIns="89620" rIns="89620"/>
              <a:lstStyle/>
              <a:p>
                <a:pPr algn="ctr">
                  <a:lnSpc>
                    <a:spcPts val="2660"/>
                  </a:lnSpc>
                </a:pPr>
              </a:p>
            </p:txBody>
          </p:sp>
        </p:grpSp>
        <p:sp>
          <p:nvSpPr>
            <p:cNvPr name="TextBox 28" id="28"/>
            <p:cNvSpPr txBox="true"/>
            <p:nvPr/>
          </p:nvSpPr>
          <p:spPr>
            <a:xfrm rot="0">
              <a:off x="542298" y="543113"/>
              <a:ext cx="1328616" cy="1352672"/>
            </a:xfrm>
            <a:prstGeom prst="rect">
              <a:avLst/>
            </a:prstGeom>
          </p:spPr>
          <p:txBody>
            <a:bodyPr anchor="t" rtlCol="false" tIns="0" lIns="0" bIns="0" rIns="0">
              <a:spAutoFit/>
            </a:bodyPr>
            <a:lstStyle/>
            <a:p>
              <a:pPr algn="ctr" marL="0" indent="0" lvl="0">
                <a:lnSpc>
                  <a:spcPts val="7573"/>
                </a:lnSpc>
              </a:pPr>
              <a:r>
                <a:rPr lang="en-US" b="true" sz="7144" spc="264">
                  <a:solidFill>
                    <a:srgbClr val="000000"/>
                  </a:solidFill>
                  <a:latin typeface="Canva Sans Bold"/>
                  <a:ea typeface="Canva Sans Bold"/>
                  <a:cs typeface="Canva Sans Bold"/>
                  <a:sym typeface="Canva Sans Bold"/>
                </a:rPr>
                <a:t>2</a:t>
              </a:r>
            </a:p>
          </p:txBody>
        </p:sp>
      </p:grpSp>
      <p:grpSp>
        <p:nvGrpSpPr>
          <p:cNvPr name="Group 29" id="29"/>
          <p:cNvGrpSpPr/>
          <p:nvPr/>
        </p:nvGrpSpPr>
        <p:grpSpPr>
          <a:xfrm rot="0">
            <a:off x="14884825" y="350702"/>
            <a:ext cx="519003" cy="519003"/>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31" id="31"/>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32" id="32"/>
          <p:cNvGrpSpPr/>
          <p:nvPr/>
        </p:nvGrpSpPr>
        <p:grpSpPr>
          <a:xfrm rot="0">
            <a:off x="177637" y="3082811"/>
            <a:ext cx="1114641" cy="1082510"/>
            <a:chOff x="0" y="0"/>
            <a:chExt cx="1486188" cy="1443347"/>
          </a:xfrm>
        </p:grpSpPr>
        <p:grpSp>
          <p:nvGrpSpPr>
            <p:cNvPr name="Group 33" id="33"/>
            <p:cNvGrpSpPr/>
            <p:nvPr/>
          </p:nvGrpSpPr>
          <p:grpSpPr>
            <a:xfrm rot="0">
              <a:off x="0" y="0"/>
              <a:ext cx="1486188" cy="1443347"/>
              <a:chOff x="0" y="0"/>
              <a:chExt cx="812800" cy="789370"/>
            </a:xfrm>
          </p:grpSpPr>
          <p:sp>
            <p:nvSpPr>
              <p:cNvPr name="Freeform 34" id="34"/>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35" id="35"/>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36" id="36"/>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3</a:t>
              </a:r>
            </a:p>
          </p:txBody>
        </p:sp>
      </p:grpSp>
      <p:grpSp>
        <p:nvGrpSpPr>
          <p:cNvPr name="Group 37" id="37"/>
          <p:cNvGrpSpPr/>
          <p:nvPr/>
        </p:nvGrpSpPr>
        <p:grpSpPr>
          <a:xfrm rot="0">
            <a:off x="177637" y="4607027"/>
            <a:ext cx="1114641" cy="1082510"/>
            <a:chOff x="0" y="0"/>
            <a:chExt cx="1486188" cy="1443347"/>
          </a:xfrm>
        </p:grpSpPr>
        <p:grpSp>
          <p:nvGrpSpPr>
            <p:cNvPr name="Group 38" id="38"/>
            <p:cNvGrpSpPr/>
            <p:nvPr/>
          </p:nvGrpSpPr>
          <p:grpSpPr>
            <a:xfrm rot="0">
              <a:off x="0" y="0"/>
              <a:ext cx="1486188" cy="1443347"/>
              <a:chOff x="0" y="0"/>
              <a:chExt cx="812800" cy="789370"/>
            </a:xfrm>
          </p:grpSpPr>
          <p:sp>
            <p:nvSpPr>
              <p:cNvPr name="Freeform 39" id="39"/>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40" id="40"/>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41" id="41"/>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4</a:t>
              </a:r>
            </a:p>
          </p:txBody>
        </p:sp>
      </p:grpSp>
      <p:grpSp>
        <p:nvGrpSpPr>
          <p:cNvPr name="Group 42" id="42"/>
          <p:cNvGrpSpPr/>
          <p:nvPr/>
        </p:nvGrpSpPr>
        <p:grpSpPr>
          <a:xfrm rot="0">
            <a:off x="177637" y="6131244"/>
            <a:ext cx="1114641" cy="1082510"/>
            <a:chOff x="0" y="0"/>
            <a:chExt cx="1486188" cy="1443347"/>
          </a:xfrm>
        </p:grpSpPr>
        <p:grpSp>
          <p:nvGrpSpPr>
            <p:cNvPr name="Group 43" id="43"/>
            <p:cNvGrpSpPr/>
            <p:nvPr/>
          </p:nvGrpSpPr>
          <p:grpSpPr>
            <a:xfrm rot="0">
              <a:off x="0" y="0"/>
              <a:ext cx="1486188" cy="1443347"/>
              <a:chOff x="0" y="0"/>
              <a:chExt cx="812800" cy="789370"/>
            </a:xfrm>
          </p:grpSpPr>
          <p:sp>
            <p:nvSpPr>
              <p:cNvPr name="Freeform 44" id="44"/>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45" id="45"/>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46" id="46"/>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5</a:t>
              </a:r>
            </a:p>
          </p:txBody>
        </p:sp>
      </p:grpSp>
      <p:grpSp>
        <p:nvGrpSpPr>
          <p:cNvPr name="Group 47" id="47"/>
          <p:cNvGrpSpPr/>
          <p:nvPr/>
        </p:nvGrpSpPr>
        <p:grpSpPr>
          <a:xfrm rot="0">
            <a:off x="356139" y="-1101418"/>
            <a:ext cx="1113777" cy="1110983"/>
            <a:chOff x="0" y="0"/>
            <a:chExt cx="1485036" cy="1481311"/>
          </a:xfrm>
        </p:grpSpPr>
        <p:grpSp>
          <p:nvGrpSpPr>
            <p:cNvPr name="Group 48" id="48"/>
            <p:cNvGrpSpPr/>
            <p:nvPr/>
          </p:nvGrpSpPr>
          <p:grpSpPr>
            <a:xfrm rot="0">
              <a:off x="0" y="0"/>
              <a:ext cx="1485036" cy="1481311"/>
              <a:chOff x="0" y="0"/>
              <a:chExt cx="829178" cy="827099"/>
            </a:xfrm>
          </p:grpSpPr>
          <p:sp>
            <p:nvSpPr>
              <p:cNvPr name="Freeform 49" id="49"/>
              <p:cNvSpPr/>
              <p:nvPr/>
            </p:nvSpPr>
            <p:spPr>
              <a:xfrm flipH="false" flipV="false" rot="0">
                <a:off x="0" y="0"/>
                <a:ext cx="829178" cy="827099"/>
              </a:xfrm>
              <a:custGeom>
                <a:avLst/>
                <a:gdLst/>
                <a:ahLst/>
                <a:cxnLst/>
                <a:rect r="r" b="b" t="t" l="l"/>
                <a:pathLst>
                  <a:path h="827099" w="829178">
                    <a:moveTo>
                      <a:pt x="414589" y="0"/>
                    </a:moveTo>
                    <a:cubicBezTo>
                      <a:pt x="185618" y="0"/>
                      <a:pt x="0" y="185152"/>
                      <a:pt x="0" y="413549"/>
                    </a:cubicBezTo>
                    <a:cubicBezTo>
                      <a:pt x="0" y="641946"/>
                      <a:pt x="185618" y="827099"/>
                      <a:pt x="414589" y="827099"/>
                    </a:cubicBezTo>
                    <a:cubicBezTo>
                      <a:pt x="643560" y="827099"/>
                      <a:pt x="829178" y="641946"/>
                      <a:pt x="829178" y="413549"/>
                    </a:cubicBezTo>
                    <a:cubicBezTo>
                      <a:pt x="829178" y="185152"/>
                      <a:pt x="643560" y="0"/>
                      <a:pt x="414589"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50" id="50"/>
              <p:cNvSpPr txBox="true"/>
              <p:nvPr/>
            </p:nvSpPr>
            <p:spPr>
              <a:xfrm>
                <a:off x="77735" y="-36759"/>
                <a:ext cx="673707" cy="786318"/>
              </a:xfrm>
              <a:prstGeom prst="rect">
                <a:avLst/>
              </a:prstGeom>
            </p:spPr>
            <p:txBody>
              <a:bodyPr anchor="ctr" rtlCol="false" tIns="76777" lIns="76777" bIns="76777" rIns="76777"/>
              <a:lstStyle/>
              <a:p>
                <a:pPr algn="ctr">
                  <a:lnSpc>
                    <a:spcPts val="8400"/>
                  </a:lnSpc>
                </a:pPr>
              </a:p>
            </p:txBody>
          </p:sp>
        </p:grpSp>
        <p:sp>
          <p:nvSpPr>
            <p:cNvPr name="TextBox 51" id="51"/>
            <p:cNvSpPr txBox="true"/>
            <p:nvPr/>
          </p:nvSpPr>
          <p:spPr>
            <a:xfrm rot="0">
              <a:off x="570550" y="408038"/>
              <a:ext cx="343936" cy="712861"/>
            </a:xfrm>
            <a:prstGeom prst="rect">
              <a:avLst/>
            </a:prstGeom>
          </p:spPr>
          <p:txBody>
            <a:bodyPr anchor="t" rtlCol="false" tIns="0" lIns="0" bIns="0" rIns="0">
              <a:spAutoFit/>
            </a:bodyPr>
            <a:lstStyle/>
            <a:p>
              <a:pPr algn="ctr" marL="0" indent="0" lvl="0">
                <a:lnSpc>
                  <a:spcPts val="4000"/>
                </a:lnSpc>
              </a:pPr>
              <a:r>
                <a:rPr lang="en-US" b="true" sz="3774" spc="139">
                  <a:solidFill>
                    <a:srgbClr val="000000"/>
                  </a:solidFill>
                  <a:latin typeface="Canva Sans Bold"/>
                  <a:ea typeface="Canva Sans Bold"/>
                  <a:cs typeface="Canva Sans Bold"/>
                  <a:sym typeface="Canva Sans Bold"/>
                </a:rPr>
                <a:t>1</a:t>
              </a:r>
            </a:p>
          </p:txBody>
        </p:sp>
      </p:grpSp>
      <p:grpSp>
        <p:nvGrpSpPr>
          <p:cNvPr name="Group 52" id="52"/>
          <p:cNvGrpSpPr/>
          <p:nvPr/>
        </p:nvGrpSpPr>
        <p:grpSpPr>
          <a:xfrm rot="0">
            <a:off x="173560" y="7651904"/>
            <a:ext cx="1114641" cy="1082510"/>
            <a:chOff x="0" y="0"/>
            <a:chExt cx="1486188" cy="1443347"/>
          </a:xfrm>
        </p:grpSpPr>
        <p:grpSp>
          <p:nvGrpSpPr>
            <p:cNvPr name="Group 53" id="53"/>
            <p:cNvGrpSpPr/>
            <p:nvPr/>
          </p:nvGrpSpPr>
          <p:grpSpPr>
            <a:xfrm rot="0">
              <a:off x="0" y="0"/>
              <a:ext cx="1486188" cy="1443347"/>
              <a:chOff x="0" y="0"/>
              <a:chExt cx="812800" cy="789370"/>
            </a:xfrm>
          </p:grpSpPr>
          <p:sp>
            <p:nvSpPr>
              <p:cNvPr name="Freeform 54" id="54"/>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55" id="55"/>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56" id="56"/>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6</a:t>
              </a:r>
            </a:p>
          </p:txBody>
        </p:sp>
      </p:grpSp>
      <p:grpSp>
        <p:nvGrpSpPr>
          <p:cNvPr name="Group 57" id="57"/>
          <p:cNvGrpSpPr/>
          <p:nvPr/>
        </p:nvGrpSpPr>
        <p:grpSpPr>
          <a:xfrm rot="0">
            <a:off x="15717145" y="9355709"/>
            <a:ext cx="519003" cy="519003"/>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59" id="59"/>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60" id="60"/>
          <p:cNvGrpSpPr/>
          <p:nvPr/>
        </p:nvGrpSpPr>
        <p:grpSpPr>
          <a:xfrm rot="0">
            <a:off x="4159392" y="5123896"/>
            <a:ext cx="11129540" cy="2655877"/>
            <a:chOff x="0" y="0"/>
            <a:chExt cx="14839386" cy="3541169"/>
          </a:xfrm>
        </p:grpSpPr>
        <p:sp>
          <p:nvSpPr>
            <p:cNvPr name="Freeform 61" id="61"/>
            <p:cNvSpPr/>
            <p:nvPr/>
          </p:nvSpPr>
          <p:spPr>
            <a:xfrm flipH="false" flipV="false" rot="0">
              <a:off x="0" y="0"/>
              <a:ext cx="3477480" cy="3531779"/>
            </a:xfrm>
            <a:custGeom>
              <a:avLst/>
              <a:gdLst/>
              <a:ahLst/>
              <a:cxnLst/>
              <a:rect r="r" b="b" t="t" l="l"/>
              <a:pathLst>
                <a:path h="3531779" w="3477480">
                  <a:moveTo>
                    <a:pt x="0" y="0"/>
                  </a:moveTo>
                  <a:lnTo>
                    <a:pt x="3477480" y="0"/>
                  </a:lnTo>
                  <a:lnTo>
                    <a:pt x="3477480" y="3531779"/>
                  </a:lnTo>
                  <a:lnTo>
                    <a:pt x="0" y="3531779"/>
                  </a:lnTo>
                  <a:lnTo>
                    <a:pt x="0" y="0"/>
                  </a:lnTo>
                  <a:close/>
                </a:path>
              </a:pathLst>
            </a:custGeom>
            <a:blipFill>
              <a:blip r:embed="rId2"/>
              <a:stretch>
                <a:fillRect l="0" t="-7348" r="-73068" b="-7348"/>
              </a:stretch>
            </a:blipFill>
            <a:ln w="19050" cap="rnd">
              <a:solidFill>
                <a:srgbClr val="000000"/>
              </a:solidFill>
              <a:prstDash val="solid"/>
              <a:round/>
            </a:ln>
          </p:spPr>
        </p:sp>
        <p:sp>
          <p:nvSpPr>
            <p:cNvPr name="Freeform 62" id="62"/>
            <p:cNvSpPr/>
            <p:nvPr/>
          </p:nvSpPr>
          <p:spPr>
            <a:xfrm flipH="false" flipV="false" rot="0">
              <a:off x="3874780" y="0"/>
              <a:ext cx="3477480" cy="3531779"/>
            </a:xfrm>
            <a:custGeom>
              <a:avLst/>
              <a:gdLst/>
              <a:ahLst/>
              <a:cxnLst/>
              <a:rect r="r" b="b" t="t" l="l"/>
              <a:pathLst>
                <a:path h="3531779" w="3477480">
                  <a:moveTo>
                    <a:pt x="0" y="0"/>
                  </a:moveTo>
                  <a:lnTo>
                    <a:pt x="3477480" y="0"/>
                  </a:lnTo>
                  <a:lnTo>
                    <a:pt x="3477480" y="3531779"/>
                  </a:lnTo>
                  <a:lnTo>
                    <a:pt x="0" y="3531779"/>
                  </a:lnTo>
                  <a:lnTo>
                    <a:pt x="0" y="0"/>
                  </a:lnTo>
                  <a:close/>
                </a:path>
              </a:pathLst>
            </a:custGeom>
            <a:blipFill>
              <a:blip r:embed="rId2"/>
              <a:stretch>
                <a:fillRect l="0" t="-7348" r="-73068" b="-7348"/>
              </a:stretch>
            </a:blipFill>
            <a:ln w="19050" cap="rnd">
              <a:solidFill>
                <a:srgbClr val="000000"/>
              </a:solidFill>
              <a:prstDash val="solid"/>
              <a:round/>
            </a:ln>
          </p:spPr>
        </p:sp>
        <p:sp>
          <p:nvSpPr>
            <p:cNvPr name="Freeform 63" id="63"/>
            <p:cNvSpPr/>
            <p:nvPr/>
          </p:nvSpPr>
          <p:spPr>
            <a:xfrm flipH="false" flipV="false" rot="0">
              <a:off x="7617727" y="9391"/>
              <a:ext cx="3477480" cy="3531779"/>
            </a:xfrm>
            <a:custGeom>
              <a:avLst/>
              <a:gdLst/>
              <a:ahLst/>
              <a:cxnLst/>
              <a:rect r="r" b="b" t="t" l="l"/>
              <a:pathLst>
                <a:path h="3531779" w="3477480">
                  <a:moveTo>
                    <a:pt x="0" y="0"/>
                  </a:moveTo>
                  <a:lnTo>
                    <a:pt x="3477480" y="0"/>
                  </a:lnTo>
                  <a:lnTo>
                    <a:pt x="3477480" y="3531778"/>
                  </a:lnTo>
                  <a:lnTo>
                    <a:pt x="0" y="3531778"/>
                  </a:lnTo>
                  <a:lnTo>
                    <a:pt x="0" y="0"/>
                  </a:lnTo>
                  <a:close/>
                </a:path>
              </a:pathLst>
            </a:custGeom>
            <a:blipFill>
              <a:blip r:embed="rId2"/>
              <a:stretch>
                <a:fillRect l="0" t="-7348" r="-73068" b="-7348"/>
              </a:stretch>
            </a:blipFill>
            <a:ln w="19050" cap="rnd">
              <a:solidFill>
                <a:srgbClr val="000000"/>
              </a:solidFill>
              <a:prstDash val="solid"/>
              <a:round/>
            </a:ln>
          </p:spPr>
        </p:sp>
        <p:sp>
          <p:nvSpPr>
            <p:cNvPr name="TextBox 64" id="64"/>
            <p:cNvSpPr txBox="true"/>
            <p:nvPr/>
          </p:nvSpPr>
          <p:spPr>
            <a:xfrm rot="0">
              <a:off x="597315" y="899990"/>
              <a:ext cx="2282851" cy="327482"/>
            </a:xfrm>
            <a:prstGeom prst="rect">
              <a:avLst/>
            </a:prstGeom>
          </p:spPr>
          <p:txBody>
            <a:bodyPr anchor="t" rtlCol="false" tIns="0" lIns="0" bIns="0" rIns="0">
              <a:spAutoFit/>
            </a:bodyPr>
            <a:lstStyle/>
            <a:p>
              <a:pPr algn="ctr">
                <a:lnSpc>
                  <a:spcPts val="1872"/>
                </a:lnSpc>
                <a:spcBef>
                  <a:spcPct val="0"/>
                </a:spcBef>
              </a:pPr>
              <a:r>
                <a:rPr lang="en-US" b="true" sz="1766" spc="65">
                  <a:solidFill>
                    <a:srgbClr val="000000"/>
                  </a:solidFill>
                  <a:latin typeface="Canva Sans Bold"/>
                  <a:ea typeface="Canva Sans Bold"/>
                  <a:cs typeface="Canva Sans Bold"/>
                  <a:sym typeface="Canva Sans Bold"/>
                </a:rPr>
                <a:t>URGEN</a:t>
              </a:r>
              <a:r>
                <a:rPr lang="en-US" b="true" sz="1766" spc="65">
                  <a:solidFill>
                    <a:srgbClr val="000000"/>
                  </a:solidFill>
                  <a:latin typeface="Canva Sans Bold"/>
                  <a:ea typeface="Canva Sans Bold"/>
                  <a:cs typeface="Canva Sans Bold"/>
                  <a:sym typeface="Canva Sans Bold"/>
                </a:rPr>
                <a:t>CY</a:t>
              </a:r>
            </a:p>
          </p:txBody>
        </p:sp>
        <p:sp>
          <p:nvSpPr>
            <p:cNvPr name="TextBox 65" id="65"/>
            <p:cNvSpPr txBox="true"/>
            <p:nvPr/>
          </p:nvSpPr>
          <p:spPr>
            <a:xfrm rot="0">
              <a:off x="4472095" y="879046"/>
              <a:ext cx="2282851" cy="327482"/>
            </a:xfrm>
            <a:prstGeom prst="rect">
              <a:avLst/>
            </a:prstGeom>
          </p:spPr>
          <p:txBody>
            <a:bodyPr anchor="t" rtlCol="false" tIns="0" lIns="0" bIns="0" rIns="0">
              <a:spAutoFit/>
            </a:bodyPr>
            <a:lstStyle/>
            <a:p>
              <a:pPr algn="ctr">
                <a:lnSpc>
                  <a:spcPts val="1872"/>
                </a:lnSpc>
                <a:spcBef>
                  <a:spcPct val="0"/>
                </a:spcBef>
              </a:pPr>
              <a:r>
                <a:rPr lang="en-US" b="true" sz="1766" spc="65">
                  <a:solidFill>
                    <a:srgbClr val="000000"/>
                  </a:solidFill>
                  <a:latin typeface="Canva Sans Bold"/>
                  <a:ea typeface="Canva Sans Bold"/>
                  <a:cs typeface="Canva Sans Bold"/>
                  <a:sym typeface="Canva Sans Bold"/>
                </a:rPr>
                <a:t>AUTHORITY</a:t>
              </a:r>
            </a:p>
          </p:txBody>
        </p:sp>
        <p:sp>
          <p:nvSpPr>
            <p:cNvPr name="TextBox 66" id="66"/>
            <p:cNvSpPr txBox="true"/>
            <p:nvPr/>
          </p:nvSpPr>
          <p:spPr>
            <a:xfrm rot="0">
              <a:off x="8037751" y="721962"/>
              <a:ext cx="2638665" cy="641649"/>
            </a:xfrm>
            <a:prstGeom prst="rect">
              <a:avLst/>
            </a:prstGeom>
          </p:spPr>
          <p:txBody>
            <a:bodyPr anchor="t" rtlCol="false" tIns="0" lIns="0" bIns="0" rIns="0">
              <a:spAutoFit/>
            </a:bodyPr>
            <a:lstStyle/>
            <a:p>
              <a:pPr algn="ctr">
                <a:lnSpc>
                  <a:spcPts val="1872"/>
                </a:lnSpc>
                <a:spcBef>
                  <a:spcPct val="0"/>
                </a:spcBef>
              </a:pPr>
              <a:r>
                <a:rPr lang="en-US" b="true" sz="1766" spc="65">
                  <a:solidFill>
                    <a:srgbClr val="000000"/>
                  </a:solidFill>
                  <a:latin typeface="Canva Sans Bold"/>
                  <a:ea typeface="Canva Sans Bold"/>
                  <a:cs typeface="Canva Sans Bold"/>
                  <a:sym typeface="Canva Sans Bold"/>
                </a:rPr>
                <a:t>F</a:t>
              </a:r>
              <a:r>
                <a:rPr lang="en-US" b="true" sz="1766" spc="65">
                  <a:solidFill>
                    <a:srgbClr val="000000"/>
                  </a:solidFill>
                  <a:latin typeface="Canva Sans Bold"/>
                  <a:ea typeface="Canva Sans Bold"/>
                  <a:cs typeface="Canva Sans Bold"/>
                  <a:sym typeface="Canva Sans Bold"/>
                </a:rPr>
                <a:t>EAR OR CURIOSITY</a:t>
              </a:r>
            </a:p>
          </p:txBody>
        </p:sp>
        <p:sp>
          <p:nvSpPr>
            <p:cNvPr name="Freeform 67" id="67"/>
            <p:cNvSpPr/>
            <p:nvPr/>
          </p:nvSpPr>
          <p:spPr>
            <a:xfrm flipH="false" flipV="false" rot="0">
              <a:off x="11361907" y="0"/>
              <a:ext cx="3477480" cy="3531779"/>
            </a:xfrm>
            <a:custGeom>
              <a:avLst/>
              <a:gdLst/>
              <a:ahLst/>
              <a:cxnLst/>
              <a:rect r="r" b="b" t="t" l="l"/>
              <a:pathLst>
                <a:path h="3531779" w="3477480">
                  <a:moveTo>
                    <a:pt x="0" y="0"/>
                  </a:moveTo>
                  <a:lnTo>
                    <a:pt x="3477479" y="0"/>
                  </a:lnTo>
                  <a:lnTo>
                    <a:pt x="3477479" y="3531779"/>
                  </a:lnTo>
                  <a:lnTo>
                    <a:pt x="0" y="3531779"/>
                  </a:lnTo>
                  <a:lnTo>
                    <a:pt x="0" y="0"/>
                  </a:lnTo>
                  <a:close/>
                </a:path>
              </a:pathLst>
            </a:custGeom>
            <a:blipFill>
              <a:blip r:embed="rId2"/>
              <a:stretch>
                <a:fillRect l="0" t="-7348" r="-73068" b="-7348"/>
              </a:stretch>
            </a:blipFill>
            <a:ln w="19050" cap="rnd">
              <a:solidFill>
                <a:srgbClr val="000000"/>
              </a:solidFill>
              <a:prstDash val="solid"/>
              <a:round/>
            </a:ln>
          </p:spPr>
        </p:sp>
        <p:sp>
          <p:nvSpPr>
            <p:cNvPr name="TextBox 68" id="68"/>
            <p:cNvSpPr txBox="true"/>
            <p:nvPr/>
          </p:nvSpPr>
          <p:spPr>
            <a:xfrm rot="0">
              <a:off x="11781007" y="879046"/>
              <a:ext cx="2638665" cy="327482"/>
            </a:xfrm>
            <a:prstGeom prst="rect">
              <a:avLst/>
            </a:prstGeom>
          </p:spPr>
          <p:txBody>
            <a:bodyPr anchor="t" rtlCol="false" tIns="0" lIns="0" bIns="0" rIns="0">
              <a:spAutoFit/>
            </a:bodyPr>
            <a:lstStyle/>
            <a:p>
              <a:pPr algn="ctr">
                <a:lnSpc>
                  <a:spcPts val="1872"/>
                </a:lnSpc>
                <a:spcBef>
                  <a:spcPct val="0"/>
                </a:spcBef>
              </a:pPr>
              <a:r>
                <a:rPr lang="en-US" b="true" sz="1766" spc="65">
                  <a:solidFill>
                    <a:srgbClr val="000000"/>
                  </a:solidFill>
                  <a:latin typeface="Canva Sans Bold"/>
                  <a:ea typeface="Canva Sans Bold"/>
                  <a:cs typeface="Canva Sans Bold"/>
                  <a:sym typeface="Canva Sans Bold"/>
                </a:rPr>
                <a:t>TRUST</a:t>
              </a:r>
            </a:p>
          </p:txBody>
        </p:sp>
      </p:grpSp>
      <p:sp>
        <p:nvSpPr>
          <p:cNvPr name="Freeform 69" id="69"/>
          <p:cNvSpPr/>
          <p:nvPr/>
        </p:nvSpPr>
        <p:spPr>
          <a:xfrm flipH="false" flipV="false" rot="0">
            <a:off x="5111215" y="6311991"/>
            <a:ext cx="829623" cy="901764"/>
          </a:xfrm>
          <a:custGeom>
            <a:avLst/>
            <a:gdLst/>
            <a:ahLst/>
            <a:cxnLst/>
            <a:rect r="r" b="b" t="t" l="l"/>
            <a:pathLst>
              <a:path h="901764" w="829623">
                <a:moveTo>
                  <a:pt x="0" y="0"/>
                </a:moveTo>
                <a:lnTo>
                  <a:pt x="829623" y="0"/>
                </a:lnTo>
                <a:lnTo>
                  <a:pt x="829623" y="901763"/>
                </a:lnTo>
                <a:lnTo>
                  <a:pt x="0" y="901763"/>
                </a:lnTo>
                <a:lnTo>
                  <a:pt x="0" y="0"/>
                </a:lnTo>
                <a:close/>
              </a:path>
            </a:pathLst>
          </a:custGeom>
          <a:blipFill>
            <a:blip r:embed="rId3"/>
            <a:stretch>
              <a:fillRect l="0" t="0" r="0" b="0"/>
            </a:stretch>
          </a:blipFill>
        </p:spPr>
      </p:sp>
      <p:sp>
        <p:nvSpPr>
          <p:cNvPr name="Freeform 70" id="70"/>
          <p:cNvSpPr/>
          <p:nvPr/>
        </p:nvSpPr>
        <p:spPr>
          <a:xfrm flipH="false" flipV="false" rot="0">
            <a:off x="10719017" y="6312707"/>
            <a:ext cx="873092" cy="970102"/>
          </a:xfrm>
          <a:custGeom>
            <a:avLst/>
            <a:gdLst/>
            <a:ahLst/>
            <a:cxnLst/>
            <a:rect r="r" b="b" t="t" l="l"/>
            <a:pathLst>
              <a:path h="970102" w="873092">
                <a:moveTo>
                  <a:pt x="0" y="0"/>
                </a:moveTo>
                <a:lnTo>
                  <a:pt x="873092" y="0"/>
                </a:lnTo>
                <a:lnTo>
                  <a:pt x="873092" y="970102"/>
                </a:lnTo>
                <a:lnTo>
                  <a:pt x="0" y="970102"/>
                </a:lnTo>
                <a:lnTo>
                  <a:pt x="0" y="0"/>
                </a:lnTo>
                <a:close/>
              </a:path>
            </a:pathLst>
          </a:custGeom>
          <a:blipFill>
            <a:blip r:embed="rId4"/>
            <a:stretch>
              <a:fillRect l="0" t="0" r="0" b="0"/>
            </a:stretch>
          </a:blipFill>
        </p:spPr>
      </p:sp>
      <p:sp>
        <p:nvSpPr>
          <p:cNvPr name="Freeform 71" id="71"/>
          <p:cNvSpPr/>
          <p:nvPr/>
        </p:nvSpPr>
        <p:spPr>
          <a:xfrm flipH="false" flipV="false" rot="0">
            <a:off x="7874413" y="6226939"/>
            <a:ext cx="909159" cy="1141638"/>
          </a:xfrm>
          <a:custGeom>
            <a:avLst/>
            <a:gdLst/>
            <a:ahLst/>
            <a:cxnLst/>
            <a:rect r="r" b="b" t="t" l="l"/>
            <a:pathLst>
              <a:path h="1141638" w="909159">
                <a:moveTo>
                  <a:pt x="0" y="0"/>
                </a:moveTo>
                <a:lnTo>
                  <a:pt x="909159" y="0"/>
                </a:lnTo>
                <a:lnTo>
                  <a:pt x="909159" y="1141638"/>
                </a:lnTo>
                <a:lnTo>
                  <a:pt x="0" y="1141638"/>
                </a:lnTo>
                <a:lnTo>
                  <a:pt x="0" y="0"/>
                </a:lnTo>
                <a:close/>
              </a:path>
            </a:pathLst>
          </a:custGeom>
          <a:blipFill>
            <a:blip r:embed="rId5"/>
            <a:stretch>
              <a:fillRect l="0" t="0" r="0" b="0"/>
            </a:stretch>
          </a:blipFill>
        </p:spPr>
      </p:sp>
      <p:sp>
        <p:nvSpPr>
          <p:cNvPr name="TextBox 72" id="72"/>
          <p:cNvSpPr txBox="true"/>
          <p:nvPr/>
        </p:nvSpPr>
        <p:spPr>
          <a:xfrm rot="0">
            <a:off x="3101841" y="1345090"/>
            <a:ext cx="6469379" cy="524764"/>
          </a:xfrm>
          <a:prstGeom prst="rect">
            <a:avLst/>
          </a:prstGeom>
        </p:spPr>
        <p:txBody>
          <a:bodyPr anchor="t" rtlCol="false" tIns="0" lIns="0" bIns="0" rIns="0">
            <a:spAutoFit/>
          </a:bodyPr>
          <a:lstStyle/>
          <a:p>
            <a:pPr algn="l">
              <a:lnSpc>
                <a:spcPts val="4028"/>
              </a:lnSpc>
              <a:spcBef>
                <a:spcPct val="0"/>
              </a:spcBef>
            </a:pPr>
            <a:r>
              <a:rPr lang="en-US" b="true" sz="3800" i="true" spc="140" u="sng">
                <a:solidFill>
                  <a:srgbClr val="000000"/>
                </a:solidFill>
                <a:latin typeface="Canva Sans Bold Italics"/>
                <a:ea typeface="Canva Sans Bold Italics"/>
                <a:cs typeface="Canva Sans Bold Italics"/>
                <a:sym typeface="Canva Sans Bold Italics"/>
              </a:rPr>
              <a:t>Why Does Phishing W</a:t>
            </a:r>
            <a:r>
              <a:rPr lang="en-US" b="true" sz="3800" i="true" spc="140" u="sng">
                <a:solidFill>
                  <a:srgbClr val="000000"/>
                </a:solidFill>
                <a:latin typeface="Canva Sans Bold Italics"/>
                <a:ea typeface="Canva Sans Bold Italics"/>
                <a:cs typeface="Canva Sans Bold Italics"/>
                <a:sym typeface="Canva Sans Bold Italics"/>
              </a:rPr>
              <a:t>ork?</a:t>
            </a:r>
          </a:p>
        </p:txBody>
      </p:sp>
      <p:sp>
        <p:nvSpPr>
          <p:cNvPr name="TextBox 73" id="73"/>
          <p:cNvSpPr txBox="true"/>
          <p:nvPr/>
        </p:nvSpPr>
        <p:spPr>
          <a:xfrm rot="0">
            <a:off x="2859478" y="2359146"/>
            <a:ext cx="13262605" cy="2491740"/>
          </a:xfrm>
          <a:prstGeom prst="rect">
            <a:avLst/>
          </a:prstGeom>
        </p:spPr>
        <p:txBody>
          <a:bodyPr anchor="t" rtlCol="false" tIns="0" lIns="0" bIns="0" rIns="0">
            <a:spAutoFit/>
          </a:bodyPr>
          <a:lstStyle/>
          <a:p>
            <a:pPr algn="just" marL="518162" indent="-259081" lvl="1">
              <a:lnSpc>
                <a:spcPts val="3360"/>
              </a:lnSpc>
              <a:buFont typeface="Arial"/>
              <a:buChar char="•"/>
            </a:pPr>
            <a:r>
              <a:rPr lang="en-US" sz="2400" spc="-48">
                <a:solidFill>
                  <a:srgbClr val="1E1E1E"/>
                </a:solidFill>
                <a:latin typeface="Canva Sans"/>
                <a:ea typeface="Canva Sans"/>
                <a:cs typeface="Canva Sans"/>
                <a:sym typeface="Canva Sans"/>
              </a:rPr>
              <a:t>Urgency: “Act now” messages reduce the time people spend checking details.</a:t>
            </a:r>
          </a:p>
          <a:p>
            <a:pPr algn="just" marL="518162" indent="-259081" lvl="1">
              <a:lnSpc>
                <a:spcPts val="3360"/>
              </a:lnSpc>
              <a:buFont typeface="Arial"/>
              <a:buChar char="•"/>
            </a:pPr>
            <a:r>
              <a:rPr lang="en-US" sz="2400" spc="-48">
                <a:solidFill>
                  <a:srgbClr val="1E1E1E"/>
                </a:solidFill>
                <a:latin typeface="Canva Sans"/>
                <a:ea typeface="Canva Sans"/>
                <a:cs typeface="Canva Sans"/>
                <a:sym typeface="Canva Sans"/>
              </a:rPr>
              <a:t>Authority: attackers may impersonate banks, managers, IT teams, or government services.</a:t>
            </a:r>
          </a:p>
          <a:p>
            <a:pPr algn="just" marL="518162" indent="-259081" lvl="1">
              <a:lnSpc>
                <a:spcPts val="3360"/>
              </a:lnSpc>
              <a:buFont typeface="Arial"/>
              <a:buChar char="•"/>
            </a:pPr>
            <a:r>
              <a:rPr lang="en-US" sz="2400" spc="-48">
                <a:solidFill>
                  <a:srgbClr val="1E1E1E"/>
                </a:solidFill>
                <a:latin typeface="Canva Sans"/>
                <a:ea typeface="Canva Sans"/>
                <a:cs typeface="Canva Sans"/>
                <a:sym typeface="Canva Sans"/>
              </a:rPr>
              <a:t>Fear or curiosity: warnings about account closure, invoices, security alerts, or unusual activity.</a:t>
            </a:r>
          </a:p>
          <a:p>
            <a:pPr algn="just" marL="518162" indent="-259081" lvl="1">
              <a:lnSpc>
                <a:spcPts val="3360"/>
              </a:lnSpc>
              <a:buFont typeface="Arial"/>
              <a:buChar char="•"/>
            </a:pPr>
            <a:r>
              <a:rPr lang="en-US" sz="2400" spc="-48">
                <a:solidFill>
                  <a:srgbClr val="1E1E1E"/>
                </a:solidFill>
                <a:latin typeface="Canva Sans"/>
                <a:ea typeface="Canva Sans"/>
                <a:cs typeface="Canva Sans"/>
                <a:sym typeface="Canva Sans"/>
              </a:rPr>
              <a:t>Trust: attackers use information found online to make messages look personal and believable.</a:t>
            </a:r>
          </a:p>
        </p:txBody>
      </p:sp>
      <p:sp>
        <p:nvSpPr>
          <p:cNvPr name="Freeform 74" id="74"/>
          <p:cNvSpPr/>
          <p:nvPr/>
        </p:nvSpPr>
        <p:spPr>
          <a:xfrm flipH="false" flipV="false" rot="0">
            <a:off x="13525684" y="6331704"/>
            <a:ext cx="944187" cy="951105"/>
          </a:xfrm>
          <a:custGeom>
            <a:avLst/>
            <a:gdLst/>
            <a:ahLst/>
            <a:cxnLst/>
            <a:rect r="r" b="b" t="t" l="l"/>
            <a:pathLst>
              <a:path h="951105" w="944187">
                <a:moveTo>
                  <a:pt x="0" y="0"/>
                </a:moveTo>
                <a:lnTo>
                  <a:pt x="944187" y="0"/>
                </a:lnTo>
                <a:lnTo>
                  <a:pt x="944187" y="951105"/>
                </a:lnTo>
                <a:lnTo>
                  <a:pt x="0" y="951105"/>
                </a:lnTo>
                <a:lnTo>
                  <a:pt x="0" y="0"/>
                </a:lnTo>
                <a:close/>
              </a:path>
            </a:pathLst>
          </a:custGeom>
          <a:blipFill>
            <a:blip r:embed="rId6"/>
            <a:stretch>
              <a:fillRect l="0" t="0" r="0" b="0"/>
            </a:stretch>
          </a:blipFill>
        </p:spPr>
      </p:sp>
      <p:grpSp>
        <p:nvGrpSpPr>
          <p:cNvPr name="Group 75" id="75"/>
          <p:cNvGrpSpPr/>
          <p:nvPr/>
        </p:nvGrpSpPr>
        <p:grpSpPr>
          <a:xfrm rot="0">
            <a:off x="209795" y="9073955"/>
            <a:ext cx="1114641" cy="1082510"/>
            <a:chOff x="0" y="0"/>
            <a:chExt cx="1486188" cy="1443347"/>
          </a:xfrm>
        </p:grpSpPr>
        <p:grpSp>
          <p:nvGrpSpPr>
            <p:cNvPr name="Group 76" id="76"/>
            <p:cNvGrpSpPr/>
            <p:nvPr/>
          </p:nvGrpSpPr>
          <p:grpSpPr>
            <a:xfrm rot="0">
              <a:off x="0" y="0"/>
              <a:ext cx="1486188" cy="1443347"/>
              <a:chOff x="0" y="0"/>
              <a:chExt cx="812800" cy="789370"/>
            </a:xfrm>
          </p:grpSpPr>
          <p:sp>
            <p:nvSpPr>
              <p:cNvPr name="Freeform 77" id="77"/>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78" id="78"/>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79" id="79"/>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7</a:t>
              </a:r>
            </a:p>
          </p:txBody>
        </p:sp>
      </p:grpSp>
      <p:grpSp>
        <p:nvGrpSpPr>
          <p:cNvPr name="Group 80" id="80"/>
          <p:cNvGrpSpPr/>
          <p:nvPr/>
        </p:nvGrpSpPr>
        <p:grpSpPr>
          <a:xfrm rot="0">
            <a:off x="17259300" y="7486805"/>
            <a:ext cx="1028700" cy="1028700"/>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82" id="82"/>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CF5FE">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0" y="9565"/>
            <a:ext cx="18288000" cy="10277435"/>
            <a:chOff x="0" y="0"/>
            <a:chExt cx="24384000" cy="13703246"/>
          </a:xfrm>
        </p:grpSpPr>
        <p:grpSp>
          <p:nvGrpSpPr>
            <p:cNvPr name="Group 3" id="3"/>
            <p:cNvGrpSpPr/>
            <p:nvPr/>
          </p:nvGrpSpPr>
          <p:grpSpPr>
            <a:xfrm rot="0">
              <a:off x="0" y="0"/>
              <a:ext cx="24384000" cy="13703246"/>
              <a:chOff x="0" y="0"/>
              <a:chExt cx="4596479" cy="2583115"/>
            </a:xfrm>
          </p:grpSpPr>
          <p:sp>
            <p:nvSpPr>
              <p:cNvPr name="Freeform 4" id="4"/>
              <p:cNvSpPr/>
              <p:nvPr/>
            </p:nvSpPr>
            <p:spPr>
              <a:xfrm flipH="false" flipV="false" rot="0">
                <a:off x="0" y="0"/>
                <a:ext cx="4596479" cy="2583115"/>
              </a:xfrm>
              <a:custGeom>
                <a:avLst/>
                <a:gdLst/>
                <a:ahLst/>
                <a:cxnLst/>
                <a:rect r="r" b="b" t="t" l="l"/>
                <a:pathLst>
                  <a:path h="2583115" w="4596479">
                    <a:moveTo>
                      <a:pt x="4517061" y="0"/>
                    </a:moveTo>
                    <a:lnTo>
                      <a:pt x="79418" y="0"/>
                    </a:lnTo>
                    <a:cubicBezTo>
                      <a:pt x="79418" y="43699"/>
                      <a:pt x="44079" y="79418"/>
                      <a:pt x="0" y="79418"/>
                    </a:cubicBezTo>
                    <a:lnTo>
                      <a:pt x="0" y="2503697"/>
                    </a:lnTo>
                    <a:cubicBezTo>
                      <a:pt x="43699" y="2503697"/>
                      <a:pt x="79418" y="2539036"/>
                      <a:pt x="79418" y="2583115"/>
                    </a:cubicBezTo>
                    <a:lnTo>
                      <a:pt x="4517061" y="2583115"/>
                    </a:lnTo>
                    <a:cubicBezTo>
                      <a:pt x="4517061" y="2539416"/>
                      <a:pt x="4552400" y="2503697"/>
                      <a:pt x="4596479" y="2503697"/>
                    </a:cubicBezTo>
                    <a:lnTo>
                      <a:pt x="4596479" y="79418"/>
                    </a:lnTo>
                    <a:cubicBezTo>
                      <a:pt x="4552780" y="79418"/>
                      <a:pt x="4517061" y="44079"/>
                      <a:pt x="4517061" y="0"/>
                    </a:cubicBezTo>
                    <a:close/>
                  </a:path>
                </a:pathLst>
              </a:custGeom>
              <a:ln w="9525" cap="sq">
                <a:solidFill>
                  <a:srgbClr val="C29C84"/>
                </a:solidFill>
                <a:prstDash val="solid"/>
                <a:miter/>
              </a:ln>
            </p:spPr>
          </p:sp>
          <p:sp>
            <p:nvSpPr>
              <p:cNvPr name="TextBox 5" id="5"/>
              <p:cNvSpPr txBox="true"/>
              <p:nvPr/>
            </p:nvSpPr>
            <p:spPr>
              <a:xfrm>
                <a:off x="38100" y="-9525"/>
                <a:ext cx="4520279" cy="2554540"/>
              </a:xfrm>
              <a:prstGeom prst="rect">
                <a:avLst/>
              </a:prstGeom>
            </p:spPr>
            <p:txBody>
              <a:bodyPr anchor="ctr" rtlCol="false" tIns="50800" lIns="50800" bIns="50800" rIns="50800"/>
              <a:lstStyle/>
              <a:p>
                <a:pPr algn="ctr">
                  <a:lnSpc>
                    <a:spcPts val="2660"/>
                  </a:lnSpc>
                </a:pPr>
              </a:p>
            </p:txBody>
          </p:sp>
        </p:grpSp>
        <p:grpSp>
          <p:nvGrpSpPr>
            <p:cNvPr name="Group 6" id="6"/>
            <p:cNvGrpSpPr/>
            <p:nvPr/>
          </p:nvGrpSpPr>
          <p:grpSpPr>
            <a:xfrm rot="0">
              <a:off x="178937" y="207890"/>
              <a:ext cx="23995525" cy="13287466"/>
              <a:chOff x="0" y="0"/>
              <a:chExt cx="4596479" cy="2545290"/>
            </a:xfrm>
          </p:grpSpPr>
          <p:sp>
            <p:nvSpPr>
              <p:cNvPr name="Freeform 7" id="7"/>
              <p:cNvSpPr/>
              <p:nvPr/>
            </p:nvSpPr>
            <p:spPr>
              <a:xfrm flipH="false" flipV="false" rot="0">
                <a:off x="0" y="0"/>
                <a:ext cx="4596479" cy="2545290"/>
              </a:xfrm>
              <a:custGeom>
                <a:avLst/>
                <a:gdLst/>
                <a:ahLst/>
                <a:cxnLst/>
                <a:rect r="r" b="b" t="t" l="l"/>
                <a:pathLst>
                  <a:path h="2545290" w="4596479">
                    <a:moveTo>
                      <a:pt x="4517061" y="0"/>
                    </a:moveTo>
                    <a:lnTo>
                      <a:pt x="79418" y="0"/>
                    </a:lnTo>
                    <a:cubicBezTo>
                      <a:pt x="79418" y="43699"/>
                      <a:pt x="44079" y="79418"/>
                      <a:pt x="0" y="79418"/>
                    </a:cubicBezTo>
                    <a:lnTo>
                      <a:pt x="0" y="2465872"/>
                    </a:lnTo>
                    <a:cubicBezTo>
                      <a:pt x="43699" y="2465872"/>
                      <a:pt x="79418" y="2501211"/>
                      <a:pt x="79418" y="2545290"/>
                    </a:cubicBezTo>
                    <a:lnTo>
                      <a:pt x="4517061" y="2545290"/>
                    </a:lnTo>
                    <a:cubicBezTo>
                      <a:pt x="4517061" y="2501590"/>
                      <a:pt x="4552400" y="2465872"/>
                      <a:pt x="4596479" y="2465872"/>
                    </a:cubicBezTo>
                    <a:lnTo>
                      <a:pt x="4596479" y="79418"/>
                    </a:lnTo>
                    <a:cubicBezTo>
                      <a:pt x="4552780" y="79418"/>
                      <a:pt x="4517061" y="44079"/>
                      <a:pt x="4517061" y="0"/>
                    </a:cubicBezTo>
                    <a:close/>
                  </a:path>
                </a:pathLst>
              </a:custGeom>
              <a:solidFill>
                <a:srgbClr val="F8F2EC"/>
              </a:solidFill>
              <a:ln w="9525" cap="sq">
                <a:solidFill>
                  <a:srgbClr val="C29C84"/>
                </a:solidFill>
                <a:prstDash val="solid"/>
                <a:miter/>
              </a:ln>
            </p:spPr>
          </p:sp>
          <p:sp>
            <p:nvSpPr>
              <p:cNvPr name="TextBox 8" id="8"/>
              <p:cNvSpPr txBox="true"/>
              <p:nvPr/>
            </p:nvSpPr>
            <p:spPr>
              <a:xfrm>
                <a:off x="38100" y="-9525"/>
                <a:ext cx="4520279" cy="2516715"/>
              </a:xfrm>
              <a:prstGeom prst="rect">
                <a:avLst/>
              </a:prstGeom>
            </p:spPr>
            <p:txBody>
              <a:bodyPr anchor="ctr" rtlCol="false" tIns="50800" lIns="50800" bIns="50800" rIns="50800"/>
              <a:lstStyle/>
              <a:p>
                <a:pPr algn="ctr">
                  <a:lnSpc>
                    <a:spcPts val="2660"/>
                  </a:lnSpc>
                </a:pPr>
              </a:p>
            </p:txBody>
          </p:sp>
        </p:grpSp>
      </p:grpSp>
      <p:grpSp>
        <p:nvGrpSpPr>
          <p:cNvPr name="Group 9" id="9"/>
          <p:cNvGrpSpPr/>
          <p:nvPr/>
        </p:nvGrpSpPr>
        <p:grpSpPr>
          <a:xfrm rot="0">
            <a:off x="1288202" y="677425"/>
            <a:ext cx="16405157" cy="9053461"/>
            <a:chOff x="0" y="0"/>
            <a:chExt cx="4320700" cy="2384451"/>
          </a:xfrm>
        </p:grpSpPr>
        <p:sp>
          <p:nvSpPr>
            <p:cNvPr name="Freeform 10" id="10"/>
            <p:cNvSpPr/>
            <p:nvPr/>
          </p:nvSpPr>
          <p:spPr>
            <a:xfrm flipH="false" flipV="false" rot="0">
              <a:off x="0" y="0"/>
              <a:ext cx="4320700" cy="2384451"/>
            </a:xfrm>
            <a:custGeom>
              <a:avLst/>
              <a:gdLst/>
              <a:ahLst/>
              <a:cxnLst/>
              <a:rect r="r" b="b" t="t" l="l"/>
              <a:pathLst>
                <a:path h="2384451" w="4320700">
                  <a:moveTo>
                    <a:pt x="24068" y="0"/>
                  </a:moveTo>
                  <a:lnTo>
                    <a:pt x="4296632" y="0"/>
                  </a:lnTo>
                  <a:cubicBezTo>
                    <a:pt x="4309924" y="0"/>
                    <a:pt x="4320700" y="10776"/>
                    <a:pt x="4320700" y="24068"/>
                  </a:cubicBezTo>
                  <a:lnTo>
                    <a:pt x="4320700" y="2360383"/>
                  </a:lnTo>
                  <a:cubicBezTo>
                    <a:pt x="4320700" y="2373675"/>
                    <a:pt x="4309924" y="2384451"/>
                    <a:pt x="4296632" y="2384451"/>
                  </a:cubicBezTo>
                  <a:lnTo>
                    <a:pt x="24068" y="2384451"/>
                  </a:lnTo>
                  <a:cubicBezTo>
                    <a:pt x="10776" y="2384451"/>
                    <a:pt x="0" y="2373675"/>
                    <a:pt x="0" y="2360383"/>
                  </a:cubicBezTo>
                  <a:lnTo>
                    <a:pt x="0" y="24068"/>
                  </a:lnTo>
                  <a:cubicBezTo>
                    <a:pt x="0" y="10776"/>
                    <a:pt x="10776" y="0"/>
                    <a:pt x="24068"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a:ln w="19050" cap="rnd">
              <a:solidFill>
                <a:srgbClr val="000000"/>
              </a:solidFill>
              <a:prstDash val="solid"/>
              <a:round/>
            </a:ln>
          </p:spPr>
        </p:sp>
        <p:sp>
          <p:nvSpPr>
            <p:cNvPr name="TextBox 11" id="11"/>
            <p:cNvSpPr txBox="true"/>
            <p:nvPr/>
          </p:nvSpPr>
          <p:spPr>
            <a:xfrm>
              <a:off x="0" y="47625"/>
              <a:ext cx="4320700" cy="2336826"/>
            </a:xfrm>
            <a:prstGeom prst="rect">
              <a:avLst/>
            </a:prstGeom>
          </p:spPr>
          <p:txBody>
            <a:bodyPr anchor="ctr" rtlCol="false" tIns="50800" lIns="50800" bIns="50800" rIns="50800"/>
            <a:lstStyle/>
            <a:p>
              <a:pPr algn="ctr">
                <a:lnSpc>
                  <a:spcPts val="1620"/>
                </a:lnSpc>
              </a:pPr>
            </a:p>
          </p:txBody>
        </p:sp>
      </p:grpSp>
      <p:grpSp>
        <p:nvGrpSpPr>
          <p:cNvPr name="Group 12" id="12"/>
          <p:cNvGrpSpPr/>
          <p:nvPr/>
        </p:nvGrpSpPr>
        <p:grpSpPr>
          <a:xfrm rot="0">
            <a:off x="15976646" y="155750"/>
            <a:ext cx="1427910" cy="142791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14" id="14"/>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5" id="15"/>
          <p:cNvGrpSpPr/>
          <p:nvPr/>
        </p:nvGrpSpPr>
        <p:grpSpPr>
          <a:xfrm rot="-5400000">
            <a:off x="-4408542" y="4408542"/>
            <a:ext cx="10287000" cy="1469916"/>
            <a:chOff x="0" y="0"/>
            <a:chExt cx="2709333" cy="387138"/>
          </a:xfrm>
        </p:grpSpPr>
        <p:sp>
          <p:nvSpPr>
            <p:cNvPr name="Freeform 16" id="16"/>
            <p:cNvSpPr/>
            <p:nvPr/>
          </p:nvSpPr>
          <p:spPr>
            <a:xfrm flipH="false" flipV="false" rot="0">
              <a:off x="0" y="0"/>
              <a:ext cx="2709333" cy="387138"/>
            </a:xfrm>
            <a:custGeom>
              <a:avLst/>
              <a:gdLst/>
              <a:ahLst/>
              <a:cxnLst/>
              <a:rect r="r" b="b" t="t" l="l"/>
              <a:pathLst>
                <a:path h="387138" w="2709333">
                  <a:moveTo>
                    <a:pt x="75259" y="0"/>
                  </a:moveTo>
                  <a:lnTo>
                    <a:pt x="2634074" y="0"/>
                  </a:lnTo>
                  <a:cubicBezTo>
                    <a:pt x="2675639" y="0"/>
                    <a:pt x="2709333" y="33695"/>
                    <a:pt x="2709333" y="75259"/>
                  </a:cubicBezTo>
                  <a:lnTo>
                    <a:pt x="2709333" y="311879"/>
                  </a:lnTo>
                  <a:cubicBezTo>
                    <a:pt x="2709333" y="353444"/>
                    <a:pt x="2675639" y="387138"/>
                    <a:pt x="2634074" y="387138"/>
                  </a:cubicBezTo>
                  <a:lnTo>
                    <a:pt x="75259" y="387138"/>
                  </a:lnTo>
                  <a:cubicBezTo>
                    <a:pt x="33695" y="387138"/>
                    <a:pt x="0" y="353444"/>
                    <a:pt x="0" y="311879"/>
                  </a:cubicBezTo>
                  <a:lnTo>
                    <a:pt x="0" y="75259"/>
                  </a:lnTo>
                  <a:cubicBezTo>
                    <a:pt x="0" y="33695"/>
                    <a:pt x="33695" y="0"/>
                    <a:pt x="75259"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17" id="17"/>
            <p:cNvSpPr txBox="true"/>
            <p:nvPr/>
          </p:nvSpPr>
          <p:spPr>
            <a:xfrm>
              <a:off x="0" y="-38100"/>
              <a:ext cx="2709333" cy="425238"/>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2257890" y="9271213"/>
            <a:ext cx="626973" cy="62697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0" id="2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21" id="21"/>
          <p:cNvGrpSpPr/>
          <p:nvPr/>
        </p:nvGrpSpPr>
        <p:grpSpPr>
          <a:xfrm rot="0">
            <a:off x="368456" y="350702"/>
            <a:ext cx="2202920" cy="2211457"/>
            <a:chOff x="0" y="0"/>
            <a:chExt cx="732060" cy="734897"/>
          </a:xfrm>
        </p:grpSpPr>
        <p:sp>
          <p:nvSpPr>
            <p:cNvPr name="Freeform 22" id="22"/>
            <p:cNvSpPr/>
            <p:nvPr/>
          </p:nvSpPr>
          <p:spPr>
            <a:xfrm flipH="false" flipV="false" rot="0">
              <a:off x="0" y="0"/>
              <a:ext cx="732060" cy="734897"/>
            </a:xfrm>
            <a:custGeom>
              <a:avLst/>
              <a:gdLst/>
              <a:ahLst/>
              <a:cxnLst/>
              <a:rect r="r" b="b" t="t" l="l"/>
              <a:pathLst>
                <a:path h="734897" w="732060">
                  <a:moveTo>
                    <a:pt x="366030" y="0"/>
                  </a:moveTo>
                  <a:cubicBezTo>
                    <a:pt x="163877" y="0"/>
                    <a:pt x="0" y="164512"/>
                    <a:pt x="0" y="367448"/>
                  </a:cubicBezTo>
                  <a:cubicBezTo>
                    <a:pt x="0" y="570384"/>
                    <a:pt x="163877" y="734897"/>
                    <a:pt x="366030" y="734897"/>
                  </a:cubicBezTo>
                  <a:cubicBezTo>
                    <a:pt x="568183" y="734897"/>
                    <a:pt x="732060" y="570384"/>
                    <a:pt x="732060" y="367448"/>
                  </a:cubicBezTo>
                  <a:cubicBezTo>
                    <a:pt x="732060" y="164512"/>
                    <a:pt x="568183" y="0"/>
                    <a:pt x="36603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3" id="23"/>
            <p:cNvSpPr txBox="true"/>
            <p:nvPr/>
          </p:nvSpPr>
          <p:spPr>
            <a:xfrm>
              <a:off x="68631" y="87947"/>
              <a:ext cx="594799" cy="578054"/>
            </a:xfrm>
            <a:prstGeom prst="rect">
              <a:avLst/>
            </a:prstGeom>
          </p:spPr>
          <p:txBody>
            <a:bodyPr anchor="ctr" rtlCol="false" tIns="50800" lIns="50800" bIns="50800" rIns="50800"/>
            <a:lstStyle/>
            <a:p>
              <a:pPr algn="ctr">
                <a:lnSpc>
                  <a:spcPts val="2859"/>
                </a:lnSpc>
              </a:pPr>
            </a:p>
          </p:txBody>
        </p:sp>
      </p:grpSp>
      <p:grpSp>
        <p:nvGrpSpPr>
          <p:cNvPr name="Group 24" id="24"/>
          <p:cNvGrpSpPr/>
          <p:nvPr/>
        </p:nvGrpSpPr>
        <p:grpSpPr>
          <a:xfrm rot="0">
            <a:off x="14884825" y="350702"/>
            <a:ext cx="519003" cy="51900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6" id="26"/>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27" id="27"/>
          <p:cNvGrpSpPr/>
          <p:nvPr/>
        </p:nvGrpSpPr>
        <p:grpSpPr>
          <a:xfrm rot="0">
            <a:off x="564961" y="577562"/>
            <a:ext cx="1809910" cy="1757737"/>
            <a:chOff x="0" y="0"/>
            <a:chExt cx="2413213" cy="2343649"/>
          </a:xfrm>
        </p:grpSpPr>
        <p:grpSp>
          <p:nvGrpSpPr>
            <p:cNvPr name="Group 28" id="28"/>
            <p:cNvGrpSpPr/>
            <p:nvPr/>
          </p:nvGrpSpPr>
          <p:grpSpPr>
            <a:xfrm rot="0">
              <a:off x="0" y="0"/>
              <a:ext cx="2413213" cy="2343649"/>
              <a:chOff x="0" y="0"/>
              <a:chExt cx="812800" cy="789370"/>
            </a:xfrm>
          </p:grpSpPr>
          <p:sp>
            <p:nvSpPr>
              <p:cNvPr name="Freeform 29" id="29"/>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30" id="30"/>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31" id="31"/>
            <p:cNvSpPr txBox="true"/>
            <p:nvPr/>
          </p:nvSpPr>
          <p:spPr>
            <a:xfrm rot="0">
              <a:off x="542298" y="543113"/>
              <a:ext cx="1328616" cy="1352672"/>
            </a:xfrm>
            <a:prstGeom prst="rect">
              <a:avLst/>
            </a:prstGeom>
          </p:spPr>
          <p:txBody>
            <a:bodyPr anchor="t" rtlCol="false" tIns="0" lIns="0" bIns="0" rIns="0">
              <a:spAutoFit/>
            </a:bodyPr>
            <a:lstStyle/>
            <a:p>
              <a:pPr algn="ctr" marL="0" indent="0" lvl="0">
                <a:lnSpc>
                  <a:spcPts val="7573"/>
                </a:lnSpc>
              </a:pPr>
              <a:r>
                <a:rPr lang="en-US" b="true" sz="7144" spc="264">
                  <a:solidFill>
                    <a:srgbClr val="000000"/>
                  </a:solidFill>
                  <a:latin typeface="Canva Sans Bold"/>
                  <a:ea typeface="Canva Sans Bold"/>
                  <a:cs typeface="Canva Sans Bold"/>
                  <a:sym typeface="Canva Sans Bold"/>
                </a:rPr>
                <a:t>3</a:t>
              </a:r>
            </a:p>
          </p:txBody>
        </p:sp>
      </p:grpSp>
      <p:grpSp>
        <p:nvGrpSpPr>
          <p:cNvPr name="Group 32" id="32"/>
          <p:cNvGrpSpPr/>
          <p:nvPr/>
        </p:nvGrpSpPr>
        <p:grpSpPr>
          <a:xfrm rot="0">
            <a:off x="209795" y="3095559"/>
            <a:ext cx="1114641" cy="1082510"/>
            <a:chOff x="0" y="0"/>
            <a:chExt cx="1486188" cy="1443347"/>
          </a:xfrm>
        </p:grpSpPr>
        <p:grpSp>
          <p:nvGrpSpPr>
            <p:cNvPr name="Group 33" id="33"/>
            <p:cNvGrpSpPr/>
            <p:nvPr/>
          </p:nvGrpSpPr>
          <p:grpSpPr>
            <a:xfrm rot="0">
              <a:off x="0" y="0"/>
              <a:ext cx="1486188" cy="1443347"/>
              <a:chOff x="0" y="0"/>
              <a:chExt cx="812800" cy="789370"/>
            </a:xfrm>
          </p:grpSpPr>
          <p:sp>
            <p:nvSpPr>
              <p:cNvPr name="Freeform 34" id="34"/>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35" id="35"/>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36" id="36"/>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4</a:t>
              </a:r>
            </a:p>
          </p:txBody>
        </p:sp>
      </p:grpSp>
      <p:grpSp>
        <p:nvGrpSpPr>
          <p:cNvPr name="Group 37" id="37"/>
          <p:cNvGrpSpPr/>
          <p:nvPr/>
        </p:nvGrpSpPr>
        <p:grpSpPr>
          <a:xfrm rot="0">
            <a:off x="209795" y="4619776"/>
            <a:ext cx="1114641" cy="1082510"/>
            <a:chOff x="0" y="0"/>
            <a:chExt cx="1486188" cy="1443347"/>
          </a:xfrm>
        </p:grpSpPr>
        <p:grpSp>
          <p:nvGrpSpPr>
            <p:cNvPr name="Group 38" id="38"/>
            <p:cNvGrpSpPr/>
            <p:nvPr/>
          </p:nvGrpSpPr>
          <p:grpSpPr>
            <a:xfrm rot="0">
              <a:off x="0" y="0"/>
              <a:ext cx="1486188" cy="1443347"/>
              <a:chOff x="0" y="0"/>
              <a:chExt cx="812800" cy="789370"/>
            </a:xfrm>
          </p:grpSpPr>
          <p:sp>
            <p:nvSpPr>
              <p:cNvPr name="Freeform 39" id="39"/>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40" id="40"/>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41" id="41"/>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5</a:t>
              </a:r>
            </a:p>
          </p:txBody>
        </p:sp>
      </p:grpSp>
      <p:grpSp>
        <p:nvGrpSpPr>
          <p:cNvPr name="Group 42" id="42"/>
          <p:cNvGrpSpPr/>
          <p:nvPr/>
        </p:nvGrpSpPr>
        <p:grpSpPr>
          <a:xfrm rot="0">
            <a:off x="208930" y="6140436"/>
            <a:ext cx="1114641" cy="1082510"/>
            <a:chOff x="0" y="0"/>
            <a:chExt cx="1486188" cy="1443347"/>
          </a:xfrm>
        </p:grpSpPr>
        <p:grpSp>
          <p:nvGrpSpPr>
            <p:cNvPr name="Group 43" id="43"/>
            <p:cNvGrpSpPr/>
            <p:nvPr/>
          </p:nvGrpSpPr>
          <p:grpSpPr>
            <a:xfrm rot="0">
              <a:off x="0" y="0"/>
              <a:ext cx="1486188" cy="1443347"/>
              <a:chOff x="0" y="0"/>
              <a:chExt cx="812800" cy="789370"/>
            </a:xfrm>
          </p:grpSpPr>
          <p:sp>
            <p:nvSpPr>
              <p:cNvPr name="Freeform 44" id="44"/>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45" id="45"/>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46" id="46"/>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6</a:t>
              </a:r>
            </a:p>
          </p:txBody>
        </p:sp>
      </p:grpSp>
      <p:grpSp>
        <p:nvGrpSpPr>
          <p:cNvPr name="Group 47" id="47"/>
          <p:cNvGrpSpPr/>
          <p:nvPr/>
        </p:nvGrpSpPr>
        <p:grpSpPr>
          <a:xfrm rot="0">
            <a:off x="15397573" y="9325198"/>
            <a:ext cx="519003" cy="519003"/>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49" id="49"/>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sp>
        <p:nvSpPr>
          <p:cNvPr name="TextBox 50" id="50"/>
          <p:cNvSpPr txBox="true"/>
          <p:nvPr/>
        </p:nvSpPr>
        <p:spPr>
          <a:xfrm rot="0">
            <a:off x="2571376" y="2093942"/>
            <a:ext cx="7969145" cy="5918835"/>
          </a:xfrm>
          <a:prstGeom prst="rect">
            <a:avLst/>
          </a:prstGeom>
        </p:spPr>
        <p:txBody>
          <a:bodyPr anchor="t" rtlCol="false" tIns="0" lIns="0" bIns="0" rIns="0">
            <a:spAutoFit/>
          </a:bodyPr>
          <a:lstStyle/>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Spear phishing — targeted mess</a:t>
            </a:r>
            <a:r>
              <a:rPr lang="en-US" sz="2400" spc="-48">
                <a:solidFill>
                  <a:srgbClr val="1E1E1E"/>
                </a:solidFill>
                <a:latin typeface="Canva Sans"/>
                <a:ea typeface="Canva Sans"/>
                <a:cs typeface="Canva Sans"/>
                <a:sym typeface="Canva Sans"/>
              </a:rPr>
              <a:t>ages d</a:t>
            </a:r>
            <a:r>
              <a:rPr lang="en-US" sz="2400" spc="-48">
                <a:solidFill>
                  <a:srgbClr val="1E1E1E"/>
                </a:solidFill>
                <a:latin typeface="Canva Sans"/>
                <a:ea typeface="Canva Sans"/>
                <a:cs typeface="Canva Sans"/>
                <a:sym typeface="Canva Sans"/>
              </a:rPr>
              <a:t>e</a:t>
            </a:r>
            <a:r>
              <a:rPr lang="en-US" sz="2400" spc="-48">
                <a:solidFill>
                  <a:srgbClr val="1E1E1E"/>
                </a:solidFill>
                <a:latin typeface="Canva Sans"/>
                <a:ea typeface="Canva Sans"/>
                <a:cs typeface="Canva Sans"/>
                <a:sym typeface="Canva Sans"/>
              </a:rPr>
              <a:t>sign</a:t>
            </a:r>
            <a:r>
              <a:rPr lang="en-US" sz="2400" spc="-48">
                <a:solidFill>
                  <a:srgbClr val="1E1E1E"/>
                </a:solidFill>
                <a:latin typeface="Canva Sans"/>
                <a:ea typeface="Canva Sans"/>
                <a:cs typeface="Canva Sans"/>
                <a:sym typeface="Canva Sans"/>
              </a:rPr>
              <a:t>ed </a:t>
            </a:r>
            <a:r>
              <a:rPr lang="en-US" sz="2400" spc="-48">
                <a:solidFill>
                  <a:srgbClr val="1E1E1E"/>
                </a:solidFill>
                <a:latin typeface="Canva Sans"/>
                <a:ea typeface="Canva Sans"/>
                <a:cs typeface="Canva Sans"/>
                <a:sym typeface="Canva Sans"/>
              </a:rPr>
              <a:t>f</a:t>
            </a:r>
            <a:r>
              <a:rPr lang="en-US" sz="2400" spc="-48">
                <a:solidFill>
                  <a:srgbClr val="1E1E1E"/>
                </a:solidFill>
                <a:latin typeface="Canva Sans"/>
                <a:ea typeface="Canva Sans"/>
                <a:cs typeface="Canva Sans"/>
                <a:sym typeface="Canva Sans"/>
              </a:rPr>
              <a:t>o</a:t>
            </a:r>
            <a:r>
              <a:rPr lang="en-US" sz="2400" spc="-48">
                <a:solidFill>
                  <a:srgbClr val="1E1E1E"/>
                </a:solidFill>
                <a:latin typeface="Canva Sans"/>
                <a:ea typeface="Canva Sans"/>
                <a:cs typeface="Canva Sans"/>
                <a:sym typeface="Canva Sans"/>
              </a:rPr>
              <a:t>r a specific person or organization.</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Wh</a:t>
            </a:r>
            <a:r>
              <a:rPr lang="en-US" sz="2400" spc="-48">
                <a:solidFill>
                  <a:srgbClr val="1E1E1E"/>
                </a:solidFill>
                <a:latin typeface="Canva Sans"/>
                <a:ea typeface="Canva Sans"/>
                <a:cs typeface="Canva Sans"/>
                <a:sym typeface="Canva Sans"/>
              </a:rPr>
              <a:t>a</a:t>
            </a:r>
            <a:r>
              <a:rPr lang="en-US" sz="2400" spc="-48">
                <a:solidFill>
                  <a:srgbClr val="1E1E1E"/>
                </a:solidFill>
                <a:latin typeface="Canva Sans"/>
                <a:ea typeface="Canva Sans"/>
                <a:cs typeface="Canva Sans"/>
                <a:sym typeface="Canva Sans"/>
              </a:rPr>
              <a:t>l</a:t>
            </a:r>
            <a:r>
              <a:rPr lang="en-US" sz="2400" spc="-48">
                <a:solidFill>
                  <a:srgbClr val="1E1E1E"/>
                </a:solidFill>
                <a:latin typeface="Canva Sans"/>
                <a:ea typeface="Canva Sans"/>
                <a:cs typeface="Canva Sans"/>
                <a:sym typeface="Canva Sans"/>
              </a:rPr>
              <a:t>in</a:t>
            </a:r>
            <a:r>
              <a:rPr lang="en-US" sz="2400" spc="-48">
                <a:solidFill>
                  <a:srgbClr val="1E1E1E"/>
                </a:solidFill>
                <a:latin typeface="Canva Sans"/>
                <a:ea typeface="Canva Sans"/>
                <a:cs typeface="Canva Sans"/>
                <a:sym typeface="Canva Sans"/>
              </a:rPr>
              <a:t>g</a:t>
            </a:r>
            <a:r>
              <a:rPr lang="en-US" sz="2400" spc="-48">
                <a:solidFill>
                  <a:srgbClr val="1E1E1E"/>
                </a:solidFill>
                <a:latin typeface="Canva Sans"/>
                <a:ea typeface="Canva Sans"/>
                <a:cs typeface="Canva Sans"/>
                <a:sym typeface="Canva Sans"/>
              </a:rPr>
              <a:t> </a:t>
            </a:r>
            <a:r>
              <a:rPr lang="en-US" sz="2400" spc="-48">
                <a:solidFill>
                  <a:srgbClr val="1E1E1E"/>
                </a:solidFill>
                <a:latin typeface="Canva Sans"/>
                <a:ea typeface="Canva Sans"/>
                <a:cs typeface="Canva Sans"/>
                <a:sym typeface="Canva Sans"/>
              </a:rPr>
              <a:t>— a</a:t>
            </a:r>
            <a:r>
              <a:rPr lang="en-US" sz="2400" spc="-48">
                <a:solidFill>
                  <a:srgbClr val="1E1E1E"/>
                </a:solidFill>
                <a:latin typeface="Canva Sans"/>
                <a:ea typeface="Canva Sans"/>
                <a:cs typeface="Canva Sans"/>
                <a:sym typeface="Canva Sans"/>
              </a:rPr>
              <a:t>tt</a:t>
            </a:r>
            <a:r>
              <a:rPr lang="en-US" sz="2400" spc="-48">
                <a:solidFill>
                  <a:srgbClr val="1E1E1E"/>
                </a:solidFill>
                <a:latin typeface="Canva Sans"/>
                <a:ea typeface="Canva Sans"/>
                <a:cs typeface="Canva Sans"/>
                <a:sym typeface="Canva Sans"/>
              </a:rPr>
              <a:t>acks targeting high-value or senior individuals.</a:t>
            </a:r>
          </a:p>
          <a:p>
            <a:pPr algn="l">
              <a:lnSpc>
                <a:spcPts val="3600"/>
              </a:lnSpc>
            </a:pP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Smishing — phishing delivered through SMS or messaging apps.</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Vishi</a:t>
            </a:r>
            <a:r>
              <a:rPr lang="en-US" sz="2400" spc="-48">
                <a:solidFill>
                  <a:srgbClr val="1E1E1E"/>
                </a:solidFill>
                <a:latin typeface="Canva Sans"/>
                <a:ea typeface="Canva Sans"/>
                <a:cs typeface="Canva Sans"/>
                <a:sym typeface="Canva Sans"/>
              </a:rPr>
              <a:t>n</a:t>
            </a:r>
            <a:r>
              <a:rPr lang="en-US" sz="2400" spc="-48">
                <a:solidFill>
                  <a:srgbClr val="1E1E1E"/>
                </a:solidFill>
                <a:latin typeface="Canva Sans"/>
                <a:ea typeface="Canva Sans"/>
                <a:cs typeface="Canva Sans"/>
                <a:sym typeface="Canva Sans"/>
              </a:rPr>
              <a:t>g — </a:t>
            </a:r>
            <a:r>
              <a:rPr lang="en-US" sz="2400" spc="-48">
                <a:solidFill>
                  <a:srgbClr val="1E1E1E"/>
                </a:solidFill>
                <a:latin typeface="Canva Sans"/>
                <a:ea typeface="Canva Sans"/>
                <a:cs typeface="Canva Sans"/>
                <a:sym typeface="Canva Sans"/>
              </a:rPr>
              <a:t>p</a:t>
            </a:r>
            <a:r>
              <a:rPr lang="en-US" sz="2400" spc="-48">
                <a:solidFill>
                  <a:srgbClr val="1E1E1E"/>
                </a:solidFill>
                <a:latin typeface="Canva Sans"/>
                <a:ea typeface="Canva Sans"/>
                <a:cs typeface="Canva Sans"/>
                <a:sym typeface="Canva Sans"/>
              </a:rPr>
              <a:t>h</a:t>
            </a:r>
            <a:r>
              <a:rPr lang="en-US" sz="2400" spc="-48">
                <a:solidFill>
                  <a:srgbClr val="1E1E1E"/>
                </a:solidFill>
                <a:latin typeface="Canva Sans"/>
                <a:ea typeface="Canva Sans"/>
                <a:cs typeface="Canva Sans"/>
                <a:sym typeface="Canva Sans"/>
              </a:rPr>
              <a:t>i</a:t>
            </a:r>
            <a:r>
              <a:rPr lang="en-US" sz="2400" spc="-48">
                <a:solidFill>
                  <a:srgbClr val="1E1E1E"/>
                </a:solidFill>
                <a:latin typeface="Canva Sans"/>
                <a:ea typeface="Canva Sans"/>
                <a:cs typeface="Canva Sans"/>
                <a:sym typeface="Canva Sans"/>
              </a:rPr>
              <a:t>sh</a:t>
            </a:r>
            <a:r>
              <a:rPr lang="en-US" sz="2400" spc="-48">
                <a:solidFill>
                  <a:srgbClr val="1E1E1E"/>
                </a:solidFill>
                <a:latin typeface="Canva Sans"/>
                <a:ea typeface="Canva Sans"/>
                <a:cs typeface="Canva Sans"/>
                <a:sym typeface="Canva Sans"/>
              </a:rPr>
              <a:t>in</a:t>
            </a:r>
            <a:r>
              <a:rPr lang="en-US" sz="2400" spc="-48">
                <a:solidFill>
                  <a:srgbClr val="1E1E1E"/>
                </a:solidFill>
                <a:latin typeface="Canva Sans"/>
                <a:ea typeface="Canva Sans"/>
                <a:cs typeface="Canva Sans"/>
                <a:sym typeface="Canva Sans"/>
              </a:rPr>
              <a:t>g</a:t>
            </a:r>
            <a:r>
              <a:rPr lang="en-US" sz="2400" spc="-48">
                <a:solidFill>
                  <a:srgbClr val="1E1E1E"/>
                </a:solidFill>
                <a:latin typeface="Canva Sans"/>
                <a:ea typeface="Canva Sans"/>
                <a:cs typeface="Canva Sans"/>
                <a:sym typeface="Canva Sans"/>
              </a:rPr>
              <a:t> </a:t>
            </a:r>
            <a:r>
              <a:rPr lang="en-US" sz="2400" spc="-48">
                <a:solidFill>
                  <a:srgbClr val="1E1E1E"/>
                </a:solidFill>
                <a:latin typeface="Canva Sans"/>
                <a:ea typeface="Canva Sans"/>
                <a:cs typeface="Canva Sans"/>
                <a:sym typeface="Canva Sans"/>
              </a:rPr>
              <a:t>thr</a:t>
            </a:r>
            <a:r>
              <a:rPr lang="en-US" sz="2400" spc="-48">
                <a:solidFill>
                  <a:srgbClr val="1E1E1E"/>
                </a:solidFill>
                <a:latin typeface="Canva Sans"/>
                <a:ea typeface="Canva Sans"/>
                <a:cs typeface="Canva Sans"/>
                <a:sym typeface="Canva Sans"/>
              </a:rPr>
              <a:t>o</a:t>
            </a:r>
            <a:r>
              <a:rPr lang="en-US" sz="2400" spc="-48">
                <a:solidFill>
                  <a:srgbClr val="1E1E1E"/>
                </a:solidFill>
                <a:latin typeface="Canva Sans"/>
                <a:ea typeface="Canva Sans"/>
                <a:cs typeface="Canva Sans"/>
                <a:sym typeface="Canva Sans"/>
              </a:rPr>
              <a:t>ugh voice calls or conversations.</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Business Email Compromise (BEC) — impersonation or account compromise used to request money or sensitive actions.</a:t>
            </a:r>
          </a:p>
          <a:p>
            <a:pPr algn="l">
              <a:lnSpc>
                <a:spcPts val="3600"/>
              </a:lnSpc>
            </a:pPr>
          </a:p>
        </p:txBody>
      </p:sp>
      <p:sp>
        <p:nvSpPr>
          <p:cNvPr name="TextBox 51" id="51"/>
          <p:cNvSpPr txBox="true"/>
          <p:nvPr/>
        </p:nvSpPr>
        <p:spPr>
          <a:xfrm rot="0">
            <a:off x="2571376" y="1217861"/>
            <a:ext cx="9983198" cy="524764"/>
          </a:xfrm>
          <a:prstGeom prst="rect">
            <a:avLst/>
          </a:prstGeom>
        </p:spPr>
        <p:txBody>
          <a:bodyPr anchor="t" rtlCol="false" tIns="0" lIns="0" bIns="0" rIns="0">
            <a:spAutoFit/>
          </a:bodyPr>
          <a:lstStyle/>
          <a:p>
            <a:pPr algn="l">
              <a:lnSpc>
                <a:spcPts val="4028"/>
              </a:lnSpc>
              <a:spcBef>
                <a:spcPct val="0"/>
              </a:spcBef>
            </a:pPr>
            <a:r>
              <a:rPr lang="en-US" b="true" sz="3800" i="true" spc="140" u="sng">
                <a:solidFill>
                  <a:srgbClr val="000000"/>
                </a:solidFill>
                <a:latin typeface="Canva Sans Bold Italics"/>
                <a:ea typeface="Canva Sans Bold Italics"/>
                <a:cs typeface="Canva Sans Bold Italics"/>
                <a:sym typeface="Canva Sans Bold Italics"/>
              </a:rPr>
              <a:t>Common Types of Phishing</a:t>
            </a:r>
          </a:p>
        </p:txBody>
      </p:sp>
      <p:sp>
        <p:nvSpPr>
          <p:cNvPr name="Freeform 52" id="52"/>
          <p:cNvSpPr/>
          <p:nvPr/>
        </p:nvSpPr>
        <p:spPr>
          <a:xfrm flipH="false" flipV="false" rot="0">
            <a:off x="11155563" y="3167812"/>
            <a:ext cx="5927737" cy="3960942"/>
          </a:xfrm>
          <a:custGeom>
            <a:avLst/>
            <a:gdLst/>
            <a:ahLst/>
            <a:cxnLst/>
            <a:rect r="r" b="b" t="t" l="l"/>
            <a:pathLst>
              <a:path h="3960942" w="5927737">
                <a:moveTo>
                  <a:pt x="0" y="0"/>
                </a:moveTo>
                <a:lnTo>
                  <a:pt x="5927737" y="0"/>
                </a:lnTo>
                <a:lnTo>
                  <a:pt x="5927737" y="3960942"/>
                </a:lnTo>
                <a:lnTo>
                  <a:pt x="0" y="3960942"/>
                </a:lnTo>
                <a:lnTo>
                  <a:pt x="0" y="0"/>
                </a:lnTo>
                <a:close/>
              </a:path>
            </a:pathLst>
          </a:custGeom>
          <a:blipFill>
            <a:blip r:embed="rId2"/>
            <a:stretch>
              <a:fillRect l="0" t="-3494" r="0" b="-24460"/>
            </a:stretch>
          </a:blipFill>
          <a:ln w="9525" cap="sq">
            <a:solidFill>
              <a:srgbClr val="000000"/>
            </a:solidFill>
            <a:prstDash val="solid"/>
            <a:miter/>
          </a:ln>
        </p:spPr>
      </p:sp>
      <p:sp>
        <p:nvSpPr>
          <p:cNvPr name="Freeform 53" id="53"/>
          <p:cNvSpPr/>
          <p:nvPr/>
        </p:nvSpPr>
        <p:spPr>
          <a:xfrm flipH="false" flipV="false" rot="3665317">
            <a:off x="9400878" y="3824334"/>
            <a:ext cx="1819063" cy="1660308"/>
          </a:xfrm>
          <a:custGeom>
            <a:avLst/>
            <a:gdLst/>
            <a:ahLst/>
            <a:cxnLst/>
            <a:rect r="r" b="b" t="t" l="l"/>
            <a:pathLst>
              <a:path h="1660308" w="1819063">
                <a:moveTo>
                  <a:pt x="0" y="0"/>
                </a:moveTo>
                <a:lnTo>
                  <a:pt x="1819063" y="0"/>
                </a:lnTo>
                <a:lnTo>
                  <a:pt x="1819063" y="1660309"/>
                </a:lnTo>
                <a:lnTo>
                  <a:pt x="0" y="16603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4" id="54"/>
          <p:cNvGrpSpPr/>
          <p:nvPr/>
        </p:nvGrpSpPr>
        <p:grpSpPr>
          <a:xfrm rot="0">
            <a:off x="209795" y="7470502"/>
            <a:ext cx="1114641" cy="1082510"/>
            <a:chOff x="0" y="0"/>
            <a:chExt cx="1486188" cy="1443347"/>
          </a:xfrm>
        </p:grpSpPr>
        <p:grpSp>
          <p:nvGrpSpPr>
            <p:cNvPr name="Group 55" id="55"/>
            <p:cNvGrpSpPr/>
            <p:nvPr/>
          </p:nvGrpSpPr>
          <p:grpSpPr>
            <a:xfrm rot="0">
              <a:off x="0" y="0"/>
              <a:ext cx="1486188" cy="1443347"/>
              <a:chOff x="0" y="0"/>
              <a:chExt cx="812800" cy="789370"/>
            </a:xfrm>
          </p:grpSpPr>
          <p:sp>
            <p:nvSpPr>
              <p:cNvPr name="Freeform 56" id="56"/>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57" id="57"/>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58" id="58"/>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7</a:t>
              </a:r>
            </a:p>
          </p:txBody>
        </p:sp>
      </p:grpSp>
      <p:grpSp>
        <p:nvGrpSpPr>
          <p:cNvPr name="Group 59" id="59"/>
          <p:cNvGrpSpPr/>
          <p:nvPr/>
        </p:nvGrpSpPr>
        <p:grpSpPr>
          <a:xfrm rot="0">
            <a:off x="17878595" y="8106100"/>
            <a:ext cx="409405" cy="409405"/>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61" id="61"/>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CF5FE">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0" y="9565"/>
            <a:ext cx="18288000" cy="10277435"/>
            <a:chOff x="0" y="0"/>
            <a:chExt cx="24384000" cy="13703246"/>
          </a:xfrm>
        </p:grpSpPr>
        <p:grpSp>
          <p:nvGrpSpPr>
            <p:cNvPr name="Group 3" id="3"/>
            <p:cNvGrpSpPr/>
            <p:nvPr/>
          </p:nvGrpSpPr>
          <p:grpSpPr>
            <a:xfrm rot="0">
              <a:off x="0" y="0"/>
              <a:ext cx="24384000" cy="13703246"/>
              <a:chOff x="0" y="0"/>
              <a:chExt cx="4596479" cy="2583115"/>
            </a:xfrm>
          </p:grpSpPr>
          <p:sp>
            <p:nvSpPr>
              <p:cNvPr name="Freeform 4" id="4"/>
              <p:cNvSpPr/>
              <p:nvPr/>
            </p:nvSpPr>
            <p:spPr>
              <a:xfrm flipH="false" flipV="false" rot="0">
                <a:off x="0" y="0"/>
                <a:ext cx="4596479" cy="2583115"/>
              </a:xfrm>
              <a:custGeom>
                <a:avLst/>
                <a:gdLst/>
                <a:ahLst/>
                <a:cxnLst/>
                <a:rect r="r" b="b" t="t" l="l"/>
                <a:pathLst>
                  <a:path h="2583115" w="4596479">
                    <a:moveTo>
                      <a:pt x="4517061" y="0"/>
                    </a:moveTo>
                    <a:lnTo>
                      <a:pt x="79418" y="0"/>
                    </a:lnTo>
                    <a:cubicBezTo>
                      <a:pt x="79418" y="43699"/>
                      <a:pt x="44079" y="79418"/>
                      <a:pt x="0" y="79418"/>
                    </a:cubicBezTo>
                    <a:lnTo>
                      <a:pt x="0" y="2503697"/>
                    </a:lnTo>
                    <a:cubicBezTo>
                      <a:pt x="43699" y="2503697"/>
                      <a:pt x="79418" y="2539036"/>
                      <a:pt x="79418" y="2583115"/>
                    </a:cubicBezTo>
                    <a:lnTo>
                      <a:pt x="4517061" y="2583115"/>
                    </a:lnTo>
                    <a:cubicBezTo>
                      <a:pt x="4517061" y="2539416"/>
                      <a:pt x="4552400" y="2503697"/>
                      <a:pt x="4596479" y="2503697"/>
                    </a:cubicBezTo>
                    <a:lnTo>
                      <a:pt x="4596479" y="79418"/>
                    </a:lnTo>
                    <a:cubicBezTo>
                      <a:pt x="4552780" y="79418"/>
                      <a:pt x="4517061" y="44079"/>
                      <a:pt x="4517061" y="0"/>
                    </a:cubicBezTo>
                    <a:close/>
                  </a:path>
                </a:pathLst>
              </a:custGeom>
              <a:ln w="9525" cap="sq">
                <a:solidFill>
                  <a:srgbClr val="C29C84"/>
                </a:solidFill>
                <a:prstDash val="solid"/>
                <a:miter/>
              </a:ln>
            </p:spPr>
          </p:sp>
          <p:sp>
            <p:nvSpPr>
              <p:cNvPr name="TextBox 5" id="5"/>
              <p:cNvSpPr txBox="true"/>
              <p:nvPr/>
            </p:nvSpPr>
            <p:spPr>
              <a:xfrm>
                <a:off x="38100" y="-9525"/>
                <a:ext cx="4520279" cy="2554540"/>
              </a:xfrm>
              <a:prstGeom prst="rect">
                <a:avLst/>
              </a:prstGeom>
            </p:spPr>
            <p:txBody>
              <a:bodyPr anchor="ctr" rtlCol="false" tIns="50800" lIns="50800" bIns="50800" rIns="50800"/>
              <a:lstStyle/>
              <a:p>
                <a:pPr algn="ctr">
                  <a:lnSpc>
                    <a:spcPts val="2660"/>
                  </a:lnSpc>
                </a:pPr>
              </a:p>
            </p:txBody>
          </p:sp>
        </p:grpSp>
        <p:grpSp>
          <p:nvGrpSpPr>
            <p:cNvPr name="Group 6" id="6"/>
            <p:cNvGrpSpPr/>
            <p:nvPr/>
          </p:nvGrpSpPr>
          <p:grpSpPr>
            <a:xfrm rot="0">
              <a:off x="178937" y="207890"/>
              <a:ext cx="23995525" cy="13287466"/>
              <a:chOff x="0" y="0"/>
              <a:chExt cx="4596479" cy="2545290"/>
            </a:xfrm>
          </p:grpSpPr>
          <p:sp>
            <p:nvSpPr>
              <p:cNvPr name="Freeform 7" id="7"/>
              <p:cNvSpPr/>
              <p:nvPr/>
            </p:nvSpPr>
            <p:spPr>
              <a:xfrm flipH="false" flipV="false" rot="0">
                <a:off x="0" y="0"/>
                <a:ext cx="4596479" cy="2545290"/>
              </a:xfrm>
              <a:custGeom>
                <a:avLst/>
                <a:gdLst/>
                <a:ahLst/>
                <a:cxnLst/>
                <a:rect r="r" b="b" t="t" l="l"/>
                <a:pathLst>
                  <a:path h="2545290" w="4596479">
                    <a:moveTo>
                      <a:pt x="4517061" y="0"/>
                    </a:moveTo>
                    <a:lnTo>
                      <a:pt x="79418" y="0"/>
                    </a:lnTo>
                    <a:cubicBezTo>
                      <a:pt x="79418" y="43699"/>
                      <a:pt x="44079" y="79418"/>
                      <a:pt x="0" y="79418"/>
                    </a:cubicBezTo>
                    <a:lnTo>
                      <a:pt x="0" y="2465872"/>
                    </a:lnTo>
                    <a:cubicBezTo>
                      <a:pt x="43699" y="2465872"/>
                      <a:pt x="79418" y="2501211"/>
                      <a:pt x="79418" y="2545290"/>
                    </a:cubicBezTo>
                    <a:lnTo>
                      <a:pt x="4517061" y="2545290"/>
                    </a:lnTo>
                    <a:cubicBezTo>
                      <a:pt x="4517061" y="2501590"/>
                      <a:pt x="4552400" y="2465872"/>
                      <a:pt x="4596479" y="2465872"/>
                    </a:cubicBezTo>
                    <a:lnTo>
                      <a:pt x="4596479" y="79418"/>
                    </a:lnTo>
                    <a:cubicBezTo>
                      <a:pt x="4552780" y="79418"/>
                      <a:pt x="4517061" y="44079"/>
                      <a:pt x="4517061" y="0"/>
                    </a:cubicBezTo>
                    <a:close/>
                  </a:path>
                </a:pathLst>
              </a:custGeom>
              <a:solidFill>
                <a:srgbClr val="F8F2EC"/>
              </a:solidFill>
              <a:ln w="9525" cap="sq">
                <a:solidFill>
                  <a:srgbClr val="C29C84"/>
                </a:solidFill>
                <a:prstDash val="solid"/>
                <a:miter/>
              </a:ln>
            </p:spPr>
          </p:sp>
          <p:sp>
            <p:nvSpPr>
              <p:cNvPr name="TextBox 8" id="8"/>
              <p:cNvSpPr txBox="true"/>
              <p:nvPr/>
            </p:nvSpPr>
            <p:spPr>
              <a:xfrm>
                <a:off x="38100" y="-9525"/>
                <a:ext cx="4520279" cy="2516715"/>
              </a:xfrm>
              <a:prstGeom prst="rect">
                <a:avLst/>
              </a:prstGeom>
            </p:spPr>
            <p:txBody>
              <a:bodyPr anchor="ctr" rtlCol="false" tIns="50800" lIns="50800" bIns="50800" rIns="50800"/>
              <a:lstStyle/>
              <a:p>
                <a:pPr algn="ctr">
                  <a:lnSpc>
                    <a:spcPts val="2660"/>
                  </a:lnSpc>
                </a:pPr>
              </a:p>
            </p:txBody>
          </p:sp>
        </p:grpSp>
      </p:grpSp>
      <p:grpSp>
        <p:nvGrpSpPr>
          <p:cNvPr name="Group 9" id="9"/>
          <p:cNvGrpSpPr/>
          <p:nvPr/>
        </p:nvGrpSpPr>
        <p:grpSpPr>
          <a:xfrm rot="0">
            <a:off x="1288202" y="677425"/>
            <a:ext cx="16405157" cy="9053461"/>
            <a:chOff x="0" y="0"/>
            <a:chExt cx="4320700" cy="2384451"/>
          </a:xfrm>
        </p:grpSpPr>
        <p:sp>
          <p:nvSpPr>
            <p:cNvPr name="Freeform 10" id="10"/>
            <p:cNvSpPr/>
            <p:nvPr/>
          </p:nvSpPr>
          <p:spPr>
            <a:xfrm flipH="false" flipV="false" rot="0">
              <a:off x="0" y="0"/>
              <a:ext cx="4320700" cy="2384451"/>
            </a:xfrm>
            <a:custGeom>
              <a:avLst/>
              <a:gdLst/>
              <a:ahLst/>
              <a:cxnLst/>
              <a:rect r="r" b="b" t="t" l="l"/>
              <a:pathLst>
                <a:path h="2384451" w="4320700">
                  <a:moveTo>
                    <a:pt x="24068" y="0"/>
                  </a:moveTo>
                  <a:lnTo>
                    <a:pt x="4296632" y="0"/>
                  </a:lnTo>
                  <a:cubicBezTo>
                    <a:pt x="4309924" y="0"/>
                    <a:pt x="4320700" y="10776"/>
                    <a:pt x="4320700" y="24068"/>
                  </a:cubicBezTo>
                  <a:lnTo>
                    <a:pt x="4320700" y="2360383"/>
                  </a:lnTo>
                  <a:cubicBezTo>
                    <a:pt x="4320700" y="2373675"/>
                    <a:pt x="4309924" y="2384451"/>
                    <a:pt x="4296632" y="2384451"/>
                  </a:cubicBezTo>
                  <a:lnTo>
                    <a:pt x="24068" y="2384451"/>
                  </a:lnTo>
                  <a:cubicBezTo>
                    <a:pt x="10776" y="2384451"/>
                    <a:pt x="0" y="2373675"/>
                    <a:pt x="0" y="2360383"/>
                  </a:cubicBezTo>
                  <a:lnTo>
                    <a:pt x="0" y="24068"/>
                  </a:lnTo>
                  <a:cubicBezTo>
                    <a:pt x="0" y="10776"/>
                    <a:pt x="10776" y="0"/>
                    <a:pt x="24068"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a:ln w="19050" cap="rnd">
              <a:solidFill>
                <a:srgbClr val="000000"/>
              </a:solidFill>
              <a:prstDash val="solid"/>
              <a:round/>
            </a:ln>
          </p:spPr>
        </p:sp>
        <p:sp>
          <p:nvSpPr>
            <p:cNvPr name="TextBox 11" id="11"/>
            <p:cNvSpPr txBox="true"/>
            <p:nvPr/>
          </p:nvSpPr>
          <p:spPr>
            <a:xfrm>
              <a:off x="0" y="47625"/>
              <a:ext cx="4320700" cy="2336826"/>
            </a:xfrm>
            <a:prstGeom prst="rect">
              <a:avLst/>
            </a:prstGeom>
          </p:spPr>
          <p:txBody>
            <a:bodyPr anchor="ctr" rtlCol="false" tIns="50800" lIns="50800" bIns="50800" rIns="50800"/>
            <a:lstStyle/>
            <a:p>
              <a:pPr algn="ctr">
                <a:lnSpc>
                  <a:spcPts val="1620"/>
                </a:lnSpc>
              </a:pPr>
            </a:p>
          </p:txBody>
        </p:sp>
      </p:grpSp>
      <p:grpSp>
        <p:nvGrpSpPr>
          <p:cNvPr name="Group 12" id="12"/>
          <p:cNvGrpSpPr/>
          <p:nvPr/>
        </p:nvGrpSpPr>
        <p:grpSpPr>
          <a:xfrm rot="0">
            <a:off x="16829712" y="7057217"/>
            <a:ext cx="1458288" cy="14582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14" id="14"/>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15" id="15"/>
          <p:cNvGrpSpPr/>
          <p:nvPr/>
        </p:nvGrpSpPr>
        <p:grpSpPr>
          <a:xfrm rot="0">
            <a:off x="15976646" y="155750"/>
            <a:ext cx="1427910" cy="142791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17" id="1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8" id="18"/>
          <p:cNvGrpSpPr/>
          <p:nvPr/>
        </p:nvGrpSpPr>
        <p:grpSpPr>
          <a:xfrm rot="-5400000">
            <a:off x="-4408542" y="4408542"/>
            <a:ext cx="10287000" cy="1469916"/>
            <a:chOff x="0" y="0"/>
            <a:chExt cx="2709333" cy="387138"/>
          </a:xfrm>
        </p:grpSpPr>
        <p:sp>
          <p:nvSpPr>
            <p:cNvPr name="Freeform 19" id="19"/>
            <p:cNvSpPr/>
            <p:nvPr/>
          </p:nvSpPr>
          <p:spPr>
            <a:xfrm flipH="false" flipV="false" rot="0">
              <a:off x="0" y="0"/>
              <a:ext cx="2709333" cy="387138"/>
            </a:xfrm>
            <a:custGeom>
              <a:avLst/>
              <a:gdLst/>
              <a:ahLst/>
              <a:cxnLst/>
              <a:rect r="r" b="b" t="t" l="l"/>
              <a:pathLst>
                <a:path h="387138" w="2709333">
                  <a:moveTo>
                    <a:pt x="75259" y="0"/>
                  </a:moveTo>
                  <a:lnTo>
                    <a:pt x="2634074" y="0"/>
                  </a:lnTo>
                  <a:cubicBezTo>
                    <a:pt x="2675639" y="0"/>
                    <a:pt x="2709333" y="33695"/>
                    <a:pt x="2709333" y="75259"/>
                  </a:cubicBezTo>
                  <a:lnTo>
                    <a:pt x="2709333" y="311879"/>
                  </a:lnTo>
                  <a:cubicBezTo>
                    <a:pt x="2709333" y="353444"/>
                    <a:pt x="2675639" y="387138"/>
                    <a:pt x="2634074" y="387138"/>
                  </a:cubicBezTo>
                  <a:lnTo>
                    <a:pt x="75259" y="387138"/>
                  </a:lnTo>
                  <a:cubicBezTo>
                    <a:pt x="33695" y="387138"/>
                    <a:pt x="0" y="353444"/>
                    <a:pt x="0" y="311879"/>
                  </a:cubicBezTo>
                  <a:lnTo>
                    <a:pt x="0" y="75259"/>
                  </a:lnTo>
                  <a:cubicBezTo>
                    <a:pt x="0" y="33695"/>
                    <a:pt x="33695" y="0"/>
                    <a:pt x="75259"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0" id="20"/>
            <p:cNvSpPr txBox="true"/>
            <p:nvPr/>
          </p:nvSpPr>
          <p:spPr>
            <a:xfrm>
              <a:off x="0" y="-38100"/>
              <a:ext cx="2709333" cy="425238"/>
            </a:xfrm>
            <a:prstGeom prst="rect">
              <a:avLst/>
            </a:prstGeom>
          </p:spPr>
          <p:txBody>
            <a:bodyPr anchor="ctr" rtlCol="false" tIns="50800" lIns="50800" bIns="50800" rIns="50800"/>
            <a:lstStyle/>
            <a:p>
              <a:pPr algn="ctr" marL="0" indent="0" lvl="0">
                <a:lnSpc>
                  <a:spcPts val="2659"/>
                </a:lnSpc>
              </a:pPr>
            </a:p>
          </p:txBody>
        </p:sp>
      </p:grpSp>
      <p:grpSp>
        <p:nvGrpSpPr>
          <p:cNvPr name="Group 21" id="21"/>
          <p:cNvGrpSpPr/>
          <p:nvPr/>
        </p:nvGrpSpPr>
        <p:grpSpPr>
          <a:xfrm rot="0">
            <a:off x="2257890" y="9271213"/>
            <a:ext cx="626973" cy="62697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3" id="23"/>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24" id="24"/>
          <p:cNvGrpSpPr/>
          <p:nvPr/>
        </p:nvGrpSpPr>
        <p:grpSpPr>
          <a:xfrm rot="0">
            <a:off x="368456" y="350702"/>
            <a:ext cx="2202920" cy="2211457"/>
            <a:chOff x="0" y="0"/>
            <a:chExt cx="732060" cy="734897"/>
          </a:xfrm>
        </p:grpSpPr>
        <p:sp>
          <p:nvSpPr>
            <p:cNvPr name="Freeform 25" id="25"/>
            <p:cNvSpPr/>
            <p:nvPr/>
          </p:nvSpPr>
          <p:spPr>
            <a:xfrm flipH="false" flipV="false" rot="0">
              <a:off x="0" y="0"/>
              <a:ext cx="732060" cy="734897"/>
            </a:xfrm>
            <a:custGeom>
              <a:avLst/>
              <a:gdLst/>
              <a:ahLst/>
              <a:cxnLst/>
              <a:rect r="r" b="b" t="t" l="l"/>
              <a:pathLst>
                <a:path h="734897" w="732060">
                  <a:moveTo>
                    <a:pt x="366030" y="0"/>
                  </a:moveTo>
                  <a:cubicBezTo>
                    <a:pt x="163877" y="0"/>
                    <a:pt x="0" y="164512"/>
                    <a:pt x="0" y="367448"/>
                  </a:cubicBezTo>
                  <a:cubicBezTo>
                    <a:pt x="0" y="570384"/>
                    <a:pt x="163877" y="734897"/>
                    <a:pt x="366030" y="734897"/>
                  </a:cubicBezTo>
                  <a:cubicBezTo>
                    <a:pt x="568183" y="734897"/>
                    <a:pt x="732060" y="570384"/>
                    <a:pt x="732060" y="367448"/>
                  </a:cubicBezTo>
                  <a:cubicBezTo>
                    <a:pt x="732060" y="164512"/>
                    <a:pt x="568183" y="0"/>
                    <a:pt x="36603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6" id="26"/>
            <p:cNvSpPr txBox="true"/>
            <p:nvPr/>
          </p:nvSpPr>
          <p:spPr>
            <a:xfrm>
              <a:off x="68631" y="87947"/>
              <a:ext cx="594799" cy="578054"/>
            </a:xfrm>
            <a:prstGeom prst="rect">
              <a:avLst/>
            </a:prstGeom>
          </p:spPr>
          <p:txBody>
            <a:bodyPr anchor="ctr" rtlCol="false" tIns="50800" lIns="50800" bIns="50800" rIns="50800"/>
            <a:lstStyle/>
            <a:p>
              <a:pPr algn="ctr">
                <a:lnSpc>
                  <a:spcPts val="2859"/>
                </a:lnSpc>
              </a:pPr>
            </a:p>
          </p:txBody>
        </p:sp>
      </p:grpSp>
      <p:grpSp>
        <p:nvGrpSpPr>
          <p:cNvPr name="Group 27" id="27"/>
          <p:cNvGrpSpPr/>
          <p:nvPr/>
        </p:nvGrpSpPr>
        <p:grpSpPr>
          <a:xfrm rot="0">
            <a:off x="14884825" y="350702"/>
            <a:ext cx="519003" cy="51900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9" id="29"/>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30" id="30"/>
          <p:cNvGrpSpPr/>
          <p:nvPr/>
        </p:nvGrpSpPr>
        <p:grpSpPr>
          <a:xfrm rot="0">
            <a:off x="564961" y="577562"/>
            <a:ext cx="1809910" cy="1757737"/>
            <a:chOff x="0" y="0"/>
            <a:chExt cx="2413213" cy="2343649"/>
          </a:xfrm>
        </p:grpSpPr>
        <p:grpSp>
          <p:nvGrpSpPr>
            <p:cNvPr name="Group 31" id="31"/>
            <p:cNvGrpSpPr/>
            <p:nvPr/>
          </p:nvGrpSpPr>
          <p:grpSpPr>
            <a:xfrm rot="0">
              <a:off x="0" y="0"/>
              <a:ext cx="2413213" cy="2343649"/>
              <a:chOff x="0" y="0"/>
              <a:chExt cx="812800" cy="789370"/>
            </a:xfrm>
          </p:grpSpPr>
          <p:sp>
            <p:nvSpPr>
              <p:cNvPr name="Freeform 32" id="32"/>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33" id="33"/>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34" id="34"/>
            <p:cNvSpPr txBox="true"/>
            <p:nvPr/>
          </p:nvSpPr>
          <p:spPr>
            <a:xfrm rot="0">
              <a:off x="542298" y="543113"/>
              <a:ext cx="1328616" cy="1352672"/>
            </a:xfrm>
            <a:prstGeom prst="rect">
              <a:avLst/>
            </a:prstGeom>
          </p:spPr>
          <p:txBody>
            <a:bodyPr anchor="t" rtlCol="false" tIns="0" lIns="0" bIns="0" rIns="0">
              <a:spAutoFit/>
            </a:bodyPr>
            <a:lstStyle/>
            <a:p>
              <a:pPr algn="ctr" marL="0" indent="0" lvl="0">
                <a:lnSpc>
                  <a:spcPts val="7573"/>
                </a:lnSpc>
              </a:pPr>
              <a:r>
                <a:rPr lang="en-US" b="true" sz="7144" spc="264">
                  <a:solidFill>
                    <a:srgbClr val="000000"/>
                  </a:solidFill>
                  <a:latin typeface="Canva Sans Bold"/>
                  <a:ea typeface="Canva Sans Bold"/>
                  <a:cs typeface="Canva Sans Bold"/>
                  <a:sym typeface="Canva Sans Bold"/>
                </a:rPr>
                <a:t>4</a:t>
              </a:r>
            </a:p>
          </p:txBody>
        </p:sp>
      </p:grpSp>
      <p:grpSp>
        <p:nvGrpSpPr>
          <p:cNvPr name="Group 35" id="35"/>
          <p:cNvGrpSpPr/>
          <p:nvPr/>
        </p:nvGrpSpPr>
        <p:grpSpPr>
          <a:xfrm rot="0">
            <a:off x="209795" y="3095559"/>
            <a:ext cx="1114641" cy="1082510"/>
            <a:chOff x="0" y="0"/>
            <a:chExt cx="1486188" cy="1443347"/>
          </a:xfrm>
        </p:grpSpPr>
        <p:grpSp>
          <p:nvGrpSpPr>
            <p:cNvPr name="Group 36" id="36"/>
            <p:cNvGrpSpPr/>
            <p:nvPr/>
          </p:nvGrpSpPr>
          <p:grpSpPr>
            <a:xfrm rot="0">
              <a:off x="0" y="0"/>
              <a:ext cx="1486188" cy="1443347"/>
              <a:chOff x="0" y="0"/>
              <a:chExt cx="812800" cy="789370"/>
            </a:xfrm>
          </p:grpSpPr>
          <p:sp>
            <p:nvSpPr>
              <p:cNvPr name="Freeform 37" id="37"/>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38" id="38"/>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39" id="39"/>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5</a:t>
              </a:r>
            </a:p>
          </p:txBody>
        </p:sp>
      </p:grpSp>
      <p:grpSp>
        <p:nvGrpSpPr>
          <p:cNvPr name="Group 40" id="40"/>
          <p:cNvGrpSpPr/>
          <p:nvPr/>
        </p:nvGrpSpPr>
        <p:grpSpPr>
          <a:xfrm rot="0">
            <a:off x="209795" y="4619776"/>
            <a:ext cx="1114641" cy="1082510"/>
            <a:chOff x="0" y="0"/>
            <a:chExt cx="1486188" cy="1443347"/>
          </a:xfrm>
        </p:grpSpPr>
        <p:grpSp>
          <p:nvGrpSpPr>
            <p:cNvPr name="Group 41" id="41"/>
            <p:cNvGrpSpPr/>
            <p:nvPr/>
          </p:nvGrpSpPr>
          <p:grpSpPr>
            <a:xfrm rot="0">
              <a:off x="0" y="0"/>
              <a:ext cx="1486188" cy="1443347"/>
              <a:chOff x="0" y="0"/>
              <a:chExt cx="812800" cy="789370"/>
            </a:xfrm>
          </p:grpSpPr>
          <p:sp>
            <p:nvSpPr>
              <p:cNvPr name="Freeform 42" id="42"/>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43" id="43"/>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44" id="44"/>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6</a:t>
              </a:r>
            </a:p>
          </p:txBody>
        </p:sp>
      </p:grpSp>
      <p:grpSp>
        <p:nvGrpSpPr>
          <p:cNvPr name="Group 45" id="45"/>
          <p:cNvGrpSpPr/>
          <p:nvPr/>
        </p:nvGrpSpPr>
        <p:grpSpPr>
          <a:xfrm rot="0">
            <a:off x="208930" y="6140436"/>
            <a:ext cx="1114641" cy="1082510"/>
            <a:chOff x="0" y="0"/>
            <a:chExt cx="1486188" cy="1443347"/>
          </a:xfrm>
        </p:grpSpPr>
        <p:grpSp>
          <p:nvGrpSpPr>
            <p:cNvPr name="Group 46" id="46"/>
            <p:cNvGrpSpPr/>
            <p:nvPr/>
          </p:nvGrpSpPr>
          <p:grpSpPr>
            <a:xfrm rot="0">
              <a:off x="0" y="0"/>
              <a:ext cx="1486188" cy="1443347"/>
              <a:chOff x="0" y="0"/>
              <a:chExt cx="812800" cy="789370"/>
            </a:xfrm>
          </p:grpSpPr>
          <p:sp>
            <p:nvSpPr>
              <p:cNvPr name="Freeform 47" id="47"/>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48" id="48"/>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49" id="49"/>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7</a:t>
              </a:r>
            </a:p>
          </p:txBody>
        </p:sp>
      </p:grpSp>
      <p:grpSp>
        <p:nvGrpSpPr>
          <p:cNvPr name="Group 50" id="50"/>
          <p:cNvGrpSpPr/>
          <p:nvPr/>
        </p:nvGrpSpPr>
        <p:grpSpPr>
          <a:xfrm rot="0">
            <a:off x="15397573" y="9325198"/>
            <a:ext cx="519003" cy="519003"/>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52" id="52"/>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sp>
        <p:nvSpPr>
          <p:cNvPr name="TextBox 53" id="53"/>
          <p:cNvSpPr txBox="true"/>
          <p:nvPr/>
        </p:nvSpPr>
        <p:spPr>
          <a:xfrm rot="0">
            <a:off x="3259482" y="1217861"/>
            <a:ext cx="9983198" cy="524764"/>
          </a:xfrm>
          <a:prstGeom prst="rect">
            <a:avLst/>
          </a:prstGeom>
        </p:spPr>
        <p:txBody>
          <a:bodyPr anchor="t" rtlCol="false" tIns="0" lIns="0" bIns="0" rIns="0">
            <a:spAutoFit/>
          </a:bodyPr>
          <a:lstStyle/>
          <a:p>
            <a:pPr algn="l">
              <a:lnSpc>
                <a:spcPts val="4028"/>
              </a:lnSpc>
              <a:spcBef>
                <a:spcPct val="0"/>
              </a:spcBef>
            </a:pPr>
            <a:r>
              <a:rPr lang="en-US" b="true" sz="3800" i="true" spc="140" u="sng">
                <a:solidFill>
                  <a:srgbClr val="000000"/>
                </a:solidFill>
                <a:latin typeface="Canva Sans Bold Italics"/>
                <a:ea typeface="Canva Sans Bold Italics"/>
                <a:cs typeface="Canva Sans Bold Italics"/>
                <a:sym typeface="Canva Sans Bold Italics"/>
              </a:rPr>
              <a:t>H</a:t>
            </a:r>
            <a:r>
              <a:rPr lang="en-US" b="true" sz="3800" i="true" spc="140" u="sng">
                <a:solidFill>
                  <a:srgbClr val="000000"/>
                </a:solidFill>
                <a:latin typeface="Canva Sans Bold Italics"/>
                <a:ea typeface="Canva Sans Bold Italics"/>
                <a:cs typeface="Canva Sans Bold Italics"/>
                <a:sym typeface="Canva Sans Bold Italics"/>
              </a:rPr>
              <a:t>ow to Spot a Phishing Email</a:t>
            </a:r>
          </a:p>
        </p:txBody>
      </p:sp>
      <p:sp>
        <p:nvSpPr>
          <p:cNvPr name="TextBox 54" id="54"/>
          <p:cNvSpPr txBox="true"/>
          <p:nvPr/>
        </p:nvSpPr>
        <p:spPr>
          <a:xfrm rot="0">
            <a:off x="3306985" y="2266950"/>
            <a:ext cx="7293005" cy="5004435"/>
          </a:xfrm>
          <a:prstGeom prst="rect">
            <a:avLst/>
          </a:prstGeom>
        </p:spPr>
        <p:txBody>
          <a:bodyPr anchor="t" rtlCol="false" tIns="0" lIns="0" bIns="0" rIns="0">
            <a:spAutoFit/>
          </a:bodyPr>
          <a:lstStyle/>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Ch</a:t>
            </a:r>
            <a:r>
              <a:rPr lang="en-US" sz="2400" spc="-48">
                <a:solidFill>
                  <a:srgbClr val="1E1E1E"/>
                </a:solidFill>
                <a:latin typeface="Canva Sans"/>
                <a:ea typeface="Canva Sans"/>
                <a:cs typeface="Canva Sans"/>
                <a:sym typeface="Canva Sans"/>
              </a:rPr>
              <a:t>eck the sender address c</a:t>
            </a:r>
            <a:r>
              <a:rPr lang="en-US" sz="2400" spc="-48">
                <a:solidFill>
                  <a:srgbClr val="1E1E1E"/>
                </a:solidFill>
                <a:latin typeface="Canva Sans"/>
                <a:ea typeface="Canva Sans"/>
                <a:cs typeface="Canva Sans"/>
                <a:sym typeface="Canva Sans"/>
              </a:rPr>
              <a:t>arefully; look</a:t>
            </a:r>
            <a:r>
              <a:rPr lang="en-US" sz="2400" spc="-48">
                <a:solidFill>
                  <a:srgbClr val="1E1E1E"/>
                </a:solidFill>
                <a:latin typeface="Canva Sans"/>
                <a:ea typeface="Canva Sans"/>
                <a:cs typeface="Canva Sans"/>
                <a:sym typeface="Canva Sans"/>
              </a:rPr>
              <a:t> </a:t>
            </a:r>
            <a:r>
              <a:rPr lang="en-US" sz="2400" spc="-48">
                <a:solidFill>
                  <a:srgbClr val="1E1E1E"/>
                </a:solidFill>
                <a:latin typeface="Canva Sans"/>
                <a:ea typeface="Canva Sans"/>
                <a:cs typeface="Canva Sans"/>
                <a:sym typeface="Canva Sans"/>
              </a:rPr>
              <a:t>f</a:t>
            </a:r>
            <a:r>
              <a:rPr lang="en-US" sz="2400" spc="-48">
                <a:solidFill>
                  <a:srgbClr val="1E1E1E"/>
                </a:solidFill>
                <a:latin typeface="Canva Sans"/>
                <a:ea typeface="Canva Sans"/>
                <a:cs typeface="Canva Sans"/>
                <a:sym typeface="Canva Sans"/>
              </a:rPr>
              <a:t>o</a:t>
            </a:r>
            <a:r>
              <a:rPr lang="en-US" sz="2400" spc="-48">
                <a:solidFill>
                  <a:srgbClr val="1E1E1E"/>
                </a:solidFill>
                <a:latin typeface="Canva Sans"/>
                <a:ea typeface="Canva Sans"/>
                <a:cs typeface="Canva Sans"/>
                <a:sym typeface="Canva Sans"/>
              </a:rPr>
              <a:t>r look-alike domains or unexpected addresses.</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Be suspicious of urgent requests for passwords, payments, codes, or sensitive information.</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Hover over links and verify the real destinatio</a:t>
            </a:r>
            <a:r>
              <a:rPr lang="en-US" sz="2400" spc="-48">
                <a:solidFill>
                  <a:srgbClr val="1E1E1E"/>
                </a:solidFill>
                <a:latin typeface="Canva Sans"/>
                <a:ea typeface="Canva Sans"/>
                <a:cs typeface="Canva Sans"/>
                <a:sym typeface="Canva Sans"/>
              </a:rPr>
              <a:t>n</a:t>
            </a:r>
            <a:r>
              <a:rPr lang="en-US" sz="2400" spc="-48">
                <a:solidFill>
                  <a:srgbClr val="1E1E1E"/>
                </a:solidFill>
                <a:latin typeface="Canva Sans"/>
                <a:ea typeface="Canva Sans"/>
                <a:cs typeface="Canva Sans"/>
                <a:sym typeface="Canva Sans"/>
              </a:rPr>
              <a:t> before cl</a:t>
            </a:r>
            <a:r>
              <a:rPr lang="en-US" sz="2400" spc="-48">
                <a:solidFill>
                  <a:srgbClr val="1E1E1E"/>
                </a:solidFill>
                <a:latin typeface="Canva Sans"/>
                <a:ea typeface="Canva Sans"/>
                <a:cs typeface="Canva Sans"/>
                <a:sym typeface="Canva Sans"/>
              </a:rPr>
              <a:t>ickin</a:t>
            </a:r>
            <a:r>
              <a:rPr lang="en-US" sz="2400" spc="-48">
                <a:solidFill>
                  <a:srgbClr val="1E1E1E"/>
                </a:solidFill>
                <a:latin typeface="Canva Sans"/>
                <a:ea typeface="Canva Sans"/>
                <a:cs typeface="Canva Sans"/>
                <a:sym typeface="Canva Sans"/>
              </a:rPr>
              <a:t>g.</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Watch f</a:t>
            </a:r>
            <a:r>
              <a:rPr lang="en-US" sz="2400" spc="-48">
                <a:solidFill>
                  <a:srgbClr val="1E1E1E"/>
                </a:solidFill>
                <a:latin typeface="Canva Sans"/>
                <a:ea typeface="Canva Sans"/>
                <a:cs typeface="Canva Sans"/>
                <a:sym typeface="Canva Sans"/>
              </a:rPr>
              <a:t>or </a:t>
            </a:r>
            <a:r>
              <a:rPr lang="en-US" sz="2400" spc="-48">
                <a:solidFill>
                  <a:srgbClr val="1E1E1E"/>
                </a:solidFill>
                <a:latin typeface="Canva Sans"/>
                <a:ea typeface="Canva Sans"/>
                <a:cs typeface="Canva Sans"/>
                <a:sym typeface="Canva Sans"/>
              </a:rPr>
              <a:t>unexpected attachments, spelling/layout problems, generic greetings, or unusual requests.</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Verify important requests through a separate, trusted communication channel.</a:t>
            </a:r>
          </a:p>
        </p:txBody>
      </p:sp>
      <p:grpSp>
        <p:nvGrpSpPr>
          <p:cNvPr name="Group 55" id="55"/>
          <p:cNvGrpSpPr/>
          <p:nvPr/>
        </p:nvGrpSpPr>
        <p:grpSpPr>
          <a:xfrm rot="0">
            <a:off x="11739149" y="1583660"/>
            <a:ext cx="3803293" cy="6533732"/>
            <a:chOff x="0" y="0"/>
            <a:chExt cx="5071058" cy="8711643"/>
          </a:xfrm>
        </p:grpSpPr>
        <p:pic>
          <p:nvPicPr>
            <p:cNvPr name="Picture 56" id="56"/>
            <p:cNvPicPr>
              <a:picLocks noChangeAspect="true"/>
            </p:cNvPicPr>
            <p:nvPr/>
          </p:nvPicPr>
          <p:blipFill>
            <a:blip r:embed="rId2"/>
            <a:srcRect l="0" t="1378" r="0" b="2659"/>
            <a:stretch>
              <a:fillRect/>
            </a:stretch>
          </p:blipFill>
          <p:spPr>
            <a:xfrm flipH="false" flipV="false">
              <a:off x="0" y="0"/>
              <a:ext cx="5071058" cy="8711643"/>
            </a:xfrm>
            <a:prstGeom prst="rect">
              <a:avLst/>
            </a:prstGeom>
          </p:spPr>
        </p:pic>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CF5FE">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0" y="9565"/>
            <a:ext cx="18288000" cy="10277435"/>
            <a:chOff x="0" y="0"/>
            <a:chExt cx="24384000" cy="13703246"/>
          </a:xfrm>
        </p:grpSpPr>
        <p:grpSp>
          <p:nvGrpSpPr>
            <p:cNvPr name="Group 3" id="3"/>
            <p:cNvGrpSpPr/>
            <p:nvPr/>
          </p:nvGrpSpPr>
          <p:grpSpPr>
            <a:xfrm rot="0">
              <a:off x="0" y="0"/>
              <a:ext cx="24384000" cy="13703246"/>
              <a:chOff x="0" y="0"/>
              <a:chExt cx="4596479" cy="2583115"/>
            </a:xfrm>
          </p:grpSpPr>
          <p:sp>
            <p:nvSpPr>
              <p:cNvPr name="Freeform 4" id="4"/>
              <p:cNvSpPr/>
              <p:nvPr/>
            </p:nvSpPr>
            <p:spPr>
              <a:xfrm flipH="false" flipV="false" rot="0">
                <a:off x="0" y="0"/>
                <a:ext cx="4596479" cy="2583115"/>
              </a:xfrm>
              <a:custGeom>
                <a:avLst/>
                <a:gdLst/>
                <a:ahLst/>
                <a:cxnLst/>
                <a:rect r="r" b="b" t="t" l="l"/>
                <a:pathLst>
                  <a:path h="2583115" w="4596479">
                    <a:moveTo>
                      <a:pt x="4517061" y="0"/>
                    </a:moveTo>
                    <a:lnTo>
                      <a:pt x="79418" y="0"/>
                    </a:lnTo>
                    <a:cubicBezTo>
                      <a:pt x="79418" y="43699"/>
                      <a:pt x="44079" y="79418"/>
                      <a:pt x="0" y="79418"/>
                    </a:cubicBezTo>
                    <a:lnTo>
                      <a:pt x="0" y="2503697"/>
                    </a:lnTo>
                    <a:cubicBezTo>
                      <a:pt x="43699" y="2503697"/>
                      <a:pt x="79418" y="2539036"/>
                      <a:pt x="79418" y="2583115"/>
                    </a:cubicBezTo>
                    <a:lnTo>
                      <a:pt x="4517061" y="2583115"/>
                    </a:lnTo>
                    <a:cubicBezTo>
                      <a:pt x="4517061" y="2539416"/>
                      <a:pt x="4552400" y="2503697"/>
                      <a:pt x="4596479" y="2503697"/>
                    </a:cubicBezTo>
                    <a:lnTo>
                      <a:pt x="4596479" y="79418"/>
                    </a:lnTo>
                    <a:cubicBezTo>
                      <a:pt x="4552780" y="79418"/>
                      <a:pt x="4517061" y="44079"/>
                      <a:pt x="4517061" y="0"/>
                    </a:cubicBezTo>
                    <a:close/>
                  </a:path>
                </a:pathLst>
              </a:custGeom>
              <a:ln w="9525" cap="sq">
                <a:solidFill>
                  <a:srgbClr val="C29C84"/>
                </a:solidFill>
                <a:prstDash val="solid"/>
                <a:miter/>
              </a:ln>
            </p:spPr>
          </p:sp>
          <p:sp>
            <p:nvSpPr>
              <p:cNvPr name="TextBox 5" id="5"/>
              <p:cNvSpPr txBox="true"/>
              <p:nvPr/>
            </p:nvSpPr>
            <p:spPr>
              <a:xfrm>
                <a:off x="38100" y="-9525"/>
                <a:ext cx="4520279" cy="2554540"/>
              </a:xfrm>
              <a:prstGeom prst="rect">
                <a:avLst/>
              </a:prstGeom>
            </p:spPr>
            <p:txBody>
              <a:bodyPr anchor="ctr" rtlCol="false" tIns="50800" lIns="50800" bIns="50800" rIns="50800"/>
              <a:lstStyle/>
              <a:p>
                <a:pPr algn="ctr">
                  <a:lnSpc>
                    <a:spcPts val="2660"/>
                  </a:lnSpc>
                </a:pPr>
              </a:p>
            </p:txBody>
          </p:sp>
        </p:grpSp>
        <p:grpSp>
          <p:nvGrpSpPr>
            <p:cNvPr name="Group 6" id="6"/>
            <p:cNvGrpSpPr/>
            <p:nvPr/>
          </p:nvGrpSpPr>
          <p:grpSpPr>
            <a:xfrm rot="0">
              <a:off x="178937" y="207890"/>
              <a:ext cx="23995525" cy="13287466"/>
              <a:chOff x="0" y="0"/>
              <a:chExt cx="4596479" cy="2545290"/>
            </a:xfrm>
          </p:grpSpPr>
          <p:sp>
            <p:nvSpPr>
              <p:cNvPr name="Freeform 7" id="7"/>
              <p:cNvSpPr/>
              <p:nvPr/>
            </p:nvSpPr>
            <p:spPr>
              <a:xfrm flipH="false" flipV="false" rot="0">
                <a:off x="0" y="0"/>
                <a:ext cx="4596479" cy="2545290"/>
              </a:xfrm>
              <a:custGeom>
                <a:avLst/>
                <a:gdLst/>
                <a:ahLst/>
                <a:cxnLst/>
                <a:rect r="r" b="b" t="t" l="l"/>
                <a:pathLst>
                  <a:path h="2545290" w="4596479">
                    <a:moveTo>
                      <a:pt x="4517061" y="0"/>
                    </a:moveTo>
                    <a:lnTo>
                      <a:pt x="79418" y="0"/>
                    </a:lnTo>
                    <a:cubicBezTo>
                      <a:pt x="79418" y="43699"/>
                      <a:pt x="44079" y="79418"/>
                      <a:pt x="0" y="79418"/>
                    </a:cubicBezTo>
                    <a:lnTo>
                      <a:pt x="0" y="2465872"/>
                    </a:lnTo>
                    <a:cubicBezTo>
                      <a:pt x="43699" y="2465872"/>
                      <a:pt x="79418" y="2501211"/>
                      <a:pt x="79418" y="2545290"/>
                    </a:cubicBezTo>
                    <a:lnTo>
                      <a:pt x="4517061" y="2545290"/>
                    </a:lnTo>
                    <a:cubicBezTo>
                      <a:pt x="4517061" y="2501590"/>
                      <a:pt x="4552400" y="2465872"/>
                      <a:pt x="4596479" y="2465872"/>
                    </a:cubicBezTo>
                    <a:lnTo>
                      <a:pt x="4596479" y="79418"/>
                    </a:lnTo>
                    <a:cubicBezTo>
                      <a:pt x="4552780" y="79418"/>
                      <a:pt x="4517061" y="44079"/>
                      <a:pt x="4517061" y="0"/>
                    </a:cubicBezTo>
                    <a:close/>
                  </a:path>
                </a:pathLst>
              </a:custGeom>
              <a:solidFill>
                <a:srgbClr val="F8F2EC"/>
              </a:solidFill>
              <a:ln w="9525" cap="sq">
                <a:solidFill>
                  <a:srgbClr val="C29C84"/>
                </a:solidFill>
                <a:prstDash val="solid"/>
                <a:miter/>
              </a:ln>
            </p:spPr>
          </p:sp>
          <p:sp>
            <p:nvSpPr>
              <p:cNvPr name="TextBox 8" id="8"/>
              <p:cNvSpPr txBox="true"/>
              <p:nvPr/>
            </p:nvSpPr>
            <p:spPr>
              <a:xfrm>
                <a:off x="38100" y="-9525"/>
                <a:ext cx="4520279" cy="2516715"/>
              </a:xfrm>
              <a:prstGeom prst="rect">
                <a:avLst/>
              </a:prstGeom>
            </p:spPr>
            <p:txBody>
              <a:bodyPr anchor="ctr" rtlCol="false" tIns="50800" lIns="50800" bIns="50800" rIns="50800"/>
              <a:lstStyle/>
              <a:p>
                <a:pPr algn="ctr">
                  <a:lnSpc>
                    <a:spcPts val="2660"/>
                  </a:lnSpc>
                </a:pPr>
              </a:p>
            </p:txBody>
          </p:sp>
        </p:grpSp>
      </p:grpSp>
      <p:grpSp>
        <p:nvGrpSpPr>
          <p:cNvPr name="Group 9" id="9"/>
          <p:cNvGrpSpPr/>
          <p:nvPr/>
        </p:nvGrpSpPr>
        <p:grpSpPr>
          <a:xfrm rot="0">
            <a:off x="1288202" y="677425"/>
            <a:ext cx="16405157" cy="9053461"/>
            <a:chOff x="0" y="0"/>
            <a:chExt cx="4320700" cy="2384451"/>
          </a:xfrm>
        </p:grpSpPr>
        <p:sp>
          <p:nvSpPr>
            <p:cNvPr name="Freeform 10" id="10"/>
            <p:cNvSpPr/>
            <p:nvPr/>
          </p:nvSpPr>
          <p:spPr>
            <a:xfrm flipH="false" flipV="false" rot="0">
              <a:off x="0" y="0"/>
              <a:ext cx="4320700" cy="2384451"/>
            </a:xfrm>
            <a:custGeom>
              <a:avLst/>
              <a:gdLst/>
              <a:ahLst/>
              <a:cxnLst/>
              <a:rect r="r" b="b" t="t" l="l"/>
              <a:pathLst>
                <a:path h="2384451" w="4320700">
                  <a:moveTo>
                    <a:pt x="24068" y="0"/>
                  </a:moveTo>
                  <a:lnTo>
                    <a:pt x="4296632" y="0"/>
                  </a:lnTo>
                  <a:cubicBezTo>
                    <a:pt x="4309924" y="0"/>
                    <a:pt x="4320700" y="10776"/>
                    <a:pt x="4320700" y="24068"/>
                  </a:cubicBezTo>
                  <a:lnTo>
                    <a:pt x="4320700" y="2360383"/>
                  </a:lnTo>
                  <a:cubicBezTo>
                    <a:pt x="4320700" y="2373675"/>
                    <a:pt x="4309924" y="2384451"/>
                    <a:pt x="4296632" y="2384451"/>
                  </a:cubicBezTo>
                  <a:lnTo>
                    <a:pt x="24068" y="2384451"/>
                  </a:lnTo>
                  <a:cubicBezTo>
                    <a:pt x="10776" y="2384451"/>
                    <a:pt x="0" y="2373675"/>
                    <a:pt x="0" y="2360383"/>
                  </a:cubicBezTo>
                  <a:lnTo>
                    <a:pt x="0" y="24068"/>
                  </a:lnTo>
                  <a:cubicBezTo>
                    <a:pt x="0" y="10776"/>
                    <a:pt x="10776" y="0"/>
                    <a:pt x="24068"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a:ln w="19050" cap="rnd">
              <a:solidFill>
                <a:srgbClr val="000000"/>
              </a:solidFill>
              <a:prstDash val="solid"/>
              <a:round/>
            </a:ln>
          </p:spPr>
        </p:sp>
        <p:sp>
          <p:nvSpPr>
            <p:cNvPr name="TextBox 11" id="11"/>
            <p:cNvSpPr txBox="true"/>
            <p:nvPr/>
          </p:nvSpPr>
          <p:spPr>
            <a:xfrm>
              <a:off x="0" y="47625"/>
              <a:ext cx="4320700" cy="2336826"/>
            </a:xfrm>
            <a:prstGeom prst="rect">
              <a:avLst/>
            </a:prstGeom>
          </p:spPr>
          <p:txBody>
            <a:bodyPr anchor="ctr" rtlCol="false" tIns="50800" lIns="50800" bIns="50800" rIns="50800"/>
            <a:lstStyle/>
            <a:p>
              <a:pPr algn="ctr">
                <a:lnSpc>
                  <a:spcPts val="1620"/>
                </a:lnSpc>
              </a:pPr>
            </a:p>
          </p:txBody>
        </p:sp>
      </p:grpSp>
      <p:grpSp>
        <p:nvGrpSpPr>
          <p:cNvPr name="Group 12" id="12"/>
          <p:cNvGrpSpPr/>
          <p:nvPr/>
        </p:nvGrpSpPr>
        <p:grpSpPr>
          <a:xfrm rot="0">
            <a:off x="16976660" y="7256592"/>
            <a:ext cx="1172229" cy="117222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14" id="14"/>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15" id="15"/>
          <p:cNvGrpSpPr/>
          <p:nvPr/>
        </p:nvGrpSpPr>
        <p:grpSpPr>
          <a:xfrm rot="0">
            <a:off x="15976646" y="155750"/>
            <a:ext cx="1427910" cy="142791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17" id="1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8" id="18"/>
          <p:cNvGrpSpPr/>
          <p:nvPr/>
        </p:nvGrpSpPr>
        <p:grpSpPr>
          <a:xfrm rot="-5400000">
            <a:off x="-4408542" y="4408542"/>
            <a:ext cx="10287000" cy="1469916"/>
            <a:chOff x="0" y="0"/>
            <a:chExt cx="2709333" cy="387138"/>
          </a:xfrm>
        </p:grpSpPr>
        <p:sp>
          <p:nvSpPr>
            <p:cNvPr name="Freeform 19" id="19"/>
            <p:cNvSpPr/>
            <p:nvPr/>
          </p:nvSpPr>
          <p:spPr>
            <a:xfrm flipH="false" flipV="false" rot="0">
              <a:off x="0" y="0"/>
              <a:ext cx="2709333" cy="387138"/>
            </a:xfrm>
            <a:custGeom>
              <a:avLst/>
              <a:gdLst/>
              <a:ahLst/>
              <a:cxnLst/>
              <a:rect r="r" b="b" t="t" l="l"/>
              <a:pathLst>
                <a:path h="387138" w="2709333">
                  <a:moveTo>
                    <a:pt x="75259" y="0"/>
                  </a:moveTo>
                  <a:lnTo>
                    <a:pt x="2634074" y="0"/>
                  </a:lnTo>
                  <a:cubicBezTo>
                    <a:pt x="2675639" y="0"/>
                    <a:pt x="2709333" y="33695"/>
                    <a:pt x="2709333" y="75259"/>
                  </a:cubicBezTo>
                  <a:lnTo>
                    <a:pt x="2709333" y="311879"/>
                  </a:lnTo>
                  <a:cubicBezTo>
                    <a:pt x="2709333" y="353444"/>
                    <a:pt x="2675639" y="387138"/>
                    <a:pt x="2634074" y="387138"/>
                  </a:cubicBezTo>
                  <a:lnTo>
                    <a:pt x="75259" y="387138"/>
                  </a:lnTo>
                  <a:cubicBezTo>
                    <a:pt x="33695" y="387138"/>
                    <a:pt x="0" y="353444"/>
                    <a:pt x="0" y="311879"/>
                  </a:cubicBezTo>
                  <a:lnTo>
                    <a:pt x="0" y="75259"/>
                  </a:lnTo>
                  <a:cubicBezTo>
                    <a:pt x="0" y="33695"/>
                    <a:pt x="33695" y="0"/>
                    <a:pt x="75259"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0" id="20"/>
            <p:cNvSpPr txBox="true"/>
            <p:nvPr/>
          </p:nvSpPr>
          <p:spPr>
            <a:xfrm>
              <a:off x="0" y="-38100"/>
              <a:ext cx="2709333" cy="425238"/>
            </a:xfrm>
            <a:prstGeom prst="rect">
              <a:avLst/>
            </a:prstGeom>
          </p:spPr>
          <p:txBody>
            <a:bodyPr anchor="ctr" rtlCol="false" tIns="50800" lIns="50800" bIns="50800" rIns="50800"/>
            <a:lstStyle/>
            <a:p>
              <a:pPr algn="ctr" marL="0" indent="0" lvl="0">
                <a:lnSpc>
                  <a:spcPts val="2659"/>
                </a:lnSpc>
              </a:pPr>
            </a:p>
          </p:txBody>
        </p:sp>
      </p:grpSp>
      <p:grpSp>
        <p:nvGrpSpPr>
          <p:cNvPr name="Group 21" id="21"/>
          <p:cNvGrpSpPr/>
          <p:nvPr/>
        </p:nvGrpSpPr>
        <p:grpSpPr>
          <a:xfrm rot="0">
            <a:off x="2257890" y="9271213"/>
            <a:ext cx="626973" cy="62697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3" id="23"/>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24" id="24"/>
          <p:cNvGrpSpPr/>
          <p:nvPr/>
        </p:nvGrpSpPr>
        <p:grpSpPr>
          <a:xfrm rot="0">
            <a:off x="368456" y="350702"/>
            <a:ext cx="2202920" cy="2211457"/>
            <a:chOff x="0" y="0"/>
            <a:chExt cx="732060" cy="734897"/>
          </a:xfrm>
        </p:grpSpPr>
        <p:sp>
          <p:nvSpPr>
            <p:cNvPr name="Freeform 25" id="25"/>
            <p:cNvSpPr/>
            <p:nvPr/>
          </p:nvSpPr>
          <p:spPr>
            <a:xfrm flipH="false" flipV="false" rot="0">
              <a:off x="0" y="0"/>
              <a:ext cx="732060" cy="734897"/>
            </a:xfrm>
            <a:custGeom>
              <a:avLst/>
              <a:gdLst/>
              <a:ahLst/>
              <a:cxnLst/>
              <a:rect r="r" b="b" t="t" l="l"/>
              <a:pathLst>
                <a:path h="734897" w="732060">
                  <a:moveTo>
                    <a:pt x="366030" y="0"/>
                  </a:moveTo>
                  <a:cubicBezTo>
                    <a:pt x="163877" y="0"/>
                    <a:pt x="0" y="164512"/>
                    <a:pt x="0" y="367448"/>
                  </a:cubicBezTo>
                  <a:cubicBezTo>
                    <a:pt x="0" y="570384"/>
                    <a:pt x="163877" y="734897"/>
                    <a:pt x="366030" y="734897"/>
                  </a:cubicBezTo>
                  <a:cubicBezTo>
                    <a:pt x="568183" y="734897"/>
                    <a:pt x="732060" y="570384"/>
                    <a:pt x="732060" y="367448"/>
                  </a:cubicBezTo>
                  <a:cubicBezTo>
                    <a:pt x="732060" y="164512"/>
                    <a:pt x="568183" y="0"/>
                    <a:pt x="36603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6" id="26"/>
            <p:cNvSpPr txBox="true"/>
            <p:nvPr/>
          </p:nvSpPr>
          <p:spPr>
            <a:xfrm>
              <a:off x="68631" y="87947"/>
              <a:ext cx="594799" cy="578054"/>
            </a:xfrm>
            <a:prstGeom prst="rect">
              <a:avLst/>
            </a:prstGeom>
          </p:spPr>
          <p:txBody>
            <a:bodyPr anchor="ctr" rtlCol="false" tIns="50800" lIns="50800" bIns="50800" rIns="50800"/>
            <a:lstStyle/>
            <a:p>
              <a:pPr algn="ctr">
                <a:lnSpc>
                  <a:spcPts val="2859"/>
                </a:lnSpc>
              </a:pPr>
            </a:p>
          </p:txBody>
        </p:sp>
      </p:grpSp>
      <p:grpSp>
        <p:nvGrpSpPr>
          <p:cNvPr name="Group 27" id="27"/>
          <p:cNvGrpSpPr/>
          <p:nvPr/>
        </p:nvGrpSpPr>
        <p:grpSpPr>
          <a:xfrm rot="0">
            <a:off x="14884825" y="350702"/>
            <a:ext cx="519003" cy="51900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9" id="29"/>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30" id="30"/>
          <p:cNvGrpSpPr/>
          <p:nvPr/>
        </p:nvGrpSpPr>
        <p:grpSpPr>
          <a:xfrm rot="0">
            <a:off x="564961" y="577562"/>
            <a:ext cx="1809910" cy="1757737"/>
            <a:chOff x="0" y="0"/>
            <a:chExt cx="2413213" cy="2343649"/>
          </a:xfrm>
        </p:grpSpPr>
        <p:grpSp>
          <p:nvGrpSpPr>
            <p:cNvPr name="Group 31" id="31"/>
            <p:cNvGrpSpPr/>
            <p:nvPr/>
          </p:nvGrpSpPr>
          <p:grpSpPr>
            <a:xfrm rot="0">
              <a:off x="0" y="0"/>
              <a:ext cx="2413213" cy="2343649"/>
              <a:chOff x="0" y="0"/>
              <a:chExt cx="812800" cy="789370"/>
            </a:xfrm>
          </p:grpSpPr>
          <p:sp>
            <p:nvSpPr>
              <p:cNvPr name="Freeform 32" id="32"/>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33" id="33"/>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34" id="34"/>
            <p:cNvSpPr txBox="true"/>
            <p:nvPr/>
          </p:nvSpPr>
          <p:spPr>
            <a:xfrm rot="0">
              <a:off x="542298" y="543113"/>
              <a:ext cx="1328616" cy="1352672"/>
            </a:xfrm>
            <a:prstGeom prst="rect">
              <a:avLst/>
            </a:prstGeom>
          </p:spPr>
          <p:txBody>
            <a:bodyPr anchor="t" rtlCol="false" tIns="0" lIns="0" bIns="0" rIns="0">
              <a:spAutoFit/>
            </a:bodyPr>
            <a:lstStyle/>
            <a:p>
              <a:pPr algn="ctr" marL="0" indent="0" lvl="0">
                <a:lnSpc>
                  <a:spcPts val="7573"/>
                </a:lnSpc>
              </a:pPr>
              <a:r>
                <a:rPr lang="en-US" b="true" sz="7144" spc="264">
                  <a:solidFill>
                    <a:srgbClr val="000000"/>
                  </a:solidFill>
                  <a:latin typeface="Canva Sans Bold"/>
                  <a:ea typeface="Canva Sans Bold"/>
                  <a:cs typeface="Canva Sans Bold"/>
                  <a:sym typeface="Canva Sans Bold"/>
                </a:rPr>
                <a:t>5</a:t>
              </a:r>
            </a:p>
          </p:txBody>
        </p:sp>
      </p:grpSp>
      <p:grpSp>
        <p:nvGrpSpPr>
          <p:cNvPr name="Group 35" id="35"/>
          <p:cNvGrpSpPr/>
          <p:nvPr/>
        </p:nvGrpSpPr>
        <p:grpSpPr>
          <a:xfrm rot="0">
            <a:off x="209795" y="3095559"/>
            <a:ext cx="1114641" cy="1082510"/>
            <a:chOff x="0" y="0"/>
            <a:chExt cx="1486188" cy="1443347"/>
          </a:xfrm>
        </p:grpSpPr>
        <p:grpSp>
          <p:nvGrpSpPr>
            <p:cNvPr name="Group 36" id="36"/>
            <p:cNvGrpSpPr/>
            <p:nvPr/>
          </p:nvGrpSpPr>
          <p:grpSpPr>
            <a:xfrm rot="0">
              <a:off x="0" y="0"/>
              <a:ext cx="1486188" cy="1443347"/>
              <a:chOff x="0" y="0"/>
              <a:chExt cx="812800" cy="789370"/>
            </a:xfrm>
          </p:grpSpPr>
          <p:sp>
            <p:nvSpPr>
              <p:cNvPr name="Freeform 37" id="37"/>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38" id="38"/>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39" id="39"/>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6</a:t>
              </a:r>
            </a:p>
          </p:txBody>
        </p:sp>
      </p:grpSp>
      <p:grpSp>
        <p:nvGrpSpPr>
          <p:cNvPr name="Group 40" id="40"/>
          <p:cNvGrpSpPr/>
          <p:nvPr/>
        </p:nvGrpSpPr>
        <p:grpSpPr>
          <a:xfrm rot="0">
            <a:off x="209795" y="4619776"/>
            <a:ext cx="1114641" cy="1082510"/>
            <a:chOff x="0" y="0"/>
            <a:chExt cx="1486188" cy="1443347"/>
          </a:xfrm>
        </p:grpSpPr>
        <p:grpSp>
          <p:nvGrpSpPr>
            <p:cNvPr name="Group 41" id="41"/>
            <p:cNvGrpSpPr/>
            <p:nvPr/>
          </p:nvGrpSpPr>
          <p:grpSpPr>
            <a:xfrm rot="0">
              <a:off x="0" y="0"/>
              <a:ext cx="1486188" cy="1443347"/>
              <a:chOff x="0" y="0"/>
              <a:chExt cx="812800" cy="789370"/>
            </a:xfrm>
          </p:grpSpPr>
          <p:sp>
            <p:nvSpPr>
              <p:cNvPr name="Freeform 42" id="42"/>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43" id="43"/>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44" id="44"/>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7</a:t>
              </a:r>
            </a:p>
          </p:txBody>
        </p:sp>
      </p:grpSp>
      <p:grpSp>
        <p:nvGrpSpPr>
          <p:cNvPr name="Group 45" id="45"/>
          <p:cNvGrpSpPr/>
          <p:nvPr/>
        </p:nvGrpSpPr>
        <p:grpSpPr>
          <a:xfrm rot="0">
            <a:off x="15397573" y="9325198"/>
            <a:ext cx="519003" cy="519003"/>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47" id="47"/>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sp>
        <p:nvSpPr>
          <p:cNvPr name="TextBox 48" id="48"/>
          <p:cNvSpPr txBox="true"/>
          <p:nvPr/>
        </p:nvSpPr>
        <p:spPr>
          <a:xfrm rot="0">
            <a:off x="2884863" y="1217861"/>
            <a:ext cx="9983198" cy="524764"/>
          </a:xfrm>
          <a:prstGeom prst="rect">
            <a:avLst/>
          </a:prstGeom>
        </p:spPr>
        <p:txBody>
          <a:bodyPr anchor="t" rtlCol="false" tIns="0" lIns="0" bIns="0" rIns="0">
            <a:spAutoFit/>
          </a:bodyPr>
          <a:lstStyle/>
          <a:p>
            <a:pPr algn="l">
              <a:lnSpc>
                <a:spcPts val="4028"/>
              </a:lnSpc>
              <a:spcBef>
                <a:spcPct val="0"/>
              </a:spcBef>
            </a:pPr>
            <a:r>
              <a:rPr lang="en-US" b="true" sz="3800" i="true" spc="140" u="sng">
                <a:solidFill>
                  <a:srgbClr val="000000"/>
                </a:solidFill>
                <a:latin typeface="Canva Sans Bold Italics"/>
                <a:ea typeface="Canva Sans Bold Italics"/>
                <a:cs typeface="Canva Sans Bold Italics"/>
                <a:sym typeface="Canva Sans Bold Italics"/>
              </a:rPr>
              <a:t>Fake</a:t>
            </a:r>
            <a:r>
              <a:rPr lang="en-US" b="true" sz="3800" i="true" spc="140" u="sng">
                <a:solidFill>
                  <a:srgbClr val="000000"/>
                </a:solidFill>
                <a:latin typeface="Canva Sans Bold Italics"/>
                <a:ea typeface="Canva Sans Bold Italics"/>
                <a:cs typeface="Canva Sans Bold Italics"/>
                <a:sym typeface="Canva Sans Bold Italics"/>
              </a:rPr>
              <a:t> Websites &amp; Login Pages</a:t>
            </a:r>
          </a:p>
        </p:txBody>
      </p:sp>
      <p:sp>
        <p:nvSpPr>
          <p:cNvPr name="TextBox 49" id="49"/>
          <p:cNvSpPr txBox="true"/>
          <p:nvPr/>
        </p:nvSpPr>
        <p:spPr>
          <a:xfrm rot="0">
            <a:off x="2476750" y="2146688"/>
            <a:ext cx="14643854" cy="2261235"/>
          </a:xfrm>
          <a:prstGeom prst="rect">
            <a:avLst/>
          </a:prstGeom>
        </p:spPr>
        <p:txBody>
          <a:bodyPr anchor="t" rtlCol="false" tIns="0" lIns="0" bIns="0" rIns="0">
            <a:spAutoFit/>
          </a:bodyPr>
          <a:lstStyle/>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A</a:t>
            </a:r>
            <a:r>
              <a:rPr lang="en-US" sz="2400" spc="-48">
                <a:solidFill>
                  <a:srgbClr val="1E1E1E"/>
                </a:solidFill>
                <a:latin typeface="Canva Sans"/>
                <a:ea typeface="Canva Sans"/>
                <a:cs typeface="Canva Sans"/>
                <a:sym typeface="Canva Sans"/>
              </a:rPr>
              <a:t> fake site may copy th</a:t>
            </a:r>
            <a:r>
              <a:rPr lang="en-US" sz="2400" spc="-48">
                <a:solidFill>
                  <a:srgbClr val="1E1E1E"/>
                </a:solidFill>
                <a:latin typeface="Canva Sans"/>
                <a:ea typeface="Canva Sans"/>
                <a:cs typeface="Canva Sans"/>
                <a:sym typeface="Canva Sans"/>
              </a:rPr>
              <a:t>e logo,</a:t>
            </a:r>
            <a:r>
              <a:rPr lang="en-US" sz="2400" spc="-48">
                <a:solidFill>
                  <a:srgbClr val="1E1E1E"/>
                </a:solidFill>
                <a:latin typeface="Canva Sans"/>
                <a:ea typeface="Canva Sans"/>
                <a:cs typeface="Canva Sans"/>
                <a:sym typeface="Canva Sans"/>
              </a:rPr>
              <a:t> colo</a:t>
            </a:r>
            <a:r>
              <a:rPr lang="en-US" sz="2400" spc="-48">
                <a:solidFill>
                  <a:srgbClr val="1E1E1E"/>
                </a:solidFill>
                <a:latin typeface="Canva Sans"/>
                <a:ea typeface="Canva Sans"/>
                <a:cs typeface="Canva Sans"/>
                <a:sym typeface="Canva Sans"/>
              </a:rPr>
              <a:t>rs, wording, and layout of a legitimate service.</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HTTPS alone does not prove that a website is legitimate.</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Check the domain name carefully and avoid entering credentials through l</a:t>
            </a:r>
            <a:r>
              <a:rPr lang="en-US" sz="2400" spc="-48">
                <a:solidFill>
                  <a:srgbClr val="1E1E1E"/>
                </a:solidFill>
                <a:latin typeface="Canva Sans"/>
                <a:ea typeface="Canva Sans"/>
                <a:cs typeface="Canva Sans"/>
                <a:sym typeface="Canva Sans"/>
              </a:rPr>
              <a:t>inks in </a:t>
            </a:r>
            <a:r>
              <a:rPr lang="en-US" sz="2400" spc="-48">
                <a:solidFill>
                  <a:srgbClr val="1E1E1E"/>
                </a:solidFill>
                <a:latin typeface="Canva Sans"/>
                <a:ea typeface="Canva Sans"/>
                <a:cs typeface="Canva Sans"/>
                <a:sym typeface="Canva Sans"/>
              </a:rPr>
              <a:t>unexpected messages.</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When possible, open the service through a saved bookmark or type the known address yourself.</a:t>
            </a:r>
          </a:p>
        </p:txBody>
      </p:sp>
      <p:grpSp>
        <p:nvGrpSpPr>
          <p:cNvPr name="Group 50" id="50"/>
          <p:cNvGrpSpPr/>
          <p:nvPr/>
        </p:nvGrpSpPr>
        <p:grpSpPr>
          <a:xfrm rot="0">
            <a:off x="5159509" y="4826433"/>
            <a:ext cx="8662542" cy="4288199"/>
            <a:chOff x="0" y="0"/>
            <a:chExt cx="11550056" cy="5717598"/>
          </a:xfrm>
        </p:grpSpPr>
        <p:pic>
          <p:nvPicPr>
            <p:cNvPr name="Picture 51" id="51"/>
            <p:cNvPicPr>
              <a:picLocks noChangeAspect="true"/>
            </p:cNvPicPr>
            <p:nvPr/>
          </p:nvPicPr>
          <p:blipFill>
            <a:blip r:embed="rId2"/>
            <a:srcRect l="0" t="0" r="48259" b="2811"/>
            <a:stretch>
              <a:fillRect/>
            </a:stretch>
          </p:blipFill>
          <p:spPr>
            <a:xfrm flipH="false" flipV="false">
              <a:off x="0" y="0"/>
              <a:ext cx="5711528" cy="5717598"/>
            </a:xfrm>
            <a:prstGeom prst="rect">
              <a:avLst/>
            </a:prstGeom>
          </p:spPr>
        </p:pic>
        <p:pic>
          <p:nvPicPr>
            <p:cNvPr name="Picture 52" id="52"/>
            <p:cNvPicPr>
              <a:picLocks noChangeAspect="true"/>
            </p:cNvPicPr>
            <p:nvPr/>
          </p:nvPicPr>
          <p:blipFill>
            <a:blip r:embed="rId2"/>
            <a:srcRect l="48357" t="0" r="0" b="2996"/>
            <a:stretch>
              <a:fillRect/>
            </a:stretch>
          </p:blipFill>
          <p:spPr>
            <a:xfrm flipH="false" flipV="false">
              <a:off x="5838528" y="0"/>
              <a:ext cx="5711528" cy="5717598"/>
            </a:xfrm>
            <a:prstGeom prst="rect">
              <a:avLst/>
            </a:prstGeom>
          </p:spPr>
        </p:pic>
      </p:grpSp>
    </p:spTree>
  </p:cSld>
  <p:clrMapOvr>
    <a:masterClrMapping/>
  </p:clrMapOvr>
  <p:transition spd="fast">
    <p:fade/>
  </p:transition>
</p:sld>
</file>

<file path=ppt/slides/slide7.xml><?xml version="1.0" encoding="utf-8"?>
<p:sld xmlns:p="http://schemas.openxmlformats.org/presentationml/2006/main" xmlns:a="http://schemas.openxmlformats.org/drawingml/2006/main">
  <p:cSld>
    <p:bg>
      <p:bgPr>
        <a:gradFill rotWithShape="true">
          <a:gsLst>
            <a:gs pos="0">
              <a:srgbClr val="FFFFFF">
                <a:alpha val="100000"/>
              </a:srgbClr>
            </a:gs>
            <a:gs pos="50000">
              <a:srgbClr val="FFFFFF">
                <a:alpha val="100000"/>
              </a:srgbClr>
            </a:gs>
            <a:gs pos="100000">
              <a:srgbClr val="ECF5FE">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0" y="9565"/>
            <a:ext cx="18288000" cy="10277435"/>
            <a:chOff x="0" y="0"/>
            <a:chExt cx="24384000" cy="13703246"/>
          </a:xfrm>
        </p:grpSpPr>
        <p:grpSp>
          <p:nvGrpSpPr>
            <p:cNvPr name="Group 3" id="3"/>
            <p:cNvGrpSpPr/>
            <p:nvPr/>
          </p:nvGrpSpPr>
          <p:grpSpPr>
            <a:xfrm rot="0">
              <a:off x="0" y="0"/>
              <a:ext cx="24384000" cy="13703246"/>
              <a:chOff x="0" y="0"/>
              <a:chExt cx="4596479" cy="2583115"/>
            </a:xfrm>
          </p:grpSpPr>
          <p:sp>
            <p:nvSpPr>
              <p:cNvPr name="Freeform 4" id="4"/>
              <p:cNvSpPr/>
              <p:nvPr/>
            </p:nvSpPr>
            <p:spPr>
              <a:xfrm flipH="false" flipV="false" rot="0">
                <a:off x="0" y="0"/>
                <a:ext cx="4596479" cy="2583115"/>
              </a:xfrm>
              <a:custGeom>
                <a:avLst/>
                <a:gdLst/>
                <a:ahLst/>
                <a:cxnLst/>
                <a:rect r="r" b="b" t="t" l="l"/>
                <a:pathLst>
                  <a:path h="2583115" w="4596479">
                    <a:moveTo>
                      <a:pt x="4517061" y="0"/>
                    </a:moveTo>
                    <a:lnTo>
                      <a:pt x="79418" y="0"/>
                    </a:lnTo>
                    <a:cubicBezTo>
                      <a:pt x="79418" y="43699"/>
                      <a:pt x="44079" y="79418"/>
                      <a:pt x="0" y="79418"/>
                    </a:cubicBezTo>
                    <a:lnTo>
                      <a:pt x="0" y="2503697"/>
                    </a:lnTo>
                    <a:cubicBezTo>
                      <a:pt x="43699" y="2503697"/>
                      <a:pt x="79418" y="2539036"/>
                      <a:pt x="79418" y="2583115"/>
                    </a:cubicBezTo>
                    <a:lnTo>
                      <a:pt x="4517061" y="2583115"/>
                    </a:lnTo>
                    <a:cubicBezTo>
                      <a:pt x="4517061" y="2539416"/>
                      <a:pt x="4552400" y="2503697"/>
                      <a:pt x="4596479" y="2503697"/>
                    </a:cubicBezTo>
                    <a:lnTo>
                      <a:pt x="4596479" y="79418"/>
                    </a:lnTo>
                    <a:cubicBezTo>
                      <a:pt x="4552780" y="79418"/>
                      <a:pt x="4517061" y="44079"/>
                      <a:pt x="4517061" y="0"/>
                    </a:cubicBezTo>
                    <a:close/>
                  </a:path>
                </a:pathLst>
              </a:custGeom>
              <a:ln w="9525" cap="sq">
                <a:solidFill>
                  <a:srgbClr val="C29C84"/>
                </a:solidFill>
                <a:prstDash val="solid"/>
                <a:miter/>
              </a:ln>
            </p:spPr>
          </p:sp>
          <p:sp>
            <p:nvSpPr>
              <p:cNvPr name="TextBox 5" id="5"/>
              <p:cNvSpPr txBox="true"/>
              <p:nvPr/>
            </p:nvSpPr>
            <p:spPr>
              <a:xfrm>
                <a:off x="38100" y="-9525"/>
                <a:ext cx="4520279" cy="2554540"/>
              </a:xfrm>
              <a:prstGeom prst="rect">
                <a:avLst/>
              </a:prstGeom>
            </p:spPr>
            <p:txBody>
              <a:bodyPr anchor="ctr" rtlCol="false" tIns="50800" lIns="50800" bIns="50800" rIns="50800"/>
              <a:lstStyle/>
              <a:p>
                <a:pPr algn="ctr">
                  <a:lnSpc>
                    <a:spcPts val="2660"/>
                  </a:lnSpc>
                </a:pPr>
              </a:p>
            </p:txBody>
          </p:sp>
        </p:grpSp>
        <p:grpSp>
          <p:nvGrpSpPr>
            <p:cNvPr name="Group 6" id="6"/>
            <p:cNvGrpSpPr/>
            <p:nvPr/>
          </p:nvGrpSpPr>
          <p:grpSpPr>
            <a:xfrm rot="0">
              <a:off x="178937" y="207890"/>
              <a:ext cx="23995525" cy="13287466"/>
              <a:chOff x="0" y="0"/>
              <a:chExt cx="4596479" cy="2545290"/>
            </a:xfrm>
          </p:grpSpPr>
          <p:sp>
            <p:nvSpPr>
              <p:cNvPr name="Freeform 7" id="7"/>
              <p:cNvSpPr/>
              <p:nvPr/>
            </p:nvSpPr>
            <p:spPr>
              <a:xfrm flipH="false" flipV="false" rot="0">
                <a:off x="0" y="0"/>
                <a:ext cx="4596479" cy="2545290"/>
              </a:xfrm>
              <a:custGeom>
                <a:avLst/>
                <a:gdLst/>
                <a:ahLst/>
                <a:cxnLst/>
                <a:rect r="r" b="b" t="t" l="l"/>
                <a:pathLst>
                  <a:path h="2545290" w="4596479">
                    <a:moveTo>
                      <a:pt x="4517061" y="0"/>
                    </a:moveTo>
                    <a:lnTo>
                      <a:pt x="79418" y="0"/>
                    </a:lnTo>
                    <a:cubicBezTo>
                      <a:pt x="79418" y="43699"/>
                      <a:pt x="44079" y="79418"/>
                      <a:pt x="0" y="79418"/>
                    </a:cubicBezTo>
                    <a:lnTo>
                      <a:pt x="0" y="2465872"/>
                    </a:lnTo>
                    <a:cubicBezTo>
                      <a:pt x="43699" y="2465872"/>
                      <a:pt x="79418" y="2501211"/>
                      <a:pt x="79418" y="2545290"/>
                    </a:cubicBezTo>
                    <a:lnTo>
                      <a:pt x="4517061" y="2545290"/>
                    </a:lnTo>
                    <a:cubicBezTo>
                      <a:pt x="4517061" y="2501590"/>
                      <a:pt x="4552400" y="2465872"/>
                      <a:pt x="4596479" y="2465872"/>
                    </a:cubicBezTo>
                    <a:lnTo>
                      <a:pt x="4596479" y="79418"/>
                    </a:lnTo>
                    <a:cubicBezTo>
                      <a:pt x="4552780" y="79418"/>
                      <a:pt x="4517061" y="44079"/>
                      <a:pt x="4517061" y="0"/>
                    </a:cubicBezTo>
                    <a:close/>
                  </a:path>
                </a:pathLst>
              </a:custGeom>
              <a:solidFill>
                <a:srgbClr val="F8F2EC"/>
              </a:solidFill>
              <a:ln w="9525" cap="sq">
                <a:solidFill>
                  <a:srgbClr val="C29C84"/>
                </a:solidFill>
                <a:prstDash val="solid"/>
                <a:miter/>
              </a:ln>
            </p:spPr>
          </p:sp>
          <p:sp>
            <p:nvSpPr>
              <p:cNvPr name="TextBox 8" id="8"/>
              <p:cNvSpPr txBox="true"/>
              <p:nvPr/>
            </p:nvSpPr>
            <p:spPr>
              <a:xfrm>
                <a:off x="38100" y="-9525"/>
                <a:ext cx="4520279" cy="2516715"/>
              </a:xfrm>
              <a:prstGeom prst="rect">
                <a:avLst/>
              </a:prstGeom>
            </p:spPr>
            <p:txBody>
              <a:bodyPr anchor="ctr" rtlCol="false" tIns="50800" lIns="50800" bIns="50800" rIns="50800"/>
              <a:lstStyle/>
              <a:p>
                <a:pPr algn="ctr">
                  <a:lnSpc>
                    <a:spcPts val="2660"/>
                  </a:lnSpc>
                </a:pPr>
              </a:p>
            </p:txBody>
          </p:sp>
        </p:grpSp>
      </p:grpSp>
      <p:grpSp>
        <p:nvGrpSpPr>
          <p:cNvPr name="Group 9" id="9"/>
          <p:cNvGrpSpPr/>
          <p:nvPr/>
        </p:nvGrpSpPr>
        <p:grpSpPr>
          <a:xfrm rot="0">
            <a:off x="1288202" y="677425"/>
            <a:ext cx="16405157" cy="9053461"/>
            <a:chOff x="0" y="0"/>
            <a:chExt cx="4320700" cy="2384451"/>
          </a:xfrm>
        </p:grpSpPr>
        <p:sp>
          <p:nvSpPr>
            <p:cNvPr name="Freeform 10" id="10"/>
            <p:cNvSpPr/>
            <p:nvPr/>
          </p:nvSpPr>
          <p:spPr>
            <a:xfrm flipH="false" flipV="false" rot="0">
              <a:off x="0" y="0"/>
              <a:ext cx="4320700" cy="2384451"/>
            </a:xfrm>
            <a:custGeom>
              <a:avLst/>
              <a:gdLst/>
              <a:ahLst/>
              <a:cxnLst/>
              <a:rect r="r" b="b" t="t" l="l"/>
              <a:pathLst>
                <a:path h="2384451" w="4320700">
                  <a:moveTo>
                    <a:pt x="24068" y="0"/>
                  </a:moveTo>
                  <a:lnTo>
                    <a:pt x="4296632" y="0"/>
                  </a:lnTo>
                  <a:cubicBezTo>
                    <a:pt x="4309924" y="0"/>
                    <a:pt x="4320700" y="10776"/>
                    <a:pt x="4320700" y="24068"/>
                  </a:cubicBezTo>
                  <a:lnTo>
                    <a:pt x="4320700" y="2360383"/>
                  </a:lnTo>
                  <a:cubicBezTo>
                    <a:pt x="4320700" y="2373675"/>
                    <a:pt x="4309924" y="2384451"/>
                    <a:pt x="4296632" y="2384451"/>
                  </a:cubicBezTo>
                  <a:lnTo>
                    <a:pt x="24068" y="2384451"/>
                  </a:lnTo>
                  <a:cubicBezTo>
                    <a:pt x="10776" y="2384451"/>
                    <a:pt x="0" y="2373675"/>
                    <a:pt x="0" y="2360383"/>
                  </a:cubicBezTo>
                  <a:lnTo>
                    <a:pt x="0" y="24068"/>
                  </a:lnTo>
                  <a:cubicBezTo>
                    <a:pt x="0" y="10776"/>
                    <a:pt x="10776" y="0"/>
                    <a:pt x="24068"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a:ln w="19050" cap="rnd">
              <a:solidFill>
                <a:srgbClr val="000000"/>
              </a:solidFill>
              <a:prstDash val="solid"/>
              <a:round/>
            </a:ln>
          </p:spPr>
        </p:sp>
        <p:sp>
          <p:nvSpPr>
            <p:cNvPr name="TextBox 11" id="11"/>
            <p:cNvSpPr txBox="true"/>
            <p:nvPr/>
          </p:nvSpPr>
          <p:spPr>
            <a:xfrm>
              <a:off x="0" y="47625"/>
              <a:ext cx="4320700" cy="2336826"/>
            </a:xfrm>
            <a:prstGeom prst="rect">
              <a:avLst/>
            </a:prstGeom>
          </p:spPr>
          <p:txBody>
            <a:bodyPr anchor="ctr" rtlCol="false" tIns="50800" lIns="50800" bIns="50800" rIns="50800"/>
            <a:lstStyle/>
            <a:p>
              <a:pPr algn="ctr">
                <a:lnSpc>
                  <a:spcPts val="1620"/>
                </a:lnSpc>
              </a:pPr>
            </a:p>
          </p:txBody>
        </p:sp>
      </p:grpSp>
      <p:grpSp>
        <p:nvGrpSpPr>
          <p:cNvPr name="Group 12" id="12"/>
          <p:cNvGrpSpPr/>
          <p:nvPr/>
        </p:nvGrpSpPr>
        <p:grpSpPr>
          <a:xfrm rot="0">
            <a:off x="17259300" y="7998136"/>
            <a:ext cx="430685" cy="43068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14" id="14"/>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15" id="15"/>
          <p:cNvGrpSpPr/>
          <p:nvPr/>
        </p:nvGrpSpPr>
        <p:grpSpPr>
          <a:xfrm rot="0">
            <a:off x="15976646" y="155750"/>
            <a:ext cx="1427910" cy="142791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17" id="1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8" id="18"/>
          <p:cNvGrpSpPr/>
          <p:nvPr/>
        </p:nvGrpSpPr>
        <p:grpSpPr>
          <a:xfrm rot="-5400000">
            <a:off x="-4386765" y="4430319"/>
            <a:ext cx="10243446" cy="1469916"/>
            <a:chOff x="0" y="0"/>
            <a:chExt cx="2697862" cy="387138"/>
          </a:xfrm>
        </p:grpSpPr>
        <p:sp>
          <p:nvSpPr>
            <p:cNvPr name="Freeform 19" id="19"/>
            <p:cNvSpPr/>
            <p:nvPr/>
          </p:nvSpPr>
          <p:spPr>
            <a:xfrm flipH="false" flipV="false" rot="0">
              <a:off x="0" y="0"/>
              <a:ext cx="2697862" cy="387138"/>
            </a:xfrm>
            <a:custGeom>
              <a:avLst/>
              <a:gdLst/>
              <a:ahLst/>
              <a:cxnLst/>
              <a:rect r="r" b="b" t="t" l="l"/>
              <a:pathLst>
                <a:path h="387138" w="2697862">
                  <a:moveTo>
                    <a:pt x="75579" y="0"/>
                  </a:moveTo>
                  <a:lnTo>
                    <a:pt x="2622283" y="0"/>
                  </a:lnTo>
                  <a:cubicBezTo>
                    <a:pt x="2642328" y="0"/>
                    <a:pt x="2661552" y="7963"/>
                    <a:pt x="2675726" y="22137"/>
                  </a:cubicBezTo>
                  <a:cubicBezTo>
                    <a:pt x="2689900" y="36311"/>
                    <a:pt x="2697862" y="55534"/>
                    <a:pt x="2697862" y="75579"/>
                  </a:cubicBezTo>
                  <a:lnTo>
                    <a:pt x="2697862" y="311559"/>
                  </a:lnTo>
                  <a:cubicBezTo>
                    <a:pt x="2697862" y="331604"/>
                    <a:pt x="2689900" y="350828"/>
                    <a:pt x="2675726" y="365002"/>
                  </a:cubicBezTo>
                  <a:cubicBezTo>
                    <a:pt x="2661552" y="379176"/>
                    <a:pt x="2642328" y="387138"/>
                    <a:pt x="2622283" y="387138"/>
                  </a:cubicBezTo>
                  <a:lnTo>
                    <a:pt x="75579" y="387138"/>
                  </a:lnTo>
                  <a:cubicBezTo>
                    <a:pt x="55534" y="387138"/>
                    <a:pt x="36311" y="379176"/>
                    <a:pt x="22137" y="365002"/>
                  </a:cubicBezTo>
                  <a:cubicBezTo>
                    <a:pt x="7963" y="350828"/>
                    <a:pt x="0" y="331604"/>
                    <a:pt x="0" y="311559"/>
                  </a:cubicBezTo>
                  <a:lnTo>
                    <a:pt x="0" y="75579"/>
                  </a:lnTo>
                  <a:cubicBezTo>
                    <a:pt x="0" y="55534"/>
                    <a:pt x="7963" y="36311"/>
                    <a:pt x="22137" y="22137"/>
                  </a:cubicBezTo>
                  <a:cubicBezTo>
                    <a:pt x="36311" y="7963"/>
                    <a:pt x="55534" y="0"/>
                    <a:pt x="75579"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0" id="20"/>
            <p:cNvSpPr txBox="true"/>
            <p:nvPr/>
          </p:nvSpPr>
          <p:spPr>
            <a:xfrm>
              <a:off x="0" y="-38100"/>
              <a:ext cx="2697862" cy="425238"/>
            </a:xfrm>
            <a:prstGeom prst="rect">
              <a:avLst/>
            </a:prstGeom>
          </p:spPr>
          <p:txBody>
            <a:bodyPr anchor="ctr" rtlCol="false" tIns="50800" lIns="50800" bIns="50800" rIns="50800"/>
            <a:lstStyle/>
            <a:p>
              <a:pPr algn="ctr" marL="0" indent="0" lvl="0">
                <a:lnSpc>
                  <a:spcPts val="2659"/>
                </a:lnSpc>
              </a:pPr>
            </a:p>
          </p:txBody>
        </p:sp>
      </p:grpSp>
      <p:grpSp>
        <p:nvGrpSpPr>
          <p:cNvPr name="Group 21" id="21"/>
          <p:cNvGrpSpPr/>
          <p:nvPr/>
        </p:nvGrpSpPr>
        <p:grpSpPr>
          <a:xfrm rot="0">
            <a:off x="2257890" y="9271213"/>
            <a:ext cx="626973" cy="62697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3" id="23"/>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24" id="24"/>
          <p:cNvGrpSpPr/>
          <p:nvPr/>
        </p:nvGrpSpPr>
        <p:grpSpPr>
          <a:xfrm rot="0">
            <a:off x="368456" y="350702"/>
            <a:ext cx="2202920" cy="2211457"/>
            <a:chOff x="0" y="0"/>
            <a:chExt cx="732060" cy="734897"/>
          </a:xfrm>
        </p:grpSpPr>
        <p:sp>
          <p:nvSpPr>
            <p:cNvPr name="Freeform 25" id="25"/>
            <p:cNvSpPr/>
            <p:nvPr/>
          </p:nvSpPr>
          <p:spPr>
            <a:xfrm flipH="false" flipV="false" rot="0">
              <a:off x="0" y="0"/>
              <a:ext cx="732060" cy="734897"/>
            </a:xfrm>
            <a:custGeom>
              <a:avLst/>
              <a:gdLst/>
              <a:ahLst/>
              <a:cxnLst/>
              <a:rect r="r" b="b" t="t" l="l"/>
              <a:pathLst>
                <a:path h="734897" w="732060">
                  <a:moveTo>
                    <a:pt x="366030" y="0"/>
                  </a:moveTo>
                  <a:cubicBezTo>
                    <a:pt x="163877" y="0"/>
                    <a:pt x="0" y="164512"/>
                    <a:pt x="0" y="367448"/>
                  </a:cubicBezTo>
                  <a:cubicBezTo>
                    <a:pt x="0" y="570384"/>
                    <a:pt x="163877" y="734897"/>
                    <a:pt x="366030" y="734897"/>
                  </a:cubicBezTo>
                  <a:cubicBezTo>
                    <a:pt x="568183" y="734897"/>
                    <a:pt x="732060" y="570384"/>
                    <a:pt x="732060" y="367448"/>
                  </a:cubicBezTo>
                  <a:cubicBezTo>
                    <a:pt x="732060" y="164512"/>
                    <a:pt x="568183" y="0"/>
                    <a:pt x="36603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6" id="26"/>
            <p:cNvSpPr txBox="true"/>
            <p:nvPr/>
          </p:nvSpPr>
          <p:spPr>
            <a:xfrm>
              <a:off x="68631" y="87947"/>
              <a:ext cx="594799" cy="578054"/>
            </a:xfrm>
            <a:prstGeom prst="rect">
              <a:avLst/>
            </a:prstGeom>
          </p:spPr>
          <p:txBody>
            <a:bodyPr anchor="ctr" rtlCol="false" tIns="50800" lIns="50800" bIns="50800" rIns="50800"/>
            <a:lstStyle/>
            <a:p>
              <a:pPr algn="ctr">
                <a:lnSpc>
                  <a:spcPts val="2859"/>
                </a:lnSpc>
              </a:pPr>
            </a:p>
          </p:txBody>
        </p:sp>
      </p:grpSp>
      <p:grpSp>
        <p:nvGrpSpPr>
          <p:cNvPr name="Group 27" id="27"/>
          <p:cNvGrpSpPr/>
          <p:nvPr/>
        </p:nvGrpSpPr>
        <p:grpSpPr>
          <a:xfrm rot="0">
            <a:off x="14884825" y="350702"/>
            <a:ext cx="519003" cy="51900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9" id="29"/>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30" id="30"/>
          <p:cNvGrpSpPr/>
          <p:nvPr/>
        </p:nvGrpSpPr>
        <p:grpSpPr>
          <a:xfrm rot="0">
            <a:off x="564961" y="577562"/>
            <a:ext cx="1809910" cy="1757737"/>
            <a:chOff x="0" y="0"/>
            <a:chExt cx="2413213" cy="2343649"/>
          </a:xfrm>
        </p:grpSpPr>
        <p:grpSp>
          <p:nvGrpSpPr>
            <p:cNvPr name="Group 31" id="31"/>
            <p:cNvGrpSpPr/>
            <p:nvPr/>
          </p:nvGrpSpPr>
          <p:grpSpPr>
            <a:xfrm rot="0">
              <a:off x="0" y="0"/>
              <a:ext cx="2413213" cy="2343649"/>
              <a:chOff x="0" y="0"/>
              <a:chExt cx="812800" cy="789370"/>
            </a:xfrm>
          </p:grpSpPr>
          <p:sp>
            <p:nvSpPr>
              <p:cNvPr name="Freeform 32" id="32"/>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33" id="33"/>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34" id="34"/>
            <p:cNvSpPr txBox="true"/>
            <p:nvPr/>
          </p:nvSpPr>
          <p:spPr>
            <a:xfrm rot="0">
              <a:off x="542298" y="543113"/>
              <a:ext cx="1328616" cy="1352672"/>
            </a:xfrm>
            <a:prstGeom prst="rect">
              <a:avLst/>
            </a:prstGeom>
          </p:spPr>
          <p:txBody>
            <a:bodyPr anchor="t" rtlCol="false" tIns="0" lIns="0" bIns="0" rIns="0">
              <a:spAutoFit/>
            </a:bodyPr>
            <a:lstStyle/>
            <a:p>
              <a:pPr algn="ctr" marL="0" indent="0" lvl="0">
                <a:lnSpc>
                  <a:spcPts val="7573"/>
                </a:lnSpc>
              </a:pPr>
              <a:r>
                <a:rPr lang="en-US" b="true" sz="7144" spc="264">
                  <a:solidFill>
                    <a:srgbClr val="000000"/>
                  </a:solidFill>
                  <a:latin typeface="Canva Sans Bold"/>
                  <a:ea typeface="Canva Sans Bold"/>
                  <a:cs typeface="Canva Sans Bold"/>
                  <a:sym typeface="Canva Sans Bold"/>
                </a:rPr>
                <a:t>6</a:t>
              </a:r>
            </a:p>
          </p:txBody>
        </p:sp>
      </p:grpSp>
      <p:grpSp>
        <p:nvGrpSpPr>
          <p:cNvPr name="Group 35" id="35"/>
          <p:cNvGrpSpPr/>
          <p:nvPr/>
        </p:nvGrpSpPr>
        <p:grpSpPr>
          <a:xfrm rot="0">
            <a:off x="209795" y="3095559"/>
            <a:ext cx="1114641" cy="1082510"/>
            <a:chOff x="0" y="0"/>
            <a:chExt cx="1486188" cy="1443347"/>
          </a:xfrm>
        </p:grpSpPr>
        <p:grpSp>
          <p:nvGrpSpPr>
            <p:cNvPr name="Group 36" id="36"/>
            <p:cNvGrpSpPr/>
            <p:nvPr/>
          </p:nvGrpSpPr>
          <p:grpSpPr>
            <a:xfrm rot="0">
              <a:off x="0" y="0"/>
              <a:ext cx="1486188" cy="1443347"/>
              <a:chOff x="0" y="0"/>
              <a:chExt cx="812800" cy="789370"/>
            </a:xfrm>
          </p:grpSpPr>
          <p:sp>
            <p:nvSpPr>
              <p:cNvPr name="Freeform 37" id="37"/>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38" id="38"/>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39" id="39"/>
            <p:cNvSpPr txBox="true"/>
            <p:nvPr/>
          </p:nvSpPr>
          <p:spPr>
            <a:xfrm rot="0">
              <a:off x="333977" y="332969"/>
              <a:ext cx="818235" cy="834560"/>
            </a:xfrm>
            <a:prstGeom prst="rect">
              <a:avLst/>
            </a:prstGeom>
          </p:spPr>
          <p:txBody>
            <a:bodyPr anchor="t" rtlCol="false" tIns="0" lIns="0" bIns="0" rIns="0">
              <a:spAutoFit/>
            </a:bodyPr>
            <a:lstStyle/>
            <a:p>
              <a:pPr algn="ctr" marL="0" indent="0" lvl="0">
                <a:lnSpc>
                  <a:spcPts val="4664"/>
                </a:lnSpc>
              </a:pPr>
              <a:r>
                <a:rPr lang="en-US" b="true" sz="4400" spc="162">
                  <a:solidFill>
                    <a:srgbClr val="000000"/>
                  </a:solidFill>
                  <a:latin typeface="Canva Sans Bold"/>
                  <a:ea typeface="Canva Sans Bold"/>
                  <a:cs typeface="Canva Sans Bold"/>
                  <a:sym typeface="Canva Sans Bold"/>
                </a:rPr>
                <a:t>7</a:t>
              </a:r>
            </a:p>
          </p:txBody>
        </p:sp>
      </p:grpSp>
      <p:grpSp>
        <p:nvGrpSpPr>
          <p:cNvPr name="Group 40" id="40"/>
          <p:cNvGrpSpPr/>
          <p:nvPr/>
        </p:nvGrpSpPr>
        <p:grpSpPr>
          <a:xfrm rot="0">
            <a:off x="15397573" y="9325198"/>
            <a:ext cx="519003" cy="519003"/>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42" id="42"/>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sp>
        <p:nvSpPr>
          <p:cNvPr name="TextBox 43" id="43"/>
          <p:cNvSpPr txBox="true"/>
          <p:nvPr/>
        </p:nvSpPr>
        <p:spPr>
          <a:xfrm rot="0">
            <a:off x="2884863" y="1217861"/>
            <a:ext cx="9983198" cy="524764"/>
          </a:xfrm>
          <a:prstGeom prst="rect">
            <a:avLst/>
          </a:prstGeom>
        </p:spPr>
        <p:txBody>
          <a:bodyPr anchor="t" rtlCol="false" tIns="0" lIns="0" bIns="0" rIns="0">
            <a:spAutoFit/>
          </a:bodyPr>
          <a:lstStyle/>
          <a:p>
            <a:pPr algn="l">
              <a:lnSpc>
                <a:spcPts val="4028"/>
              </a:lnSpc>
              <a:spcBef>
                <a:spcPct val="0"/>
              </a:spcBef>
            </a:pPr>
            <a:r>
              <a:rPr lang="en-US" b="true" sz="3800" i="true" spc="140" u="sng">
                <a:solidFill>
                  <a:srgbClr val="000000"/>
                </a:solidFill>
                <a:latin typeface="Canva Sans Bold Italics"/>
                <a:ea typeface="Canva Sans Bold Italics"/>
                <a:cs typeface="Canva Sans Bold Italics"/>
                <a:sym typeface="Canva Sans Bold Italics"/>
              </a:rPr>
              <a:t>Soci</a:t>
            </a:r>
            <a:r>
              <a:rPr lang="en-US" b="true" sz="3800" i="true" spc="140" u="sng">
                <a:solidFill>
                  <a:srgbClr val="000000"/>
                </a:solidFill>
                <a:latin typeface="Canva Sans Bold Italics"/>
                <a:ea typeface="Canva Sans Bold Italics"/>
                <a:cs typeface="Canva Sans Bold Italics"/>
                <a:sym typeface="Canva Sans Bold Italics"/>
              </a:rPr>
              <a:t>al</a:t>
            </a:r>
            <a:r>
              <a:rPr lang="en-US" b="true" sz="3800" i="true" spc="140" u="sng">
                <a:solidFill>
                  <a:srgbClr val="000000"/>
                </a:solidFill>
                <a:latin typeface="Canva Sans Bold Italics"/>
                <a:ea typeface="Canva Sans Bold Italics"/>
                <a:cs typeface="Canva Sans Bold Italics"/>
                <a:sym typeface="Canva Sans Bold Italics"/>
              </a:rPr>
              <a:t> Engineering Tactics</a:t>
            </a:r>
          </a:p>
        </p:txBody>
      </p:sp>
      <p:sp>
        <p:nvSpPr>
          <p:cNvPr name="TextBox 44" id="44"/>
          <p:cNvSpPr txBox="true"/>
          <p:nvPr/>
        </p:nvSpPr>
        <p:spPr>
          <a:xfrm rot="0">
            <a:off x="2374871" y="1980750"/>
            <a:ext cx="14643854" cy="2261235"/>
          </a:xfrm>
          <a:prstGeom prst="rect">
            <a:avLst/>
          </a:prstGeom>
        </p:spPr>
        <p:txBody>
          <a:bodyPr anchor="t" rtlCol="false" tIns="0" lIns="0" bIns="0" rIns="0">
            <a:spAutoFit/>
          </a:bodyPr>
          <a:lstStyle/>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Pretexting:</a:t>
            </a:r>
            <a:r>
              <a:rPr lang="en-US" sz="2400" spc="-48">
                <a:solidFill>
                  <a:srgbClr val="1E1E1E"/>
                </a:solidFill>
                <a:latin typeface="Canva Sans"/>
                <a:ea typeface="Canva Sans"/>
                <a:cs typeface="Canva Sans"/>
                <a:sym typeface="Canva Sans"/>
              </a:rPr>
              <a:t> creating a believable story or id</a:t>
            </a:r>
            <a:r>
              <a:rPr lang="en-US" sz="2400" spc="-48">
                <a:solidFill>
                  <a:srgbClr val="1E1E1E"/>
                </a:solidFill>
                <a:latin typeface="Canva Sans"/>
                <a:ea typeface="Canva Sans"/>
                <a:cs typeface="Canva Sans"/>
                <a:sym typeface="Canva Sans"/>
              </a:rPr>
              <a:t>entity to obtain</a:t>
            </a:r>
            <a:r>
              <a:rPr lang="en-US" sz="2400" spc="-48">
                <a:solidFill>
                  <a:srgbClr val="1E1E1E"/>
                </a:solidFill>
                <a:latin typeface="Canva Sans"/>
                <a:ea typeface="Canva Sans"/>
                <a:cs typeface="Canva Sans"/>
                <a:sym typeface="Canva Sans"/>
              </a:rPr>
              <a:t> information.</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Impe</a:t>
            </a:r>
            <a:r>
              <a:rPr lang="en-US" sz="2400" spc="-48">
                <a:solidFill>
                  <a:srgbClr val="1E1E1E"/>
                </a:solidFill>
                <a:latin typeface="Canva Sans"/>
                <a:ea typeface="Canva Sans"/>
                <a:cs typeface="Canva Sans"/>
                <a:sym typeface="Canva Sans"/>
              </a:rPr>
              <a:t>rsonation: pretending to be a manager, coworker, bank, delivery service, or support agent.</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Baiting: offering something attractive to encourage an unsafe action.</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Quid pro quo: promising a benefit or </a:t>
            </a:r>
            <a:r>
              <a:rPr lang="en-US" sz="2400" spc="-48">
                <a:solidFill>
                  <a:srgbClr val="1E1E1E"/>
                </a:solidFill>
                <a:latin typeface="Canva Sans"/>
                <a:ea typeface="Canva Sans"/>
                <a:cs typeface="Canva Sans"/>
                <a:sym typeface="Canva Sans"/>
              </a:rPr>
              <a:t>service in </a:t>
            </a:r>
            <a:r>
              <a:rPr lang="en-US" sz="2400" spc="-48">
                <a:solidFill>
                  <a:srgbClr val="1E1E1E"/>
                </a:solidFill>
                <a:latin typeface="Canva Sans"/>
                <a:ea typeface="Canva Sans"/>
                <a:cs typeface="Canva Sans"/>
                <a:sym typeface="Canva Sans"/>
              </a:rPr>
              <a:t>exchange for information or access.</a:t>
            </a:r>
          </a:p>
          <a:p>
            <a:pPr algn="l" marL="518162" indent="-259081" lvl="1">
              <a:lnSpc>
                <a:spcPts val="3600"/>
              </a:lnSpc>
              <a:buFont typeface="Arial"/>
              <a:buChar char="•"/>
            </a:pPr>
            <a:r>
              <a:rPr lang="en-US" sz="2400" spc="-48">
                <a:solidFill>
                  <a:srgbClr val="1E1E1E"/>
                </a:solidFill>
                <a:latin typeface="Canva Sans"/>
                <a:ea typeface="Canva Sans"/>
                <a:cs typeface="Canva Sans"/>
                <a:sym typeface="Canva Sans"/>
              </a:rPr>
              <a:t>Tailoring: using public information to make the message more convincing.</a:t>
            </a:r>
          </a:p>
        </p:txBody>
      </p:sp>
      <p:sp>
        <p:nvSpPr>
          <p:cNvPr name="TextBox 45" id="45"/>
          <p:cNvSpPr txBox="true"/>
          <p:nvPr/>
        </p:nvSpPr>
        <p:spPr>
          <a:xfrm rot="0">
            <a:off x="2531335" y="4787561"/>
            <a:ext cx="9983198" cy="405766"/>
          </a:xfrm>
          <a:prstGeom prst="rect">
            <a:avLst/>
          </a:prstGeom>
        </p:spPr>
        <p:txBody>
          <a:bodyPr anchor="t" rtlCol="false" tIns="0" lIns="0" bIns="0" rIns="0">
            <a:spAutoFit/>
          </a:bodyPr>
          <a:lstStyle/>
          <a:p>
            <a:pPr algn="l">
              <a:lnSpc>
                <a:spcPts val="3180"/>
              </a:lnSpc>
              <a:spcBef>
                <a:spcPct val="0"/>
              </a:spcBef>
            </a:pPr>
            <a:r>
              <a:rPr lang="en-US" b="true" sz="3000" spc="111">
                <a:solidFill>
                  <a:srgbClr val="000000"/>
                </a:solidFill>
                <a:latin typeface="Canva Sans Bold"/>
                <a:ea typeface="Canva Sans Bold"/>
                <a:cs typeface="Canva Sans Bold"/>
                <a:sym typeface="Canva Sans Bold"/>
              </a:rPr>
              <a:t>Real-W</a:t>
            </a:r>
            <a:r>
              <a:rPr lang="en-US" b="true" sz="3000" spc="111">
                <a:solidFill>
                  <a:srgbClr val="000000"/>
                </a:solidFill>
                <a:latin typeface="Canva Sans Bold"/>
                <a:ea typeface="Canva Sans Bold"/>
                <a:cs typeface="Canva Sans Bold"/>
                <a:sym typeface="Canva Sans Bold"/>
              </a:rPr>
              <a:t>orld</a:t>
            </a:r>
            <a:r>
              <a:rPr lang="en-US" b="true" sz="3000" spc="111">
                <a:solidFill>
                  <a:srgbClr val="000000"/>
                </a:solidFill>
                <a:latin typeface="Canva Sans Bold"/>
                <a:ea typeface="Canva Sans Bold"/>
                <a:cs typeface="Canva Sans Bold"/>
                <a:sym typeface="Canva Sans Bold"/>
              </a:rPr>
              <a:t> Example: Twitter, 2020</a:t>
            </a:r>
          </a:p>
        </p:txBody>
      </p:sp>
      <p:sp>
        <p:nvSpPr>
          <p:cNvPr name="TextBox 46" id="46"/>
          <p:cNvSpPr txBox="true"/>
          <p:nvPr/>
        </p:nvSpPr>
        <p:spPr>
          <a:xfrm rot="0">
            <a:off x="2531335" y="5279701"/>
            <a:ext cx="14487390" cy="2718435"/>
          </a:xfrm>
          <a:prstGeom prst="rect">
            <a:avLst/>
          </a:prstGeom>
        </p:spPr>
        <p:txBody>
          <a:bodyPr anchor="t" rtlCol="false" tIns="0" lIns="0" bIns="0" rIns="0">
            <a:spAutoFit/>
          </a:bodyPr>
          <a:lstStyle/>
          <a:p>
            <a:pPr algn="l">
              <a:lnSpc>
                <a:spcPts val="3600"/>
              </a:lnSpc>
            </a:pPr>
            <a:r>
              <a:rPr lang="en-US" sz="2400" spc="-48">
                <a:solidFill>
                  <a:srgbClr val="1E1E1E"/>
                </a:solidFill>
                <a:latin typeface="Canva Sans"/>
                <a:ea typeface="Canva Sans"/>
                <a:cs typeface="Canva Sans"/>
                <a:sym typeface="Canva Sans"/>
              </a:rPr>
              <a:t>In July 2020, a</a:t>
            </a:r>
            <a:r>
              <a:rPr lang="en-US" sz="2400" spc="-48">
                <a:solidFill>
                  <a:srgbClr val="1E1E1E"/>
                </a:solidFill>
                <a:latin typeface="Canva Sans"/>
                <a:ea typeface="Canva Sans"/>
                <a:cs typeface="Canva Sans"/>
                <a:sym typeface="Canva Sans"/>
              </a:rPr>
              <a:t>ttackers used social engineeri</a:t>
            </a:r>
            <a:r>
              <a:rPr lang="en-US" sz="2400" spc="-48">
                <a:solidFill>
                  <a:srgbClr val="1E1E1E"/>
                </a:solidFill>
                <a:latin typeface="Canva Sans"/>
                <a:ea typeface="Canva Sans"/>
                <a:cs typeface="Canva Sans"/>
                <a:sym typeface="Canva Sans"/>
              </a:rPr>
              <a:t>ng to obtain</a:t>
            </a:r>
            <a:r>
              <a:rPr lang="en-US" sz="2400" spc="-48">
                <a:solidFill>
                  <a:srgbClr val="1E1E1E"/>
                </a:solidFill>
                <a:latin typeface="Canva Sans"/>
                <a:ea typeface="Canva Sans"/>
                <a:cs typeface="Canva Sans"/>
                <a:sym typeface="Canva Sans"/>
              </a:rPr>
              <a:t> access to administrative tools used by Twitter.</a:t>
            </a:r>
          </a:p>
          <a:p>
            <a:pPr algn="l">
              <a:lnSpc>
                <a:spcPts val="3600"/>
              </a:lnSpc>
            </a:pPr>
            <a:r>
              <a:rPr lang="en-US" sz="2400" spc="-48">
                <a:solidFill>
                  <a:srgbClr val="1E1E1E"/>
                </a:solidFill>
                <a:latin typeface="Canva Sans"/>
                <a:ea typeface="Canva Sans"/>
                <a:cs typeface="Canva Sans"/>
                <a:sym typeface="Canva Sans"/>
              </a:rPr>
              <a:t>The comp</a:t>
            </a:r>
            <a:r>
              <a:rPr lang="en-US" sz="2400" spc="-48">
                <a:solidFill>
                  <a:srgbClr val="1E1E1E"/>
                </a:solidFill>
                <a:latin typeface="Canva Sans"/>
                <a:ea typeface="Canva Sans"/>
                <a:cs typeface="Canva Sans"/>
                <a:sym typeface="Canva Sans"/>
              </a:rPr>
              <a:t>romised access was then used to take control of accounts and support a fraud scheme.</a:t>
            </a:r>
          </a:p>
          <a:p>
            <a:pPr algn="l">
              <a:lnSpc>
                <a:spcPts val="3600"/>
              </a:lnSpc>
            </a:pPr>
            <a:r>
              <a:rPr lang="en-US" sz="2400" spc="-48">
                <a:solidFill>
                  <a:srgbClr val="1E1E1E"/>
                </a:solidFill>
                <a:latin typeface="Canva Sans"/>
                <a:ea typeface="Canva Sans"/>
                <a:cs typeface="Canva Sans"/>
                <a:sym typeface="Canva Sans"/>
              </a:rPr>
              <a:t>Lesson: even well-known organizations can be affected when attackers successfully manipulate people.</a:t>
            </a:r>
          </a:p>
          <a:p>
            <a:pPr algn="l">
              <a:lnSpc>
                <a:spcPts val="3600"/>
              </a:lnSpc>
            </a:pPr>
            <a:r>
              <a:rPr lang="en-US" sz="2400" spc="-48">
                <a:solidFill>
                  <a:srgbClr val="1E1E1E"/>
                </a:solidFill>
                <a:latin typeface="Canva Sans"/>
                <a:ea typeface="Canva Sans"/>
                <a:cs typeface="Canva Sans"/>
                <a:sym typeface="Canva Sans"/>
              </a:rPr>
              <a:t>Defense: v</a:t>
            </a:r>
            <a:r>
              <a:rPr lang="en-US" sz="2400" spc="-48">
                <a:solidFill>
                  <a:srgbClr val="1E1E1E"/>
                </a:solidFill>
                <a:latin typeface="Canva Sans"/>
                <a:ea typeface="Canva Sans"/>
                <a:cs typeface="Canva Sans"/>
                <a:sym typeface="Canva Sans"/>
              </a:rPr>
              <a:t>erify unusual r</a:t>
            </a:r>
            <a:r>
              <a:rPr lang="en-US" sz="2400" spc="-48">
                <a:solidFill>
                  <a:srgbClr val="1E1E1E"/>
                </a:solidFill>
                <a:latin typeface="Canva Sans"/>
                <a:ea typeface="Canva Sans"/>
                <a:cs typeface="Canva Sans"/>
                <a:sym typeface="Canva Sans"/>
              </a:rPr>
              <a:t>equests, protect privileged access, and use strong authentication and security awareness training.</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p:cSld>
    <p:bg>
      <p:bgPr>
        <a:gradFill rotWithShape="true">
          <a:gsLst>
            <a:gs pos="0">
              <a:srgbClr val="FFFFFF">
                <a:alpha val="100000"/>
              </a:srgbClr>
            </a:gs>
            <a:gs pos="50000">
              <a:srgbClr val="FFFFFF">
                <a:alpha val="100000"/>
              </a:srgbClr>
            </a:gs>
            <a:gs pos="100000">
              <a:srgbClr val="ECF5FE">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0" y="9565"/>
            <a:ext cx="18288000" cy="10277435"/>
            <a:chOff x="0" y="0"/>
            <a:chExt cx="24384000" cy="13703246"/>
          </a:xfrm>
        </p:grpSpPr>
        <p:grpSp>
          <p:nvGrpSpPr>
            <p:cNvPr name="Group 3" id="3"/>
            <p:cNvGrpSpPr/>
            <p:nvPr/>
          </p:nvGrpSpPr>
          <p:grpSpPr>
            <a:xfrm rot="0">
              <a:off x="0" y="0"/>
              <a:ext cx="24384000" cy="13703246"/>
              <a:chOff x="0" y="0"/>
              <a:chExt cx="4596479" cy="2583115"/>
            </a:xfrm>
          </p:grpSpPr>
          <p:sp>
            <p:nvSpPr>
              <p:cNvPr name="Freeform 4" id="4"/>
              <p:cNvSpPr/>
              <p:nvPr/>
            </p:nvSpPr>
            <p:spPr>
              <a:xfrm flipH="false" flipV="false" rot="0">
                <a:off x="0" y="0"/>
                <a:ext cx="4596479" cy="2583115"/>
              </a:xfrm>
              <a:custGeom>
                <a:avLst/>
                <a:gdLst/>
                <a:ahLst/>
                <a:cxnLst/>
                <a:rect r="r" b="b" t="t" l="l"/>
                <a:pathLst>
                  <a:path h="2583115" w="4596479">
                    <a:moveTo>
                      <a:pt x="4517061" y="0"/>
                    </a:moveTo>
                    <a:lnTo>
                      <a:pt x="79418" y="0"/>
                    </a:lnTo>
                    <a:cubicBezTo>
                      <a:pt x="79418" y="43699"/>
                      <a:pt x="44079" y="79418"/>
                      <a:pt x="0" y="79418"/>
                    </a:cubicBezTo>
                    <a:lnTo>
                      <a:pt x="0" y="2503697"/>
                    </a:lnTo>
                    <a:cubicBezTo>
                      <a:pt x="43699" y="2503697"/>
                      <a:pt x="79418" y="2539036"/>
                      <a:pt x="79418" y="2583115"/>
                    </a:cubicBezTo>
                    <a:lnTo>
                      <a:pt x="4517061" y="2583115"/>
                    </a:lnTo>
                    <a:cubicBezTo>
                      <a:pt x="4517061" y="2539416"/>
                      <a:pt x="4552400" y="2503697"/>
                      <a:pt x="4596479" y="2503697"/>
                    </a:cubicBezTo>
                    <a:lnTo>
                      <a:pt x="4596479" y="79418"/>
                    </a:lnTo>
                    <a:cubicBezTo>
                      <a:pt x="4552780" y="79418"/>
                      <a:pt x="4517061" y="44079"/>
                      <a:pt x="4517061" y="0"/>
                    </a:cubicBezTo>
                    <a:close/>
                  </a:path>
                </a:pathLst>
              </a:custGeom>
              <a:ln w="9525" cap="sq">
                <a:solidFill>
                  <a:srgbClr val="C29C84"/>
                </a:solidFill>
                <a:prstDash val="solid"/>
                <a:miter/>
              </a:ln>
            </p:spPr>
          </p:sp>
          <p:sp>
            <p:nvSpPr>
              <p:cNvPr name="TextBox 5" id="5"/>
              <p:cNvSpPr txBox="true"/>
              <p:nvPr/>
            </p:nvSpPr>
            <p:spPr>
              <a:xfrm>
                <a:off x="38100" y="-9525"/>
                <a:ext cx="4520279" cy="2554540"/>
              </a:xfrm>
              <a:prstGeom prst="rect">
                <a:avLst/>
              </a:prstGeom>
            </p:spPr>
            <p:txBody>
              <a:bodyPr anchor="ctr" rtlCol="false" tIns="50800" lIns="50800" bIns="50800" rIns="50800"/>
              <a:lstStyle/>
              <a:p>
                <a:pPr algn="ctr">
                  <a:lnSpc>
                    <a:spcPts val="2660"/>
                  </a:lnSpc>
                </a:pPr>
              </a:p>
            </p:txBody>
          </p:sp>
        </p:grpSp>
        <p:grpSp>
          <p:nvGrpSpPr>
            <p:cNvPr name="Group 6" id="6"/>
            <p:cNvGrpSpPr/>
            <p:nvPr/>
          </p:nvGrpSpPr>
          <p:grpSpPr>
            <a:xfrm rot="0">
              <a:off x="178937" y="207890"/>
              <a:ext cx="23995525" cy="13287466"/>
              <a:chOff x="0" y="0"/>
              <a:chExt cx="4596479" cy="2545290"/>
            </a:xfrm>
          </p:grpSpPr>
          <p:sp>
            <p:nvSpPr>
              <p:cNvPr name="Freeform 7" id="7"/>
              <p:cNvSpPr/>
              <p:nvPr/>
            </p:nvSpPr>
            <p:spPr>
              <a:xfrm flipH="false" flipV="false" rot="0">
                <a:off x="0" y="0"/>
                <a:ext cx="4596479" cy="2545290"/>
              </a:xfrm>
              <a:custGeom>
                <a:avLst/>
                <a:gdLst/>
                <a:ahLst/>
                <a:cxnLst/>
                <a:rect r="r" b="b" t="t" l="l"/>
                <a:pathLst>
                  <a:path h="2545290" w="4596479">
                    <a:moveTo>
                      <a:pt x="4517061" y="0"/>
                    </a:moveTo>
                    <a:lnTo>
                      <a:pt x="79418" y="0"/>
                    </a:lnTo>
                    <a:cubicBezTo>
                      <a:pt x="79418" y="43699"/>
                      <a:pt x="44079" y="79418"/>
                      <a:pt x="0" y="79418"/>
                    </a:cubicBezTo>
                    <a:lnTo>
                      <a:pt x="0" y="2465872"/>
                    </a:lnTo>
                    <a:cubicBezTo>
                      <a:pt x="43699" y="2465872"/>
                      <a:pt x="79418" y="2501211"/>
                      <a:pt x="79418" y="2545290"/>
                    </a:cubicBezTo>
                    <a:lnTo>
                      <a:pt x="4517061" y="2545290"/>
                    </a:lnTo>
                    <a:cubicBezTo>
                      <a:pt x="4517061" y="2501590"/>
                      <a:pt x="4552400" y="2465872"/>
                      <a:pt x="4596479" y="2465872"/>
                    </a:cubicBezTo>
                    <a:lnTo>
                      <a:pt x="4596479" y="79418"/>
                    </a:lnTo>
                    <a:cubicBezTo>
                      <a:pt x="4552780" y="79418"/>
                      <a:pt x="4517061" y="44079"/>
                      <a:pt x="4517061" y="0"/>
                    </a:cubicBezTo>
                    <a:close/>
                  </a:path>
                </a:pathLst>
              </a:custGeom>
              <a:solidFill>
                <a:srgbClr val="F8F2EC"/>
              </a:solidFill>
              <a:ln w="9525" cap="sq">
                <a:solidFill>
                  <a:srgbClr val="C29C84"/>
                </a:solidFill>
                <a:prstDash val="solid"/>
                <a:miter/>
              </a:ln>
            </p:spPr>
          </p:sp>
          <p:sp>
            <p:nvSpPr>
              <p:cNvPr name="TextBox 8" id="8"/>
              <p:cNvSpPr txBox="true"/>
              <p:nvPr/>
            </p:nvSpPr>
            <p:spPr>
              <a:xfrm>
                <a:off x="38100" y="-9525"/>
                <a:ext cx="4520279" cy="2516715"/>
              </a:xfrm>
              <a:prstGeom prst="rect">
                <a:avLst/>
              </a:prstGeom>
            </p:spPr>
            <p:txBody>
              <a:bodyPr anchor="ctr" rtlCol="false" tIns="50800" lIns="50800" bIns="50800" rIns="50800"/>
              <a:lstStyle/>
              <a:p>
                <a:pPr algn="ctr">
                  <a:lnSpc>
                    <a:spcPts val="2660"/>
                  </a:lnSpc>
                </a:pPr>
              </a:p>
            </p:txBody>
          </p:sp>
        </p:grpSp>
      </p:grpSp>
      <p:grpSp>
        <p:nvGrpSpPr>
          <p:cNvPr name="Group 9" id="9"/>
          <p:cNvGrpSpPr/>
          <p:nvPr/>
        </p:nvGrpSpPr>
        <p:grpSpPr>
          <a:xfrm rot="0">
            <a:off x="1288202" y="677425"/>
            <a:ext cx="16405157" cy="9053461"/>
            <a:chOff x="0" y="0"/>
            <a:chExt cx="4320700" cy="2384451"/>
          </a:xfrm>
        </p:grpSpPr>
        <p:sp>
          <p:nvSpPr>
            <p:cNvPr name="Freeform 10" id="10"/>
            <p:cNvSpPr/>
            <p:nvPr/>
          </p:nvSpPr>
          <p:spPr>
            <a:xfrm flipH="false" flipV="false" rot="0">
              <a:off x="0" y="0"/>
              <a:ext cx="4320700" cy="2384451"/>
            </a:xfrm>
            <a:custGeom>
              <a:avLst/>
              <a:gdLst/>
              <a:ahLst/>
              <a:cxnLst/>
              <a:rect r="r" b="b" t="t" l="l"/>
              <a:pathLst>
                <a:path h="2384451" w="4320700">
                  <a:moveTo>
                    <a:pt x="24068" y="0"/>
                  </a:moveTo>
                  <a:lnTo>
                    <a:pt x="4296632" y="0"/>
                  </a:lnTo>
                  <a:cubicBezTo>
                    <a:pt x="4309924" y="0"/>
                    <a:pt x="4320700" y="10776"/>
                    <a:pt x="4320700" y="24068"/>
                  </a:cubicBezTo>
                  <a:lnTo>
                    <a:pt x="4320700" y="2360383"/>
                  </a:lnTo>
                  <a:cubicBezTo>
                    <a:pt x="4320700" y="2373675"/>
                    <a:pt x="4309924" y="2384451"/>
                    <a:pt x="4296632" y="2384451"/>
                  </a:cubicBezTo>
                  <a:lnTo>
                    <a:pt x="24068" y="2384451"/>
                  </a:lnTo>
                  <a:cubicBezTo>
                    <a:pt x="10776" y="2384451"/>
                    <a:pt x="0" y="2373675"/>
                    <a:pt x="0" y="2360383"/>
                  </a:cubicBezTo>
                  <a:lnTo>
                    <a:pt x="0" y="24068"/>
                  </a:lnTo>
                  <a:cubicBezTo>
                    <a:pt x="0" y="10776"/>
                    <a:pt x="10776" y="0"/>
                    <a:pt x="24068"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a:ln w="19050" cap="rnd">
              <a:solidFill>
                <a:srgbClr val="000000"/>
              </a:solidFill>
              <a:prstDash val="solid"/>
              <a:round/>
            </a:ln>
          </p:spPr>
        </p:sp>
        <p:sp>
          <p:nvSpPr>
            <p:cNvPr name="TextBox 11" id="11"/>
            <p:cNvSpPr txBox="true"/>
            <p:nvPr/>
          </p:nvSpPr>
          <p:spPr>
            <a:xfrm>
              <a:off x="0" y="47625"/>
              <a:ext cx="4320700" cy="2336826"/>
            </a:xfrm>
            <a:prstGeom prst="rect">
              <a:avLst/>
            </a:prstGeom>
          </p:spPr>
          <p:txBody>
            <a:bodyPr anchor="ctr" rtlCol="false" tIns="50800" lIns="50800" bIns="50800" rIns="50800"/>
            <a:lstStyle/>
            <a:p>
              <a:pPr algn="ctr">
                <a:lnSpc>
                  <a:spcPts val="1620"/>
                </a:lnSpc>
              </a:pPr>
            </a:p>
          </p:txBody>
        </p:sp>
      </p:grpSp>
      <p:grpSp>
        <p:nvGrpSpPr>
          <p:cNvPr name="Group 12" id="12"/>
          <p:cNvGrpSpPr/>
          <p:nvPr/>
        </p:nvGrpSpPr>
        <p:grpSpPr>
          <a:xfrm rot="0">
            <a:off x="16772873" y="7213249"/>
            <a:ext cx="1215571" cy="12155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14" id="14"/>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15" id="15"/>
          <p:cNvGrpSpPr/>
          <p:nvPr/>
        </p:nvGrpSpPr>
        <p:grpSpPr>
          <a:xfrm rot="0">
            <a:off x="15976646" y="155750"/>
            <a:ext cx="1427910" cy="142791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17" id="1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8" id="18"/>
          <p:cNvGrpSpPr/>
          <p:nvPr/>
        </p:nvGrpSpPr>
        <p:grpSpPr>
          <a:xfrm rot="-5400000">
            <a:off x="-4408542" y="4408542"/>
            <a:ext cx="10287000" cy="1469916"/>
            <a:chOff x="0" y="0"/>
            <a:chExt cx="2709333" cy="387138"/>
          </a:xfrm>
        </p:grpSpPr>
        <p:sp>
          <p:nvSpPr>
            <p:cNvPr name="Freeform 19" id="19"/>
            <p:cNvSpPr/>
            <p:nvPr/>
          </p:nvSpPr>
          <p:spPr>
            <a:xfrm flipH="false" flipV="false" rot="0">
              <a:off x="0" y="0"/>
              <a:ext cx="2709333" cy="387138"/>
            </a:xfrm>
            <a:custGeom>
              <a:avLst/>
              <a:gdLst/>
              <a:ahLst/>
              <a:cxnLst/>
              <a:rect r="r" b="b" t="t" l="l"/>
              <a:pathLst>
                <a:path h="387138" w="2709333">
                  <a:moveTo>
                    <a:pt x="75259" y="0"/>
                  </a:moveTo>
                  <a:lnTo>
                    <a:pt x="2634074" y="0"/>
                  </a:lnTo>
                  <a:cubicBezTo>
                    <a:pt x="2675639" y="0"/>
                    <a:pt x="2709333" y="33695"/>
                    <a:pt x="2709333" y="75259"/>
                  </a:cubicBezTo>
                  <a:lnTo>
                    <a:pt x="2709333" y="311879"/>
                  </a:lnTo>
                  <a:cubicBezTo>
                    <a:pt x="2709333" y="353444"/>
                    <a:pt x="2675639" y="387138"/>
                    <a:pt x="2634074" y="387138"/>
                  </a:cubicBezTo>
                  <a:lnTo>
                    <a:pt x="75259" y="387138"/>
                  </a:lnTo>
                  <a:cubicBezTo>
                    <a:pt x="33695" y="387138"/>
                    <a:pt x="0" y="353444"/>
                    <a:pt x="0" y="311879"/>
                  </a:cubicBezTo>
                  <a:lnTo>
                    <a:pt x="0" y="75259"/>
                  </a:lnTo>
                  <a:cubicBezTo>
                    <a:pt x="0" y="33695"/>
                    <a:pt x="33695" y="0"/>
                    <a:pt x="75259"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0" id="20"/>
            <p:cNvSpPr txBox="true"/>
            <p:nvPr/>
          </p:nvSpPr>
          <p:spPr>
            <a:xfrm>
              <a:off x="0" y="-38100"/>
              <a:ext cx="2709333" cy="425238"/>
            </a:xfrm>
            <a:prstGeom prst="rect">
              <a:avLst/>
            </a:prstGeom>
          </p:spPr>
          <p:txBody>
            <a:bodyPr anchor="ctr" rtlCol="false" tIns="50800" lIns="50800" bIns="50800" rIns="50800"/>
            <a:lstStyle/>
            <a:p>
              <a:pPr algn="ctr" marL="0" indent="0" lvl="0">
                <a:lnSpc>
                  <a:spcPts val="2659"/>
                </a:lnSpc>
              </a:pPr>
            </a:p>
          </p:txBody>
        </p:sp>
      </p:grpSp>
      <p:grpSp>
        <p:nvGrpSpPr>
          <p:cNvPr name="Group 21" id="21"/>
          <p:cNvGrpSpPr/>
          <p:nvPr/>
        </p:nvGrpSpPr>
        <p:grpSpPr>
          <a:xfrm rot="0">
            <a:off x="2257890" y="9271213"/>
            <a:ext cx="626973" cy="62697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3" id="23"/>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24" id="24"/>
          <p:cNvGrpSpPr/>
          <p:nvPr/>
        </p:nvGrpSpPr>
        <p:grpSpPr>
          <a:xfrm rot="0">
            <a:off x="368456" y="350702"/>
            <a:ext cx="2202920" cy="2211457"/>
            <a:chOff x="0" y="0"/>
            <a:chExt cx="732060" cy="734897"/>
          </a:xfrm>
        </p:grpSpPr>
        <p:sp>
          <p:nvSpPr>
            <p:cNvPr name="Freeform 25" id="25"/>
            <p:cNvSpPr/>
            <p:nvPr/>
          </p:nvSpPr>
          <p:spPr>
            <a:xfrm flipH="false" flipV="false" rot="0">
              <a:off x="0" y="0"/>
              <a:ext cx="732060" cy="734897"/>
            </a:xfrm>
            <a:custGeom>
              <a:avLst/>
              <a:gdLst/>
              <a:ahLst/>
              <a:cxnLst/>
              <a:rect r="r" b="b" t="t" l="l"/>
              <a:pathLst>
                <a:path h="734897" w="732060">
                  <a:moveTo>
                    <a:pt x="366030" y="0"/>
                  </a:moveTo>
                  <a:cubicBezTo>
                    <a:pt x="163877" y="0"/>
                    <a:pt x="0" y="164512"/>
                    <a:pt x="0" y="367448"/>
                  </a:cubicBezTo>
                  <a:cubicBezTo>
                    <a:pt x="0" y="570384"/>
                    <a:pt x="163877" y="734897"/>
                    <a:pt x="366030" y="734897"/>
                  </a:cubicBezTo>
                  <a:cubicBezTo>
                    <a:pt x="568183" y="734897"/>
                    <a:pt x="732060" y="570384"/>
                    <a:pt x="732060" y="367448"/>
                  </a:cubicBezTo>
                  <a:cubicBezTo>
                    <a:pt x="732060" y="164512"/>
                    <a:pt x="568183" y="0"/>
                    <a:pt x="36603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6" id="26"/>
            <p:cNvSpPr txBox="true"/>
            <p:nvPr/>
          </p:nvSpPr>
          <p:spPr>
            <a:xfrm>
              <a:off x="68631" y="87947"/>
              <a:ext cx="594799" cy="578054"/>
            </a:xfrm>
            <a:prstGeom prst="rect">
              <a:avLst/>
            </a:prstGeom>
          </p:spPr>
          <p:txBody>
            <a:bodyPr anchor="ctr" rtlCol="false" tIns="50800" lIns="50800" bIns="50800" rIns="50800"/>
            <a:lstStyle/>
            <a:p>
              <a:pPr algn="ctr">
                <a:lnSpc>
                  <a:spcPts val="2859"/>
                </a:lnSpc>
              </a:pPr>
            </a:p>
          </p:txBody>
        </p:sp>
      </p:grpSp>
      <p:grpSp>
        <p:nvGrpSpPr>
          <p:cNvPr name="Group 27" id="27"/>
          <p:cNvGrpSpPr/>
          <p:nvPr/>
        </p:nvGrpSpPr>
        <p:grpSpPr>
          <a:xfrm rot="0">
            <a:off x="14884825" y="350702"/>
            <a:ext cx="519003" cy="51900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9" id="29"/>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30" id="30"/>
          <p:cNvGrpSpPr/>
          <p:nvPr/>
        </p:nvGrpSpPr>
        <p:grpSpPr>
          <a:xfrm rot="0">
            <a:off x="564961" y="577562"/>
            <a:ext cx="1809910" cy="1757737"/>
            <a:chOff x="0" y="0"/>
            <a:chExt cx="2413213" cy="2343649"/>
          </a:xfrm>
        </p:grpSpPr>
        <p:grpSp>
          <p:nvGrpSpPr>
            <p:cNvPr name="Group 31" id="31"/>
            <p:cNvGrpSpPr/>
            <p:nvPr/>
          </p:nvGrpSpPr>
          <p:grpSpPr>
            <a:xfrm rot="0">
              <a:off x="0" y="0"/>
              <a:ext cx="2413213" cy="2343649"/>
              <a:chOff x="0" y="0"/>
              <a:chExt cx="812800" cy="789370"/>
            </a:xfrm>
          </p:grpSpPr>
          <p:sp>
            <p:nvSpPr>
              <p:cNvPr name="Freeform 32" id="32"/>
              <p:cNvSpPr/>
              <p:nvPr/>
            </p:nvSpPr>
            <p:spPr>
              <a:xfrm flipH="false" flipV="false" rot="0">
                <a:off x="0" y="0"/>
                <a:ext cx="812800" cy="789370"/>
              </a:xfrm>
              <a:custGeom>
                <a:avLst/>
                <a:gdLst/>
                <a:ahLst/>
                <a:cxnLst/>
                <a:rect r="r" b="b" t="t" l="l"/>
                <a:pathLst>
                  <a:path h="789370" w="812800">
                    <a:moveTo>
                      <a:pt x="406400" y="0"/>
                    </a:moveTo>
                    <a:cubicBezTo>
                      <a:pt x="181951" y="0"/>
                      <a:pt x="0" y="176706"/>
                      <a:pt x="0" y="394685"/>
                    </a:cubicBezTo>
                    <a:cubicBezTo>
                      <a:pt x="0" y="612664"/>
                      <a:pt x="181951" y="789370"/>
                      <a:pt x="406400" y="789370"/>
                    </a:cubicBezTo>
                    <a:cubicBezTo>
                      <a:pt x="630849" y="789370"/>
                      <a:pt x="812800" y="612664"/>
                      <a:pt x="812800" y="394685"/>
                    </a:cubicBezTo>
                    <a:cubicBezTo>
                      <a:pt x="812800" y="176706"/>
                      <a:pt x="630849" y="0"/>
                      <a:pt x="406400" y="0"/>
                    </a:cubicBezTo>
                    <a:close/>
                  </a:path>
                </a:pathLst>
              </a:custGeom>
              <a:gradFill rotWithShape="true">
                <a:gsLst>
                  <a:gs pos="0">
                    <a:srgbClr val="F8F2EC">
                      <a:alpha val="100000"/>
                    </a:srgbClr>
                  </a:gs>
                  <a:gs pos="100000">
                    <a:srgbClr val="B2977C">
                      <a:alpha val="100000"/>
                    </a:srgbClr>
                  </a:gs>
                </a:gsLst>
                <a:lin ang="2700000"/>
              </a:gradFill>
              <a:ln cap="sq">
                <a:noFill/>
                <a:prstDash val="solid"/>
                <a:miter/>
              </a:ln>
            </p:spPr>
          </p:sp>
          <p:sp>
            <p:nvSpPr>
              <p:cNvPr name="TextBox 33" id="33"/>
              <p:cNvSpPr txBox="true"/>
              <p:nvPr/>
            </p:nvSpPr>
            <p:spPr>
              <a:xfrm>
                <a:off x="76200" y="35903"/>
                <a:ext cx="660400" cy="679463"/>
              </a:xfrm>
              <a:prstGeom prst="rect">
                <a:avLst/>
              </a:prstGeom>
            </p:spPr>
            <p:txBody>
              <a:bodyPr anchor="ctr" rtlCol="false" tIns="89620" lIns="89620" bIns="89620" rIns="89620"/>
              <a:lstStyle/>
              <a:p>
                <a:pPr algn="ctr">
                  <a:lnSpc>
                    <a:spcPts val="2659"/>
                  </a:lnSpc>
                </a:pPr>
              </a:p>
            </p:txBody>
          </p:sp>
        </p:grpSp>
        <p:sp>
          <p:nvSpPr>
            <p:cNvPr name="TextBox 34" id="34"/>
            <p:cNvSpPr txBox="true"/>
            <p:nvPr/>
          </p:nvSpPr>
          <p:spPr>
            <a:xfrm rot="0">
              <a:off x="542298" y="543113"/>
              <a:ext cx="1328616" cy="1352672"/>
            </a:xfrm>
            <a:prstGeom prst="rect">
              <a:avLst/>
            </a:prstGeom>
          </p:spPr>
          <p:txBody>
            <a:bodyPr anchor="t" rtlCol="false" tIns="0" lIns="0" bIns="0" rIns="0">
              <a:spAutoFit/>
            </a:bodyPr>
            <a:lstStyle/>
            <a:p>
              <a:pPr algn="ctr" marL="0" indent="0" lvl="0">
                <a:lnSpc>
                  <a:spcPts val="7573"/>
                </a:lnSpc>
              </a:pPr>
              <a:r>
                <a:rPr lang="en-US" b="true" sz="7144" spc="264">
                  <a:solidFill>
                    <a:srgbClr val="000000"/>
                  </a:solidFill>
                  <a:latin typeface="Canva Sans Bold"/>
                  <a:ea typeface="Canva Sans Bold"/>
                  <a:cs typeface="Canva Sans Bold"/>
                  <a:sym typeface="Canva Sans Bold"/>
                </a:rPr>
                <a:t>7</a:t>
              </a:r>
            </a:p>
          </p:txBody>
        </p:sp>
      </p:grpSp>
      <p:grpSp>
        <p:nvGrpSpPr>
          <p:cNvPr name="Group 35" id="35"/>
          <p:cNvGrpSpPr/>
          <p:nvPr/>
        </p:nvGrpSpPr>
        <p:grpSpPr>
          <a:xfrm rot="0">
            <a:off x="15397573" y="9325198"/>
            <a:ext cx="519003" cy="519003"/>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37" id="37"/>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sp>
        <p:nvSpPr>
          <p:cNvPr name="TextBox 38" id="38"/>
          <p:cNvSpPr txBox="true"/>
          <p:nvPr/>
        </p:nvSpPr>
        <p:spPr>
          <a:xfrm rot="0">
            <a:off x="2884863" y="1217861"/>
            <a:ext cx="9983198" cy="524764"/>
          </a:xfrm>
          <a:prstGeom prst="rect">
            <a:avLst/>
          </a:prstGeom>
        </p:spPr>
        <p:txBody>
          <a:bodyPr anchor="t" rtlCol="false" tIns="0" lIns="0" bIns="0" rIns="0">
            <a:spAutoFit/>
          </a:bodyPr>
          <a:lstStyle/>
          <a:p>
            <a:pPr algn="l">
              <a:lnSpc>
                <a:spcPts val="4028"/>
              </a:lnSpc>
              <a:spcBef>
                <a:spcPct val="0"/>
              </a:spcBef>
            </a:pPr>
            <a:r>
              <a:rPr lang="en-US" b="true" sz="3800" i="true" spc="140" u="sng">
                <a:solidFill>
                  <a:srgbClr val="000000"/>
                </a:solidFill>
                <a:latin typeface="Canva Sans Bold Italics"/>
                <a:ea typeface="Canva Sans Bold Italics"/>
                <a:cs typeface="Canva Sans Bold Italics"/>
                <a:sym typeface="Canva Sans Bold Italics"/>
              </a:rPr>
              <a:t>B</a:t>
            </a:r>
            <a:r>
              <a:rPr lang="en-US" b="true" sz="3800" i="true" spc="140" u="sng">
                <a:solidFill>
                  <a:srgbClr val="000000"/>
                </a:solidFill>
                <a:latin typeface="Canva Sans Bold Italics"/>
                <a:ea typeface="Canva Sans Bold Italics"/>
                <a:cs typeface="Canva Sans Bold Italics"/>
                <a:sym typeface="Canva Sans Bold Italics"/>
              </a:rPr>
              <a:t>est Practices: Before You Click</a:t>
            </a:r>
          </a:p>
        </p:txBody>
      </p:sp>
      <p:sp>
        <p:nvSpPr>
          <p:cNvPr name="TextBox 39" id="39"/>
          <p:cNvSpPr txBox="true"/>
          <p:nvPr/>
        </p:nvSpPr>
        <p:spPr>
          <a:xfrm rot="0">
            <a:off x="2374871" y="1971225"/>
            <a:ext cx="14643854" cy="2362200"/>
          </a:xfrm>
          <a:prstGeom prst="rect">
            <a:avLst/>
          </a:prstGeom>
        </p:spPr>
        <p:txBody>
          <a:bodyPr anchor="t" rtlCol="false" tIns="0" lIns="0" bIns="0" rIns="0">
            <a:spAutoFit/>
          </a:bodyPr>
          <a:lstStyle/>
          <a:p>
            <a:pPr algn="l" marL="539751" indent="-269876" lvl="1">
              <a:lnSpc>
                <a:spcPts val="3750"/>
              </a:lnSpc>
              <a:buFont typeface="Arial"/>
              <a:buChar char="•"/>
            </a:pPr>
            <a:r>
              <a:rPr lang="en-US" sz="2500" spc="-50">
                <a:solidFill>
                  <a:srgbClr val="1E1E1E"/>
                </a:solidFill>
                <a:latin typeface="Canva Sans"/>
                <a:ea typeface="Canva Sans"/>
                <a:cs typeface="Canva Sans"/>
                <a:sym typeface="Canva Sans"/>
              </a:rPr>
              <a:t>STO</a:t>
            </a:r>
            <a:r>
              <a:rPr lang="en-US" sz="2500" spc="-50">
                <a:solidFill>
                  <a:srgbClr val="1E1E1E"/>
                </a:solidFill>
                <a:latin typeface="Canva Sans"/>
                <a:ea typeface="Canva Sans"/>
                <a:cs typeface="Canva Sans"/>
                <a:sym typeface="Canva Sans"/>
              </a:rPr>
              <a:t>P — do not react immediately to pressure or urg</a:t>
            </a:r>
            <a:r>
              <a:rPr lang="en-US" sz="2500" spc="-50">
                <a:solidFill>
                  <a:srgbClr val="1E1E1E"/>
                </a:solidFill>
                <a:latin typeface="Canva Sans"/>
                <a:ea typeface="Canva Sans"/>
                <a:cs typeface="Canva Sans"/>
                <a:sym typeface="Canva Sans"/>
              </a:rPr>
              <a:t>ency.</a:t>
            </a:r>
          </a:p>
          <a:p>
            <a:pPr algn="l" marL="539751" indent="-269876" lvl="1">
              <a:lnSpc>
                <a:spcPts val="3750"/>
              </a:lnSpc>
              <a:buFont typeface="Arial"/>
              <a:buChar char="•"/>
            </a:pPr>
            <a:r>
              <a:rPr lang="en-US" sz="2500" spc="-50">
                <a:solidFill>
                  <a:srgbClr val="1E1E1E"/>
                </a:solidFill>
                <a:latin typeface="Canva Sans"/>
                <a:ea typeface="Canva Sans"/>
                <a:cs typeface="Canva Sans"/>
                <a:sym typeface="Canva Sans"/>
              </a:rPr>
              <a:t>CHECK — inspect the sender, domain,</a:t>
            </a:r>
            <a:r>
              <a:rPr lang="en-US" sz="2500" spc="-50">
                <a:solidFill>
                  <a:srgbClr val="1E1E1E"/>
                </a:solidFill>
                <a:latin typeface="Canva Sans"/>
                <a:ea typeface="Canva Sans"/>
                <a:cs typeface="Canva Sans"/>
                <a:sym typeface="Canva Sans"/>
              </a:rPr>
              <a:t> link desti</a:t>
            </a:r>
            <a:r>
              <a:rPr lang="en-US" sz="2500" spc="-50">
                <a:solidFill>
                  <a:srgbClr val="1E1E1E"/>
                </a:solidFill>
                <a:latin typeface="Canva Sans"/>
                <a:ea typeface="Canva Sans"/>
                <a:cs typeface="Canva Sans"/>
                <a:sym typeface="Canva Sans"/>
              </a:rPr>
              <a:t>nation, attachment, and context.</a:t>
            </a:r>
          </a:p>
          <a:p>
            <a:pPr algn="l" marL="539751" indent="-269876" lvl="1">
              <a:lnSpc>
                <a:spcPts val="3750"/>
              </a:lnSpc>
              <a:buFont typeface="Arial"/>
              <a:buChar char="•"/>
            </a:pPr>
            <a:r>
              <a:rPr lang="en-US" sz="2500" spc="-50">
                <a:solidFill>
                  <a:srgbClr val="1E1E1E"/>
                </a:solidFill>
                <a:latin typeface="Canva Sans"/>
                <a:ea typeface="Canva Sans"/>
                <a:cs typeface="Canva Sans"/>
                <a:sym typeface="Canva Sans"/>
              </a:rPr>
              <a:t>VERIFY — contact the person or organization using a trusted channel.</a:t>
            </a:r>
          </a:p>
          <a:p>
            <a:pPr algn="l" marL="539751" indent="-269876" lvl="1">
              <a:lnSpc>
                <a:spcPts val="3750"/>
              </a:lnSpc>
              <a:buFont typeface="Arial"/>
              <a:buChar char="•"/>
            </a:pPr>
            <a:r>
              <a:rPr lang="en-US" sz="2500" spc="-50">
                <a:solidFill>
                  <a:srgbClr val="1E1E1E"/>
                </a:solidFill>
                <a:latin typeface="Canva Sans"/>
                <a:ea typeface="Canva Sans"/>
                <a:cs typeface="Canva Sans"/>
                <a:sym typeface="Canva Sans"/>
              </a:rPr>
              <a:t>PROTECT — use strong unique passwords and enable MFA.</a:t>
            </a:r>
          </a:p>
          <a:p>
            <a:pPr algn="l" marL="539751" indent="-269876" lvl="1">
              <a:lnSpc>
                <a:spcPts val="3750"/>
              </a:lnSpc>
              <a:buFont typeface="Arial"/>
              <a:buChar char="•"/>
            </a:pPr>
            <a:r>
              <a:rPr lang="en-US" sz="2500" spc="-50">
                <a:solidFill>
                  <a:srgbClr val="1E1E1E"/>
                </a:solidFill>
                <a:latin typeface="Canva Sans"/>
                <a:ea typeface="Canva Sans"/>
                <a:cs typeface="Canva Sans"/>
                <a:sym typeface="Canva Sans"/>
              </a:rPr>
              <a:t>REPORT — u</a:t>
            </a:r>
            <a:r>
              <a:rPr lang="en-US" sz="2500" spc="-50">
                <a:solidFill>
                  <a:srgbClr val="1E1E1E"/>
                </a:solidFill>
                <a:latin typeface="Canva Sans"/>
                <a:ea typeface="Canva Sans"/>
                <a:cs typeface="Canva Sans"/>
                <a:sym typeface="Canva Sans"/>
              </a:rPr>
              <a:t>se y</a:t>
            </a:r>
            <a:r>
              <a:rPr lang="en-US" sz="2500" spc="-50">
                <a:solidFill>
                  <a:srgbClr val="1E1E1E"/>
                </a:solidFill>
                <a:latin typeface="Canva Sans"/>
                <a:ea typeface="Canva Sans"/>
                <a:cs typeface="Canva Sans"/>
                <a:sym typeface="Canva Sans"/>
              </a:rPr>
              <a:t>our organization’s reporting process for suspicious messages.</a:t>
            </a:r>
          </a:p>
        </p:txBody>
      </p:sp>
      <p:sp>
        <p:nvSpPr>
          <p:cNvPr name="TextBox 40" id="40"/>
          <p:cNvSpPr txBox="true"/>
          <p:nvPr/>
        </p:nvSpPr>
        <p:spPr>
          <a:xfrm rot="0">
            <a:off x="2590771" y="4913378"/>
            <a:ext cx="9983198" cy="405766"/>
          </a:xfrm>
          <a:prstGeom prst="rect">
            <a:avLst/>
          </a:prstGeom>
        </p:spPr>
        <p:txBody>
          <a:bodyPr anchor="t" rtlCol="false" tIns="0" lIns="0" bIns="0" rIns="0">
            <a:spAutoFit/>
          </a:bodyPr>
          <a:lstStyle/>
          <a:p>
            <a:pPr algn="l">
              <a:lnSpc>
                <a:spcPts val="3180"/>
              </a:lnSpc>
              <a:spcBef>
                <a:spcPct val="0"/>
              </a:spcBef>
            </a:pPr>
            <a:r>
              <a:rPr lang="en-US" b="true" sz="3000" spc="111">
                <a:solidFill>
                  <a:srgbClr val="000000"/>
                </a:solidFill>
                <a:latin typeface="Canva Sans Bold"/>
                <a:ea typeface="Canva Sans Bold"/>
                <a:cs typeface="Canva Sans Bold"/>
                <a:sym typeface="Canva Sans Bold"/>
              </a:rPr>
              <a:t>If Y</a:t>
            </a:r>
            <a:r>
              <a:rPr lang="en-US" b="true" sz="3000" spc="111">
                <a:solidFill>
                  <a:srgbClr val="000000"/>
                </a:solidFill>
                <a:latin typeface="Canva Sans Bold"/>
                <a:ea typeface="Canva Sans Bold"/>
                <a:cs typeface="Canva Sans Bold"/>
                <a:sym typeface="Canva Sans Bold"/>
              </a:rPr>
              <a:t>ou Clicked</a:t>
            </a:r>
            <a:r>
              <a:rPr lang="en-US" b="true" sz="3000" spc="111">
                <a:solidFill>
                  <a:srgbClr val="000000"/>
                </a:solidFill>
                <a:latin typeface="Canva Sans Bold"/>
                <a:ea typeface="Canva Sans Bold"/>
                <a:cs typeface="Canva Sans Bold"/>
                <a:sym typeface="Canva Sans Bold"/>
              </a:rPr>
              <a:t> a Phishing Link</a:t>
            </a:r>
          </a:p>
        </p:txBody>
      </p:sp>
      <p:sp>
        <p:nvSpPr>
          <p:cNvPr name="TextBox 41" id="41"/>
          <p:cNvSpPr txBox="true"/>
          <p:nvPr/>
        </p:nvSpPr>
        <p:spPr>
          <a:xfrm rot="0">
            <a:off x="2590771" y="5462009"/>
            <a:ext cx="15102587" cy="2362200"/>
          </a:xfrm>
          <a:prstGeom prst="rect">
            <a:avLst/>
          </a:prstGeom>
        </p:spPr>
        <p:txBody>
          <a:bodyPr anchor="t" rtlCol="false" tIns="0" lIns="0" bIns="0" rIns="0">
            <a:spAutoFit/>
          </a:bodyPr>
          <a:lstStyle/>
          <a:p>
            <a:pPr algn="l">
              <a:lnSpc>
                <a:spcPts val="3750"/>
              </a:lnSpc>
            </a:pPr>
            <a:r>
              <a:rPr lang="en-US" sz="2500" spc="-50">
                <a:solidFill>
                  <a:srgbClr val="1E1E1E"/>
                </a:solidFill>
                <a:latin typeface="Canva Sans"/>
                <a:ea typeface="Canva Sans"/>
                <a:cs typeface="Canva Sans"/>
                <a:sym typeface="Canva Sans"/>
              </a:rPr>
              <a:t>Do</a:t>
            </a:r>
            <a:r>
              <a:rPr lang="en-US" sz="2500" spc="-50">
                <a:solidFill>
                  <a:srgbClr val="1E1E1E"/>
                </a:solidFill>
                <a:latin typeface="Canva Sans"/>
                <a:ea typeface="Canva Sans"/>
                <a:cs typeface="Canva Sans"/>
                <a:sym typeface="Canva Sans"/>
              </a:rPr>
              <a:t> not continue enteri</a:t>
            </a:r>
            <a:r>
              <a:rPr lang="en-US" sz="2500" spc="-50">
                <a:solidFill>
                  <a:srgbClr val="1E1E1E"/>
                </a:solidFill>
                <a:latin typeface="Canva Sans"/>
                <a:ea typeface="Canva Sans"/>
                <a:cs typeface="Canva Sans"/>
                <a:sym typeface="Canva Sans"/>
              </a:rPr>
              <a:t>ng information</a:t>
            </a:r>
            <a:r>
              <a:rPr lang="en-US" sz="2500" spc="-50">
                <a:solidFill>
                  <a:srgbClr val="1E1E1E"/>
                </a:solidFill>
                <a:latin typeface="Canva Sans"/>
                <a:ea typeface="Canva Sans"/>
                <a:cs typeface="Canva Sans"/>
                <a:sym typeface="Canva Sans"/>
              </a:rPr>
              <a:t> or interacting with the page.</a:t>
            </a:r>
          </a:p>
          <a:p>
            <a:pPr algn="l">
              <a:lnSpc>
                <a:spcPts val="3750"/>
              </a:lnSpc>
            </a:pPr>
            <a:r>
              <a:rPr lang="en-US" sz="2500" spc="-50">
                <a:solidFill>
                  <a:srgbClr val="1E1E1E"/>
                </a:solidFill>
                <a:latin typeface="Canva Sans"/>
                <a:ea typeface="Canva Sans"/>
                <a:cs typeface="Canva Sans"/>
                <a:sym typeface="Canva Sans"/>
              </a:rPr>
              <a:t>If you ente</a:t>
            </a:r>
            <a:r>
              <a:rPr lang="en-US" sz="2500" spc="-50">
                <a:solidFill>
                  <a:srgbClr val="1E1E1E"/>
                </a:solidFill>
                <a:latin typeface="Canva Sans"/>
                <a:ea typeface="Canva Sans"/>
                <a:cs typeface="Canva Sans"/>
                <a:sym typeface="Canva Sans"/>
              </a:rPr>
              <a:t>red a password, change it immediately from a trusted device and review other sessions.</a:t>
            </a:r>
          </a:p>
          <a:p>
            <a:pPr algn="l">
              <a:lnSpc>
                <a:spcPts val="3750"/>
              </a:lnSpc>
            </a:pPr>
            <a:r>
              <a:rPr lang="en-US" sz="2500" spc="-50">
                <a:solidFill>
                  <a:srgbClr val="1E1E1E"/>
                </a:solidFill>
                <a:latin typeface="Canva Sans"/>
                <a:ea typeface="Canva Sans"/>
                <a:cs typeface="Canva Sans"/>
                <a:sym typeface="Canva Sans"/>
              </a:rPr>
              <a:t>If MFA or recovery information may be exposed, review account security settings.</a:t>
            </a:r>
          </a:p>
          <a:p>
            <a:pPr algn="l">
              <a:lnSpc>
                <a:spcPts val="3750"/>
              </a:lnSpc>
            </a:pPr>
            <a:r>
              <a:rPr lang="en-US" sz="2500" spc="-50">
                <a:solidFill>
                  <a:srgbClr val="1E1E1E"/>
                </a:solidFill>
                <a:latin typeface="Canva Sans"/>
                <a:ea typeface="Canva Sans"/>
                <a:cs typeface="Canva Sans"/>
                <a:sym typeface="Canva Sans"/>
              </a:rPr>
              <a:t>Report the incident to the appropriate s</a:t>
            </a:r>
            <a:r>
              <a:rPr lang="en-US" sz="2500" spc="-50">
                <a:solidFill>
                  <a:srgbClr val="1E1E1E"/>
                </a:solidFill>
                <a:latin typeface="Canva Sans"/>
                <a:ea typeface="Canva Sans"/>
                <a:cs typeface="Canva Sans"/>
                <a:sym typeface="Canva Sans"/>
              </a:rPr>
              <a:t>ecurity/suppor</a:t>
            </a:r>
            <a:r>
              <a:rPr lang="en-US" sz="2500" spc="-50">
                <a:solidFill>
                  <a:srgbClr val="1E1E1E"/>
                </a:solidFill>
                <a:latin typeface="Canva Sans"/>
                <a:ea typeface="Canva Sans"/>
                <a:cs typeface="Canva Sans"/>
                <a:sym typeface="Canva Sans"/>
              </a:rPr>
              <a:t>t team.</a:t>
            </a:r>
          </a:p>
          <a:p>
            <a:pPr algn="l">
              <a:lnSpc>
                <a:spcPts val="3750"/>
              </a:lnSpc>
            </a:pPr>
            <a:r>
              <a:rPr lang="en-US" sz="2500" spc="-50">
                <a:solidFill>
                  <a:srgbClr val="1E1E1E"/>
                </a:solidFill>
                <a:latin typeface="Canva Sans"/>
                <a:ea typeface="Canva Sans"/>
                <a:cs typeface="Canva Sans"/>
                <a:sym typeface="Canva Sans"/>
              </a:rPr>
              <a:t>If financial information was exposed, contact the relevant financial institution promptly.</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p:cSld>
    <p:bg>
      <p:bgPr>
        <a:gradFill rotWithShape="true">
          <a:gsLst>
            <a:gs pos="0">
              <a:srgbClr val="FFFFFF">
                <a:alpha val="100000"/>
              </a:srgbClr>
            </a:gs>
            <a:gs pos="50000">
              <a:srgbClr val="FFFFFF">
                <a:alpha val="100000"/>
              </a:srgbClr>
            </a:gs>
            <a:gs pos="100000">
              <a:srgbClr val="ECF5FE">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0" y="9565"/>
            <a:ext cx="18288000" cy="10277435"/>
            <a:chOff x="0" y="0"/>
            <a:chExt cx="24384000" cy="13703246"/>
          </a:xfrm>
        </p:grpSpPr>
        <p:grpSp>
          <p:nvGrpSpPr>
            <p:cNvPr name="Group 3" id="3"/>
            <p:cNvGrpSpPr/>
            <p:nvPr/>
          </p:nvGrpSpPr>
          <p:grpSpPr>
            <a:xfrm rot="0">
              <a:off x="0" y="0"/>
              <a:ext cx="24384000" cy="13703246"/>
              <a:chOff x="0" y="0"/>
              <a:chExt cx="4596479" cy="2583115"/>
            </a:xfrm>
          </p:grpSpPr>
          <p:sp>
            <p:nvSpPr>
              <p:cNvPr name="Freeform 4" id="4"/>
              <p:cNvSpPr/>
              <p:nvPr/>
            </p:nvSpPr>
            <p:spPr>
              <a:xfrm flipH="false" flipV="false" rot="0">
                <a:off x="0" y="0"/>
                <a:ext cx="4596479" cy="2583115"/>
              </a:xfrm>
              <a:custGeom>
                <a:avLst/>
                <a:gdLst/>
                <a:ahLst/>
                <a:cxnLst/>
                <a:rect r="r" b="b" t="t" l="l"/>
                <a:pathLst>
                  <a:path h="2583115" w="4596479">
                    <a:moveTo>
                      <a:pt x="4517061" y="0"/>
                    </a:moveTo>
                    <a:lnTo>
                      <a:pt x="79418" y="0"/>
                    </a:lnTo>
                    <a:cubicBezTo>
                      <a:pt x="79418" y="43699"/>
                      <a:pt x="44079" y="79418"/>
                      <a:pt x="0" y="79418"/>
                    </a:cubicBezTo>
                    <a:lnTo>
                      <a:pt x="0" y="2503697"/>
                    </a:lnTo>
                    <a:cubicBezTo>
                      <a:pt x="43699" y="2503697"/>
                      <a:pt x="79418" y="2539036"/>
                      <a:pt x="79418" y="2583115"/>
                    </a:cubicBezTo>
                    <a:lnTo>
                      <a:pt x="4517061" y="2583115"/>
                    </a:lnTo>
                    <a:cubicBezTo>
                      <a:pt x="4517061" y="2539416"/>
                      <a:pt x="4552400" y="2503697"/>
                      <a:pt x="4596479" y="2503697"/>
                    </a:cubicBezTo>
                    <a:lnTo>
                      <a:pt x="4596479" y="79418"/>
                    </a:lnTo>
                    <a:cubicBezTo>
                      <a:pt x="4552780" y="79418"/>
                      <a:pt x="4517061" y="44079"/>
                      <a:pt x="4517061" y="0"/>
                    </a:cubicBezTo>
                    <a:close/>
                  </a:path>
                </a:pathLst>
              </a:custGeom>
              <a:ln w="9525" cap="sq">
                <a:solidFill>
                  <a:srgbClr val="C29C84"/>
                </a:solidFill>
                <a:prstDash val="solid"/>
                <a:miter/>
              </a:ln>
            </p:spPr>
          </p:sp>
          <p:sp>
            <p:nvSpPr>
              <p:cNvPr name="TextBox 5" id="5"/>
              <p:cNvSpPr txBox="true"/>
              <p:nvPr/>
            </p:nvSpPr>
            <p:spPr>
              <a:xfrm>
                <a:off x="38100" y="-9525"/>
                <a:ext cx="4520279" cy="2554540"/>
              </a:xfrm>
              <a:prstGeom prst="rect">
                <a:avLst/>
              </a:prstGeom>
            </p:spPr>
            <p:txBody>
              <a:bodyPr anchor="ctr" rtlCol="false" tIns="50800" lIns="50800" bIns="50800" rIns="50800"/>
              <a:lstStyle/>
              <a:p>
                <a:pPr algn="ctr">
                  <a:lnSpc>
                    <a:spcPts val="2660"/>
                  </a:lnSpc>
                </a:pPr>
              </a:p>
            </p:txBody>
          </p:sp>
        </p:grpSp>
        <p:grpSp>
          <p:nvGrpSpPr>
            <p:cNvPr name="Group 6" id="6"/>
            <p:cNvGrpSpPr/>
            <p:nvPr/>
          </p:nvGrpSpPr>
          <p:grpSpPr>
            <a:xfrm rot="0">
              <a:off x="178937" y="207890"/>
              <a:ext cx="23995525" cy="13287466"/>
              <a:chOff x="0" y="0"/>
              <a:chExt cx="4596479" cy="2545290"/>
            </a:xfrm>
          </p:grpSpPr>
          <p:sp>
            <p:nvSpPr>
              <p:cNvPr name="Freeform 7" id="7"/>
              <p:cNvSpPr/>
              <p:nvPr/>
            </p:nvSpPr>
            <p:spPr>
              <a:xfrm flipH="false" flipV="false" rot="0">
                <a:off x="0" y="0"/>
                <a:ext cx="4596479" cy="2545290"/>
              </a:xfrm>
              <a:custGeom>
                <a:avLst/>
                <a:gdLst/>
                <a:ahLst/>
                <a:cxnLst/>
                <a:rect r="r" b="b" t="t" l="l"/>
                <a:pathLst>
                  <a:path h="2545290" w="4596479">
                    <a:moveTo>
                      <a:pt x="4517061" y="0"/>
                    </a:moveTo>
                    <a:lnTo>
                      <a:pt x="79418" y="0"/>
                    </a:lnTo>
                    <a:cubicBezTo>
                      <a:pt x="79418" y="43699"/>
                      <a:pt x="44079" y="79418"/>
                      <a:pt x="0" y="79418"/>
                    </a:cubicBezTo>
                    <a:lnTo>
                      <a:pt x="0" y="2465872"/>
                    </a:lnTo>
                    <a:cubicBezTo>
                      <a:pt x="43699" y="2465872"/>
                      <a:pt x="79418" y="2501211"/>
                      <a:pt x="79418" y="2545290"/>
                    </a:cubicBezTo>
                    <a:lnTo>
                      <a:pt x="4517061" y="2545290"/>
                    </a:lnTo>
                    <a:cubicBezTo>
                      <a:pt x="4517061" y="2501590"/>
                      <a:pt x="4552400" y="2465872"/>
                      <a:pt x="4596479" y="2465872"/>
                    </a:cubicBezTo>
                    <a:lnTo>
                      <a:pt x="4596479" y="79418"/>
                    </a:lnTo>
                    <a:cubicBezTo>
                      <a:pt x="4552780" y="79418"/>
                      <a:pt x="4517061" y="44079"/>
                      <a:pt x="4517061" y="0"/>
                    </a:cubicBezTo>
                    <a:close/>
                  </a:path>
                </a:pathLst>
              </a:custGeom>
              <a:solidFill>
                <a:srgbClr val="F8F2EC"/>
              </a:solidFill>
              <a:ln w="9525" cap="sq">
                <a:solidFill>
                  <a:srgbClr val="C29C84"/>
                </a:solidFill>
                <a:prstDash val="solid"/>
                <a:miter/>
              </a:ln>
            </p:spPr>
          </p:sp>
          <p:sp>
            <p:nvSpPr>
              <p:cNvPr name="TextBox 8" id="8"/>
              <p:cNvSpPr txBox="true"/>
              <p:nvPr/>
            </p:nvSpPr>
            <p:spPr>
              <a:xfrm>
                <a:off x="38100" y="-9525"/>
                <a:ext cx="4520279" cy="2516715"/>
              </a:xfrm>
              <a:prstGeom prst="rect">
                <a:avLst/>
              </a:prstGeom>
            </p:spPr>
            <p:txBody>
              <a:bodyPr anchor="ctr" rtlCol="false" tIns="50800" lIns="50800" bIns="50800" rIns="50800"/>
              <a:lstStyle/>
              <a:p>
                <a:pPr algn="ctr">
                  <a:lnSpc>
                    <a:spcPts val="2660"/>
                  </a:lnSpc>
                </a:pPr>
              </a:p>
            </p:txBody>
          </p:sp>
        </p:grpSp>
      </p:grpSp>
      <p:grpSp>
        <p:nvGrpSpPr>
          <p:cNvPr name="Group 9" id="9"/>
          <p:cNvGrpSpPr/>
          <p:nvPr/>
        </p:nvGrpSpPr>
        <p:grpSpPr>
          <a:xfrm rot="0">
            <a:off x="1288202" y="677425"/>
            <a:ext cx="16405157" cy="9053461"/>
            <a:chOff x="0" y="0"/>
            <a:chExt cx="4320700" cy="2384451"/>
          </a:xfrm>
        </p:grpSpPr>
        <p:sp>
          <p:nvSpPr>
            <p:cNvPr name="Freeform 10" id="10"/>
            <p:cNvSpPr/>
            <p:nvPr/>
          </p:nvSpPr>
          <p:spPr>
            <a:xfrm flipH="false" flipV="false" rot="0">
              <a:off x="0" y="0"/>
              <a:ext cx="4320700" cy="2384451"/>
            </a:xfrm>
            <a:custGeom>
              <a:avLst/>
              <a:gdLst/>
              <a:ahLst/>
              <a:cxnLst/>
              <a:rect r="r" b="b" t="t" l="l"/>
              <a:pathLst>
                <a:path h="2384451" w="4320700">
                  <a:moveTo>
                    <a:pt x="24068" y="0"/>
                  </a:moveTo>
                  <a:lnTo>
                    <a:pt x="4296632" y="0"/>
                  </a:lnTo>
                  <a:cubicBezTo>
                    <a:pt x="4309924" y="0"/>
                    <a:pt x="4320700" y="10776"/>
                    <a:pt x="4320700" y="24068"/>
                  </a:cubicBezTo>
                  <a:lnTo>
                    <a:pt x="4320700" y="2360383"/>
                  </a:lnTo>
                  <a:cubicBezTo>
                    <a:pt x="4320700" y="2373675"/>
                    <a:pt x="4309924" y="2384451"/>
                    <a:pt x="4296632" y="2384451"/>
                  </a:cubicBezTo>
                  <a:lnTo>
                    <a:pt x="24068" y="2384451"/>
                  </a:lnTo>
                  <a:cubicBezTo>
                    <a:pt x="10776" y="2384451"/>
                    <a:pt x="0" y="2373675"/>
                    <a:pt x="0" y="2360383"/>
                  </a:cubicBezTo>
                  <a:lnTo>
                    <a:pt x="0" y="24068"/>
                  </a:lnTo>
                  <a:cubicBezTo>
                    <a:pt x="0" y="10776"/>
                    <a:pt x="10776" y="0"/>
                    <a:pt x="24068"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a:ln w="19050" cap="rnd">
              <a:solidFill>
                <a:srgbClr val="000000"/>
              </a:solidFill>
              <a:prstDash val="solid"/>
              <a:round/>
            </a:ln>
          </p:spPr>
        </p:sp>
        <p:sp>
          <p:nvSpPr>
            <p:cNvPr name="TextBox 11" id="11"/>
            <p:cNvSpPr txBox="true"/>
            <p:nvPr/>
          </p:nvSpPr>
          <p:spPr>
            <a:xfrm>
              <a:off x="0" y="47625"/>
              <a:ext cx="4320700" cy="2336826"/>
            </a:xfrm>
            <a:prstGeom prst="rect">
              <a:avLst/>
            </a:prstGeom>
          </p:spPr>
          <p:txBody>
            <a:bodyPr anchor="ctr" rtlCol="false" tIns="50800" lIns="50800" bIns="50800" rIns="50800"/>
            <a:lstStyle/>
            <a:p>
              <a:pPr algn="ctr">
                <a:lnSpc>
                  <a:spcPts val="1620"/>
                </a:lnSpc>
              </a:pPr>
            </a:p>
          </p:txBody>
        </p:sp>
      </p:grpSp>
      <p:grpSp>
        <p:nvGrpSpPr>
          <p:cNvPr name="Group 12" id="12"/>
          <p:cNvGrpSpPr/>
          <p:nvPr/>
        </p:nvGrpSpPr>
        <p:grpSpPr>
          <a:xfrm rot="0">
            <a:off x="17259300" y="7698683"/>
            <a:ext cx="730138" cy="73013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14" id="14"/>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15" id="15"/>
          <p:cNvGrpSpPr/>
          <p:nvPr/>
        </p:nvGrpSpPr>
        <p:grpSpPr>
          <a:xfrm rot="0">
            <a:off x="15976646" y="155750"/>
            <a:ext cx="1427910" cy="142791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17" id="1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8" id="18"/>
          <p:cNvGrpSpPr/>
          <p:nvPr/>
        </p:nvGrpSpPr>
        <p:grpSpPr>
          <a:xfrm rot="0">
            <a:off x="2257890" y="9271213"/>
            <a:ext cx="626973" cy="62697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0" id="2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21" id="21"/>
          <p:cNvGrpSpPr/>
          <p:nvPr/>
        </p:nvGrpSpPr>
        <p:grpSpPr>
          <a:xfrm rot="0">
            <a:off x="222976" y="350702"/>
            <a:ext cx="2202920" cy="2211457"/>
            <a:chOff x="0" y="0"/>
            <a:chExt cx="732060" cy="734897"/>
          </a:xfrm>
        </p:grpSpPr>
        <p:sp>
          <p:nvSpPr>
            <p:cNvPr name="Freeform 22" id="22"/>
            <p:cNvSpPr/>
            <p:nvPr/>
          </p:nvSpPr>
          <p:spPr>
            <a:xfrm flipH="false" flipV="false" rot="0">
              <a:off x="0" y="0"/>
              <a:ext cx="732060" cy="734897"/>
            </a:xfrm>
            <a:custGeom>
              <a:avLst/>
              <a:gdLst/>
              <a:ahLst/>
              <a:cxnLst/>
              <a:rect r="r" b="b" t="t" l="l"/>
              <a:pathLst>
                <a:path h="734897" w="732060">
                  <a:moveTo>
                    <a:pt x="366030" y="0"/>
                  </a:moveTo>
                  <a:cubicBezTo>
                    <a:pt x="163877" y="0"/>
                    <a:pt x="0" y="164512"/>
                    <a:pt x="0" y="367448"/>
                  </a:cubicBezTo>
                  <a:cubicBezTo>
                    <a:pt x="0" y="570384"/>
                    <a:pt x="163877" y="734897"/>
                    <a:pt x="366030" y="734897"/>
                  </a:cubicBezTo>
                  <a:cubicBezTo>
                    <a:pt x="568183" y="734897"/>
                    <a:pt x="732060" y="570384"/>
                    <a:pt x="732060" y="367448"/>
                  </a:cubicBezTo>
                  <a:cubicBezTo>
                    <a:pt x="732060" y="164512"/>
                    <a:pt x="568183" y="0"/>
                    <a:pt x="36603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3" id="23"/>
            <p:cNvSpPr txBox="true"/>
            <p:nvPr/>
          </p:nvSpPr>
          <p:spPr>
            <a:xfrm>
              <a:off x="68631" y="87947"/>
              <a:ext cx="594799" cy="578054"/>
            </a:xfrm>
            <a:prstGeom prst="rect">
              <a:avLst/>
            </a:prstGeom>
          </p:spPr>
          <p:txBody>
            <a:bodyPr anchor="ctr" rtlCol="false" tIns="50800" lIns="50800" bIns="50800" rIns="50800"/>
            <a:lstStyle/>
            <a:p>
              <a:pPr algn="ctr">
                <a:lnSpc>
                  <a:spcPts val="2859"/>
                </a:lnSpc>
              </a:pPr>
            </a:p>
          </p:txBody>
        </p:sp>
      </p:grpSp>
      <p:sp>
        <p:nvSpPr>
          <p:cNvPr name="TextBox 24" id="24"/>
          <p:cNvSpPr txBox="true"/>
          <p:nvPr/>
        </p:nvSpPr>
        <p:spPr>
          <a:xfrm rot="0">
            <a:off x="2884863" y="1908628"/>
            <a:ext cx="6886110" cy="6382512"/>
          </a:xfrm>
          <a:prstGeom prst="rect">
            <a:avLst/>
          </a:prstGeom>
        </p:spPr>
        <p:txBody>
          <a:bodyPr anchor="t" rtlCol="false" tIns="0" lIns="0" bIns="0" rIns="0">
            <a:spAutoFit/>
          </a:bodyPr>
          <a:lstStyle/>
          <a:p>
            <a:pPr algn="just">
              <a:lnSpc>
                <a:spcPts val="1802"/>
              </a:lnSpc>
            </a:pPr>
            <a:r>
              <a:rPr lang="en-US" b="true" sz="1700" spc="62">
                <a:solidFill>
                  <a:srgbClr val="000000"/>
                </a:solidFill>
                <a:latin typeface="Roboto Bold"/>
                <a:ea typeface="Roboto Bold"/>
                <a:cs typeface="Roboto Bold"/>
                <a:sym typeface="Roboto Bold"/>
              </a:rPr>
              <a:t>Quest</a:t>
            </a:r>
            <a:r>
              <a:rPr lang="en-US" b="true" sz="1700" spc="62">
                <a:solidFill>
                  <a:srgbClr val="000000"/>
                </a:solidFill>
                <a:latin typeface="Roboto Bold"/>
                <a:ea typeface="Roboto Bold"/>
                <a:cs typeface="Roboto Bold"/>
                <a:sym typeface="Roboto Bold"/>
              </a:rPr>
              <a:t>ion 1</a:t>
            </a:r>
          </a:p>
          <a:p>
            <a:pPr algn="just">
              <a:lnSpc>
                <a:spcPts val="1696"/>
              </a:lnSpc>
            </a:pPr>
            <a:r>
              <a:rPr lang="en-US" sz="1600" spc="59">
                <a:solidFill>
                  <a:srgbClr val="000000"/>
                </a:solidFill>
                <a:latin typeface="Roboto"/>
                <a:ea typeface="Roboto"/>
                <a:cs typeface="Roboto"/>
                <a:sym typeface="Roboto"/>
              </a:rPr>
              <a:t> You receive an urgent email saying your account will be closed in 10 minutes unless you click a link:</a:t>
            </a:r>
          </a:p>
          <a:p>
            <a:pPr algn="just">
              <a:lnSpc>
                <a:spcPts val="1696"/>
              </a:lnSpc>
            </a:pPr>
            <a:r>
              <a:rPr lang="en-US" sz="1600" spc="59">
                <a:solidFill>
                  <a:srgbClr val="000000"/>
                </a:solidFill>
                <a:latin typeface="Roboto"/>
                <a:ea typeface="Roboto"/>
                <a:cs typeface="Roboto"/>
                <a:sym typeface="Roboto"/>
              </a:rPr>
              <a:t> A. Click immediately</a:t>
            </a:r>
          </a:p>
          <a:p>
            <a:pPr algn="just">
              <a:lnSpc>
                <a:spcPts val="1696"/>
              </a:lnSpc>
            </a:pPr>
            <a:r>
              <a:rPr lang="en-US" sz="1600" spc="59">
                <a:solidFill>
                  <a:srgbClr val="000000"/>
                </a:solidFill>
                <a:latin typeface="Roboto"/>
                <a:ea typeface="Roboto"/>
                <a:cs typeface="Roboto"/>
                <a:sym typeface="Roboto"/>
              </a:rPr>
              <a:t> B. Verify the request through the official service</a:t>
            </a:r>
          </a:p>
          <a:p>
            <a:pPr algn="just">
              <a:lnSpc>
                <a:spcPts val="1696"/>
              </a:lnSpc>
            </a:pPr>
            <a:r>
              <a:rPr lang="en-US" sz="1600" spc="59">
                <a:solidFill>
                  <a:srgbClr val="000000"/>
                </a:solidFill>
                <a:latin typeface="Roboto"/>
                <a:ea typeface="Roboto"/>
                <a:cs typeface="Roboto"/>
                <a:sym typeface="Roboto"/>
              </a:rPr>
              <a:t> C. Reply with your password</a:t>
            </a:r>
          </a:p>
          <a:p>
            <a:pPr algn="just">
              <a:lnSpc>
                <a:spcPts val="1696"/>
              </a:lnSpc>
            </a:pPr>
            <a:r>
              <a:rPr lang="en-US" sz="1600" spc="59">
                <a:solidFill>
                  <a:srgbClr val="000000"/>
                </a:solidFill>
                <a:latin typeface="Roboto"/>
                <a:ea typeface="Roboto"/>
                <a:cs typeface="Roboto"/>
                <a:sym typeface="Roboto"/>
              </a:rPr>
              <a:t>Answer: B</a:t>
            </a:r>
          </a:p>
          <a:p>
            <a:pPr algn="just">
              <a:lnSpc>
                <a:spcPts val="1696"/>
              </a:lnSpc>
            </a:pPr>
          </a:p>
          <a:p>
            <a:pPr algn="just">
              <a:lnSpc>
                <a:spcPts val="1802"/>
              </a:lnSpc>
            </a:pPr>
            <a:r>
              <a:rPr lang="en-US" b="true" sz="1700" spc="62">
                <a:solidFill>
                  <a:srgbClr val="000000"/>
                </a:solidFill>
                <a:latin typeface="Roboto Bold"/>
                <a:ea typeface="Roboto Bold"/>
                <a:cs typeface="Roboto Bold"/>
                <a:sym typeface="Roboto Bold"/>
              </a:rPr>
              <a:t>Question 2</a:t>
            </a:r>
          </a:p>
          <a:p>
            <a:pPr algn="just">
              <a:lnSpc>
                <a:spcPts val="1696"/>
              </a:lnSpc>
            </a:pPr>
            <a:r>
              <a:rPr lang="en-US" sz="1600" spc="59">
                <a:solidFill>
                  <a:srgbClr val="000000"/>
                </a:solidFill>
                <a:latin typeface="Roboto"/>
                <a:ea typeface="Roboto"/>
                <a:cs typeface="Roboto"/>
                <a:sym typeface="Roboto"/>
              </a:rPr>
              <a:t> The visible link says company.com, but hovering over it shows a different domain:</a:t>
            </a:r>
          </a:p>
          <a:p>
            <a:pPr algn="just">
              <a:lnSpc>
                <a:spcPts val="1696"/>
              </a:lnSpc>
            </a:pPr>
            <a:r>
              <a:rPr lang="en-US" sz="1600" spc="59">
                <a:solidFill>
                  <a:srgbClr val="000000"/>
                </a:solidFill>
                <a:latin typeface="Roboto"/>
                <a:ea typeface="Roboto"/>
                <a:cs typeface="Roboto"/>
                <a:sym typeface="Roboto"/>
              </a:rPr>
              <a:t> A. Click it</a:t>
            </a:r>
          </a:p>
          <a:p>
            <a:pPr algn="just">
              <a:lnSpc>
                <a:spcPts val="1696"/>
              </a:lnSpc>
            </a:pPr>
            <a:r>
              <a:rPr lang="en-US" sz="1600" spc="59">
                <a:solidFill>
                  <a:srgbClr val="000000"/>
                </a:solidFill>
                <a:latin typeface="Roboto"/>
                <a:ea typeface="Roboto"/>
                <a:cs typeface="Roboto"/>
                <a:sym typeface="Roboto"/>
              </a:rPr>
              <a:t> B. Ignore it and verify independently</a:t>
            </a:r>
          </a:p>
          <a:p>
            <a:pPr algn="just">
              <a:lnSpc>
                <a:spcPts val="1696"/>
              </a:lnSpc>
            </a:pPr>
            <a:r>
              <a:rPr lang="en-US" sz="1600" spc="59">
                <a:solidFill>
                  <a:srgbClr val="000000"/>
                </a:solidFill>
                <a:latin typeface="Roboto"/>
                <a:ea typeface="Roboto"/>
                <a:cs typeface="Roboto"/>
                <a:sym typeface="Roboto"/>
              </a:rPr>
              <a:t> C. Forward it to colleagues</a:t>
            </a:r>
          </a:p>
          <a:p>
            <a:pPr algn="just">
              <a:lnSpc>
                <a:spcPts val="1696"/>
              </a:lnSpc>
            </a:pPr>
            <a:r>
              <a:rPr lang="en-US" sz="1600" spc="59">
                <a:solidFill>
                  <a:srgbClr val="000000"/>
                </a:solidFill>
                <a:latin typeface="Roboto"/>
                <a:ea typeface="Roboto"/>
                <a:cs typeface="Roboto"/>
                <a:sym typeface="Roboto"/>
              </a:rPr>
              <a:t>Answer: B</a:t>
            </a:r>
          </a:p>
          <a:p>
            <a:pPr algn="just">
              <a:lnSpc>
                <a:spcPts val="1696"/>
              </a:lnSpc>
            </a:pPr>
          </a:p>
          <a:p>
            <a:pPr algn="just">
              <a:lnSpc>
                <a:spcPts val="1802"/>
              </a:lnSpc>
            </a:pPr>
            <a:r>
              <a:rPr lang="en-US" b="true" sz="1700" spc="62">
                <a:solidFill>
                  <a:srgbClr val="000000"/>
                </a:solidFill>
                <a:latin typeface="Roboto Bold"/>
                <a:ea typeface="Roboto Bold"/>
                <a:cs typeface="Roboto Bold"/>
                <a:sym typeface="Roboto Bold"/>
              </a:rPr>
              <a:t>Question 3</a:t>
            </a:r>
          </a:p>
          <a:p>
            <a:pPr algn="just">
              <a:lnSpc>
                <a:spcPts val="1696"/>
              </a:lnSpc>
            </a:pPr>
            <a:r>
              <a:rPr lang="en-US" sz="1600" spc="59">
                <a:solidFill>
                  <a:srgbClr val="000000"/>
                </a:solidFill>
                <a:latin typeface="Roboto"/>
                <a:ea typeface="Roboto"/>
                <a:cs typeface="Roboto"/>
                <a:sym typeface="Roboto"/>
              </a:rPr>
              <a:t> Which is a common phishing indicator?</a:t>
            </a:r>
          </a:p>
          <a:p>
            <a:pPr algn="just">
              <a:lnSpc>
                <a:spcPts val="1696"/>
              </a:lnSpc>
            </a:pPr>
            <a:r>
              <a:rPr lang="en-US" sz="1600" spc="59">
                <a:solidFill>
                  <a:srgbClr val="000000"/>
                </a:solidFill>
                <a:latin typeface="Roboto"/>
                <a:ea typeface="Roboto"/>
                <a:cs typeface="Roboto"/>
                <a:sym typeface="Roboto"/>
              </a:rPr>
              <a:t> A. Unexpected urgency</a:t>
            </a:r>
          </a:p>
          <a:p>
            <a:pPr algn="just">
              <a:lnSpc>
                <a:spcPts val="1696"/>
              </a:lnSpc>
            </a:pPr>
            <a:r>
              <a:rPr lang="en-US" sz="1600" spc="59">
                <a:solidFill>
                  <a:srgbClr val="000000"/>
                </a:solidFill>
                <a:latin typeface="Roboto"/>
                <a:ea typeface="Roboto"/>
                <a:cs typeface="Roboto"/>
                <a:sym typeface="Roboto"/>
              </a:rPr>
              <a:t> B. A trusted bookmark you opened yourself</a:t>
            </a:r>
          </a:p>
          <a:p>
            <a:pPr algn="just">
              <a:lnSpc>
                <a:spcPts val="1696"/>
              </a:lnSpc>
            </a:pPr>
            <a:r>
              <a:rPr lang="en-US" sz="1600" spc="59">
                <a:solidFill>
                  <a:srgbClr val="000000"/>
                </a:solidFill>
                <a:latin typeface="Roboto"/>
                <a:ea typeface="Roboto"/>
                <a:cs typeface="Roboto"/>
                <a:sym typeface="Roboto"/>
              </a:rPr>
              <a:t> </a:t>
            </a:r>
            <a:r>
              <a:rPr lang="en-US" sz="1600" spc="59">
                <a:solidFill>
                  <a:srgbClr val="000000"/>
                </a:solidFill>
                <a:latin typeface="Roboto"/>
                <a:ea typeface="Roboto"/>
                <a:cs typeface="Roboto"/>
                <a:sym typeface="Roboto"/>
              </a:rPr>
              <a:t>C. A request you independently confirmed</a:t>
            </a:r>
          </a:p>
          <a:p>
            <a:pPr algn="just">
              <a:lnSpc>
                <a:spcPts val="1696"/>
              </a:lnSpc>
            </a:pPr>
            <a:r>
              <a:rPr lang="en-US" sz="1600" spc="59">
                <a:solidFill>
                  <a:srgbClr val="000000"/>
                </a:solidFill>
                <a:latin typeface="Roboto"/>
                <a:ea typeface="Roboto"/>
                <a:cs typeface="Roboto"/>
                <a:sym typeface="Roboto"/>
              </a:rPr>
              <a:t>Answer: A</a:t>
            </a:r>
          </a:p>
          <a:p>
            <a:pPr algn="just">
              <a:lnSpc>
                <a:spcPts val="1696"/>
              </a:lnSpc>
            </a:pPr>
          </a:p>
          <a:p>
            <a:pPr algn="just">
              <a:lnSpc>
                <a:spcPts val="1802"/>
              </a:lnSpc>
            </a:pPr>
            <a:r>
              <a:rPr lang="en-US" b="true" sz="1700" spc="62">
                <a:solidFill>
                  <a:srgbClr val="000000"/>
                </a:solidFill>
                <a:latin typeface="Roboto Bold"/>
                <a:ea typeface="Roboto Bold"/>
                <a:cs typeface="Roboto Bold"/>
                <a:sym typeface="Roboto Bold"/>
              </a:rPr>
              <a:t>Question 4</a:t>
            </a:r>
          </a:p>
          <a:p>
            <a:pPr algn="just">
              <a:lnSpc>
                <a:spcPts val="1696"/>
              </a:lnSpc>
            </a:pPr>
            <a:r>
              <a:rPr lang="en-US" sz="1600" spc="59">
                <a:solidFill>
                  <a:srgbClr val="000000"/>
                </a:solidFill>
                <a:latin typeface="Roboto"/>
                <a:ea typeface="Roboto"/>
                <a:cs typeface="Roboto"/>
                <a:sym typeface="Roboto"/>
              </a:rPr>
              <a:t> Which action is safest when an email requests sensitive information?</a:t>
            </a:r>
          </a:p>
          <a:p>
            <a:pPr algn="just">
              <a:lnSpc>
                <a:spcPts val="1696"/>
              </a:lnSpc>
            </a:pPr>
            <a:r>
              <a:rPr lang="en-US" sz="1600" spc="59">
                <a:solidFill>
                  <a:srgbClr val="000000"/>
                </a:solidFill>
                <a:latin typeface="Roboto"/>
                <a:ea typeface="Roboto"/>
                <a:cs typeface="Roboto"/>
                <a:sym typeface="Roboto"/>
              </a:rPr>
              <a:t> A. Reply to the email</a:t>
            </a:r>
          </a:p>
          <a:p>
            <a:pPr algn="just">
              <a:lnSpc>
                <a:spcPts val="1696"/>
              </a:lnSpc>
            </a:pPr>
            <a:r>
              <a:rPr lang="en-US" sz="1600" spc="59">
                <a:solidFill>
                  <a:srgbClr val="000000"/>
                </a:solidFill>
                <a:latin typeface="Roboto"/>
                <a:ea typeface="Roboto"/>
                <a:cs typeface="Roboto"/>
                <a:sym typeface="Roboto"/>
              </a:rPr>
              <a:t> B. Use a trusted communication channel to verify the request</a:t>
            </a:r>
          </a:p>
          <a:p>
            <a:pPr algn="just">
              <a:lnSpc>
                <a:spcPts val="1696"/>
              </a:lnSpc>
            </a:pPr>
            <a:r>
              <a:rPr lang="en-US" sz="1600" spc="59">
                <a:solidFill>
                  <a:srgbClr val="000000"/>
                </a:solidFill>
                <a:latin typeface="Roboto"/>
                <a:ea typeface="Roboto"/>
                <a:cs typeface="Roboto"/>
                <a:sym typeface="Roboto"/>
              </a:rPr>
              <a:t> C. Send the information quickly</a:t>
            </a:r>
          </a:p>
          <a:p>
            <a:pPr algn="just">
              <a:lnSpc>
                <a:spcPts val="1696"/>
              </a:lnSpc>
            </a:pPr>
            <a:r>
              <a:rPr lang="en-US" sz="1600" spc="59">
                <a:solidFill>
                  <a:srgbClr val="000000"/>
                </a:solidFill>
                <a:latin typeface="Roboto"/>
                <a:ea typeface="Roboto"/>
                <a:cs typeface="Roboto"/>
                <a:sym typeface="Roboto"/>
              </a:rPr>
              <a:t>Answer: B</a:t>
            </a:r>
          </a:p>
          <a:p>
            <a:pPr algn="just">
              <a:lnSpc>
                <a:spcPts val="1696"/>
              </a:lnSpc>
            </a:pPr>
          </a:p>
        </p:txBody>
      </p:sp>
      <p:grpSp>
        <p:nvGrpSpPr>
          <p:cNvPr name="Group 25" id="25"/>
          <p:cNvGrpSpPr/>
          <p:nvPr/>
        </p:nvGrpSpPr>
        <p:grpSpPr>
          <a:xfrm rot="0">
            <a:off x="14884825" y="350702"/>
            <a:ext cx="519003" cy="51900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7" id="27"/>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28" id="28"/>
          <p:cNvGrpSpPr/>
          <p:nvPr/>
        </p:nvGrpSpPr>
        <p:grpSpPr>
          <a:xfrm rot="0">
            <a:off x="15397573" y="9325198"/>
            <a:ext cx="519003" cy="519003"/>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30" id="30"/>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sp>
        <p:nvSpPr>
          <p:cNvPr name="TextBox 31" id="31"/>
          <p:cNvSpPr txBox="true"/>
          <p:nvPr/>
        </p:nvSpPr>
        <p:spPr>
          <a:xfrm rot="0">
            <a:off x="2884863" y="1217861"/>
            <a:ext cx="9983198" cy="524764"/>
          </a:xfrm>
          <a:prstGeom prst="rect">
            <a:avLst/>
          </a:prstGeom>
        </p:spPr>
        <p:txBody>
          <a:bodyPr anchor="t" rtlCol="false" tIns="0" lIns="0" bIns="0" rIns="0">
            <a:spAutoFit/>
          </a:bodyPr>
          <a:lstStyle/>
          <a:p>
            <a:pPr algn="l">
              <a:lnSpc>
                <a:spcPts val="4028"/>
              </a:lnSpc>
              <a:spcBef>
                <a:spcPct val="0"/>
              </a:spcBef>
            </a:pPr>
            <a:r>
              <a:rPr lang="en-US" b="true" sz="3800" i="true" spc="140" u="sng">
                <a:solidFill>
                  <a:srgbClr val="000000"/>
                </a:solidFill>
                <a:latin typeface="Canva Sans Bold Italics"/>
                <a:ea typeface="Canva Sans Bold Italics"/>
                <a:cs typeface="Canva Sans Bold Italics"/>
                <a:sym typeface="Canva Sans Bold Italics"/>
              </a:rPr>
              <a:t>Phishing Awareness Quiz</a:t>
            </a:r>
          </a:p>
        </p:txBody>
      </p:sp>
      <p:sp>
        <p:nvSpPr>
          <p:cNvPr name="TextBox 32" id="32"/>
          <p:cNvSpPr txBox="true"/>
          <p:nvPr/>
        </p:nvSpPr>
        <p:spPr>
          <a:xfrm rot="0">
            <a:off x="10177267" y="1908628"/>
            <a:ext cx="6886110" cy="5944362"/>
          </a:xfrm>
          <a:prstGeom prst="rect">
            <a:avLst/>
          </a:prstGeom>
        </p:spPr>
        <p:txBody>
          <a:bodyPr anchor="t" rtlCol="false" tIns="0" lIns="0" bIns="0" rIns="0">
            <a:spAutoFit/>
          </a:bodyPr>
          <a:lstStyle/>
          <a:p>
            <a:pPr algn="just">
              <a:lnSpc>
                <a:spcPts val="1802"/>
              </a:lnSpc>
            </a:pPr>
            <a:r>
              <a:rPr lang="en-US" b="true" sz="1700" spc="62">
                <a:solidFill>
                  <a:srgbClr val="000000"/>
                </a:solidFill>
                <a:latin typeface="Roboto Bold"/>
                <a:ea typeface="Roboto Bold"/>
                <a:cs typeface="Roboto Bold"/>
                <a:sym typeface="Roboto Bold"/>
              </a:rPr>
              <a:t>Quest</a:t>
            </a:r>
            <a:r>
              <a:rPr lang="en-US" b="true" sz="1700" spc="62">
                <a:solidFill>
                  <a:srgbClr val="000000"/>
                </a:solidFill>
                <a:latin typeface="Roboto Bold"/>
                <a:ea typeface="Roboto Bold"/>
                <a:cs typeface="Roboto Bold"/>
                <a:sym typeface="Roboto Bold"/>
              </a:rPr>
              <a:t>ion 5</a:t>
            </a:r>
          </a:p>
          <a:p>
            <a:pPr algn="just">
              <a:lnSpc>
                <a:spcPts val="1696"/>
              </a:lnSpc>
            </a:pPr>
            <a:r>
              <a:rPr lang="en-US" sz="1600" spc="59">
                <a:solidFill>
                  <a:srgbClr val="000000"/>
                </a:solidFill>
                <a:latin typeface="Roboto"/>
                <a:ea typeface="Roboto"/>
                <a:cs typeface="Roboto"/>
                <a:sym typeface="Roboto"/>
              </a:rPr>
              <a:t> What should you do after entering a password on a suspected phishing page?</a:t>
            </a:r>
          </a:p>
          <a:p>
            <a:pPr algn="just">
              <a:lnSpc>
                <a:spcPts val="1696"/>
              </a:lnSpc>
            </a:pPr>
            <a:r>
              <a:rPr lang="en-US" sz="1600" spc="59">
                <a:solidFill>
                  <a:srgbClr val="000000"/>
                </a:solidFill>
                <a:latin typeface="Roboto"/>
                <a:ea typeface="Roboto"/>
                <a:cs typeface="Roboto"/>
                <a:sym typeface="Roboto"/>
              </a:rPr>
              <a:t> A. Ignore it</a:t>
            </a:r>
          </a:p>
          <a:p>
            <a:pPr algn="just">
              <a:lnSpc>
                <a:spcPts val="1696"/>
              </a:lnSpc>
            </a:pPr>
            <a:r>
              <a:rPr lang="en-US" sz="1600" spc="59">
                <a:solidFill>
                  <a:srgbClr val="000000"/>
                </a:solidFill>
                <a:latin typeface="Roboto"/>
                <a:ea typeface="Roboto"/>
                <a:cs typeface="Roboto"/>
                <a:sym typeface="Roboto"/>
              </a:rPr>
              <a:t> B. Change the password from a trusted device and report the incident</a:t>
            </a:r>
          </a:p>
          <a:p>
            <a:pPr algn="just">
              <a:lnSpc>
                <a:spcPts val="1696"/>
              </a:lnSpc>
            </a:pPr>
            <a:r>
              <a:rPr lang="en-US" sz="1600" spc="59">
                <a:solidFill>
                  <a:srgbClr val="000000"/>
                </a:solidFill>
                <a:latin typeface="Roboto"/>
                <a:ea typeface="Roboto"/>
                <a:cs typeface="Roboto"/>
                <a:sym typeface="Roboto"/>
              </a:rPr>
              <a:t> C. Send the password to IT by email</a:t>
            </a:r>
          </a:p>
          <a:p>
            <a:pPr algn="just">
              <a:lnSpc>
                <a:spcPts val="1696"/>
              </a:lnSpc>
            </a:pPr>
            <a:r>
              <a:rPr lang="en-US" sz="1600" spc="59">
                <a:solidFill>
                  <a:srgbClr val="000000"/>
                </a:solidFill>
                <a:latin typeface="Roboto"/>
                <a:ea typeface="Roboto"/>
                <a:cs typeface="Roboto"/>
                <a:sym typeface="Roboto"/>
              </a:rPr>
              <a:t>Answer: B</a:t>
            </a:r>
          </a:p>
          <a:p>
            <a:pPr algn="just">
              <a:lnSpc>
                <a:spcPts val="1696"/>
              </a:lnSpc>
            </a:pPr>
          </a:p>
          <a:p>
            <a:pPr algn="just">
              <a:lnSpc>
                <a:spcPts val="1802"/>
              </a:lnSpc>
            </a:pPr>
            <a:r>
              <a:rPr lang="en-US" b="true" sz="1700" spc="62">
                <a:solidFill>
                  <a:srgbClr val="000000"/>
                </a:solidFill>
                <a:latin typeface="Roboto Bold"/>
                <a:ea typeface="Roboto Bold"/>
                <a:cs typeface="Roboto Bold"/>
                <a:sym typeface="Roboto Bold"/>
              </a:rPr>
              <a:t>Question 6 — Smishing</a:t>
            </a:r>
          </a:p>
          <a:p>
            <a:pPr algn="just">
              <a:lnSpc>
                <a:spcPts val="1696"/>
              </a:lnSpc>
            </a:pPr>
            <a:r>
              <a:rPr lang="en-US" sz="1600" spc="59">
                <a:solidFill>
                  <a:srgbClr val="000000"/>
                </a:solidFill>
                <a:latin typeface="Roboto"/>
                <a:ea typeface="Roboto"/>
                <a:cs typeface="Roboto"/>
                <a:sym typeface="Roboto"/>
              </a:rPr>
              <a:t> You receive an SMS saying: “Your bank account will be suspended today. Verify your account immediately by clicking this link.” What should you do?</a:t>
            </a:r>
          </a:p>
          <a:p>
            <a:pPr algn="just">
              <a:lnSpc>
                <a:spcPts val="1696"/>
              </a:lnSpc>
            </a:pPr>
            <a:r>
              <a:rPr lang="en-US" sz="1600" spc="59">
                <a:solidFill>
                  <a:srgbClr val="000000"/>
                </a:solidFill>
                <a:latin typeface="Roboto"/>
                <a:ea typeface="Roboto"/>
                <a:cs typeface="Roboto"/>
                <a:sym typeface="Roboto"/>
              </a:rPr>
              <a:t> A. Click the link immediately</a:t>
            </a:r>
          </a:p>
          <a:p>
            <a:pPr algn="just">
              <a:lnSpc>
                <a:spcPts val="1696"/>
              </a:lnSpc>
            </a:pPr>
            <a:r>
              <a:rPr lang="en-US" sz="1600" spc="59">
                <a:solidFill>
                  <a:srgbClr val="000000"/>
                </a:solidFill>
                <a:latin typeface="Roboto"/>
                <a:ea typeface="Roboto"/>
                <a:cs typeface="Roboto"/>
                <a:sym typeface="Roboto"/>
              </a:rPr>
              <a:t> B. Reply with your banking information</a:t>
            </a:r>
          </a:p>
          <a:p>
            <a:pPr algn="just">
              <a:lnSpc>
                <a:spcPts val="1696"/>
              </a:lnSpc>
            </a:pPr>
            <a:r>
              <a:rPr lang="en-US" sz="1600" spc="59">
                <a:solidFill>
                  <a:srgbClr val="000000"/>
                </a:solidFill>
                <a:latin typeface="Roboto"/>
                <a:ea typeface="Roboto"/>
                <a:cs typeface="Roboto"/>
                <a:sym typeface="Roboto"/>
              </a:rPr>
              <a:t> C. Ignore the message and verify through the bank's official website or app</a:t>
            </a:r>
          </a:p>
          <a:p>
            <a:pPr algn="just">
              <a:lnSpc>
                <a:spcPts val="1696"/>
              </a:lnSpc>
            </a:pPr>
            <a:r>
              <a:rPr lang="en-US" sz="1600" spc="59">
                <a:solidFill>
                  <a:srgbClr val="000000"/>
                </a:solidFill>
                <a:latin typeface="Roboto"/>
                <a:ea typeface="Roboto"/>
                <a:cs typeface="Roboto"/>
                <a:sym typeface="Roboto"/>
              </a:rPr>
              <a:t> D. Forward the SMS to friends</a:t>
            </a:r>
          </a:p>
          <a:p>
            <a:pPr algn="just">
              <a:lnSpc>
                <a:spcPts val="1696"/>
              </a:lnSpc>
            </a:pPr>
            <a:r>
              <a:rPr lang="en-US" sz="1600" spc="59">
                <a:solidFill>
                  <a:srgbClr val="000000"/>
                </a:solidFill>
                <a:latin typeface="Roboto"/>
                <a:ea typeface="Roboto"/>
                <a:cs typeface="Roboto"/>
                <a:sym typeface="Roboto"/>
              </a:rPr>
              <a:t>Answer: C</a:t>
            </a:r>
          </a:p>
          <a:p>
            <a:pPr algn="just">
              <a:lnSpc>
                <a:spcPts val="1696"/>
              </a:lnSpc>
            </a:pPr>
          </a:p>
          <a:p>
            <a:pPr algn="just">
              <a:lnSpc>
                <a:spcPts val="1802"/>
              </a:lnSpc>
            </a:pPr>
            <a:r>
              <a:rPr lang="en-US" b="true" sz="1700" spc="62">
                <a:solidFill>
                  <a:srgbClr val="000000"/>
                </a:solidFill>
                <a:latin typeface="Roboto Bold"/>
                <a:ea typeface="Roboto Bold"/>
                <a:cs typeface="Roboto Bold"/>
                <a:sym typeface="Roboto Bold"/>
              </a:rPr>
              <a:t>Question 7 — Malicious Attachment</a:t>
            </a:r>
          </a:p>
          <a:p>
            <a:pPr algn="just">
              <a:lnSpc>
                <a:spcPts val="1696"/>
              </a:lnSpc>
            </a:pPr>
            <a:r>
              <a:rPr lang="en-US" sz="1600" spc="59">
                <a:solidFill>
                  <a:srgbClr val="000000"/>
                </a:solidFill>
                <a:latin typeface="Roboto"/>
                <a:ea typeface="Roboto"/>
                <a:cs typeface="Roboto"/>
                <a:sym typeface="Roboto"/>
              </a:rPr>
              <a:t> You receive an unexpected email containing an .exe attachment. What is the safest action?</a:t>
            </a:r>
          </a:p>
          <a:p>
            <a:pPr algn="just">
              <a:lnSpc>
                <a:spcPts val="1696"/>
              </a:lnSpc>
            </a:pPr>
            <a:r>
              <a:rPr lang="en-US" sz="1600" spc="59">
                <a:solidFill>
                  <a:srgbClr val="000000"/>
                </a:solidFill>
                <a:latin typeface="Roboto"/>
                <a:ea typeface="Roboto"/>
                <a:cs typeface="Roboto"/>
                <a:sym typeface="Roboto"/>
              </a:rPr>
              <a:t> A. Open it to see what the file contains</a:t>
            </a:r>
          </a:p>
          <a:p>
            <a:pPr algn="just">
              <a:lnSpc>
                <a:spcPts val="1696"/>
              </a:lnSpc>
            </a:pPr>
            <a:r>
              <a:rPr lang="en-US" sz="1600" spc="59">
                <a:solidFill>
                  <a:srgbClr val="000000"/>
                </a:solidFill>
                <a:latin typeface="Roboto"/>
                <a:ea typeface="Roboto"/>
                <a:cs typeface="Roboto"/>
                <a:sym typeface="Roboto"/>
              </a:rPr>
              <a:t> B. Download it and scan it later</a:t>
            </a:r>
          </a:p>
          <a:p>
            <a:pPr algn="just">
              <a:lnSpc>
                <a:spcPts val="1696"/>
              </a:lnSpc>
            </a:pPr>
            <a:r>
              <a:rPr lang="en-US" sz="1600" spc="59">
                <a:solidFill>
                  <a:srgbClr val="000000"/>
                </a:solidFill>
                <a:latin typeface="Roboto"/>
                <a:ea typeface="Roboto"/>
                <a:cs typeface="Roboto"/>
                <a:sym typeface="Roboto"/>
              </a:rPr>
              <a:t> C. Do not open it and verify the message through a trusted channel</a:t>
            </a:r>
          </a:p>
          <a:p>
            <a:pPr algn="just">
              <a:lnSpc>
                <a:spcPts val="1696"/>
              </a:lnSpc>
            </a:pPr>
            <a:r>
              <a:rPr lang="en-US" sz="1600" spc="59">
                <a:solidFill>
                  <a:srgbClr val="000000"/>
                </a:solidFill>
                <a:latin typeface="Roboto"/>
                <a:ea typeface="Roboto"/>
                <a:cs typeface="Roboto"/>
                <a:sym typeface="Roboto"/>
              </a:rPr>
              <a:t> D. Forward the attachment to a colleague</a:t>
            </a:r>
          </a:p>
          <a:p>
            <a:pPr algn="just">
              <a:lnSpc>
                <a:spcPts val="1696"/>
              </a:lnSpc>
            </a:pPr>
            <a:r>
              <a:rPr lang="en-US" sz="1600" spc="59">
                <a:solidFill>
                  <a:srgbClr val="000000"/>
                </a:solidFill>
                <a:latin typeface="Roboto"/>
                <a:ea typeface="Roboto"/>
                <a:cs typeface="Roboto"/>
                <a:sym typeface="Roboto"/>
              </a:rPr>
              <a:t>Answer: C</a:t>
            </a:r>
          </a:p>
          <a:p>
            <a:pPr algn="just">
              <a:lnSpc>
                <a:spcPts val="1696"/>
              </a:lnSpc>
            </a:pP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p:cSld>
    <p:bg>
      <p:bgPr>
        <a:gradFill rotWithShape="true">
          <a:gsLst>
            <a:gs pos="0">
              <a:srgbClr val="FFFFFF">
                <a:alpha val="100000"/>
              </a:srgbClr>
            </a:gs>
            <a:gs pos="50000">
              <a:srgbClr val="FFFFFF">
                <a:alpha val="100000"/>
              </a:srgbClr>
            </a:gs>
            <a:gs pos="100000">
              <a:srgbClr val="ECF5FE">
                <a:alpha val="100000"/>
              </a:srgbClr>
            </a:gs>
          </a:gsLst>
          <a:lin ang="5400000"/>
        </a:gradFill>
      </p:bgPr>
    </p:bg>
    <p:spTree>
      <p:nvGrpSpPr>
        <p:cNvPr id="1" name=""/>
        <p:cNvGrpSpPr/>
        <p:nvPr/>
      </p:nvGrpSpPr>
      <p:grpSpPr>
        <a:xfrm>
          <a:off x="0" y="0"/>
          <a:ext cx="0" cy="0"/>
          <a:chOff x="0" y="0"/>
          <a:chExt cx="0" cy="0"/>
        </a:xfrm>
      </p:grpSpPr>
      <p:grpSp>
        <p:nvGrpSpPr>
          <p:cNvPr name="Group 2" id="2"/>
          <p:cNvGrpSpPr/>
          <p:nvPr/>
        </p:nvGrpSpPr>
        <p:grpSpPr>
          <a:xfrm rot="0">
            <a:off x="0" y="9565"/>
            <a:ext cx="18288000" cy="10277435"/>
            <a:chOff x="0" y="0"/>
            <a:chExt cx="24384000" cy="13703246"/>
          </a:xfrm>
        </p:grpSpPr>
        <p:grpSp>
          <p:nvGrpSpPr>
            <p:cNvPr name="Group 3" id="3"/>
            <p:cNvGrpSpPr/>
            <p:nvPr/>
          </p:nvGrpSpPr>
          <p:grpSpPr>
            <a:xfrm rot="0">
              <a:off x="0" y="0"/>
              <a:ext cx="24384000" cy="13703246"/>
              <a:chOff x="0" y="0"/>
              <a:chExt cx="4596479" cy="2583115"/>
            </a:xfrm>
          </p:grpSpPr>
          <p:sp>
            <p:nvSpPr>
              <p:cNvPr name="Freeform 4" id="4"/>
              <p:cNvSpPr/>
              <p:nvPr/>
            </p:nvSpPr>
            <p:spPr>
              <a:xfrm flipH="false" flipV="false" rot="0">
                <a:off x="0" y="0"/>
                <a:ext cx="4596479" cy="2583115"/>
              </a:xfrm>
              <a:custGeom>
                <a:avLst/>
                <a:gdLst/>
                <a:ahLst/>
                <a:cxnLst/>
                <a:rect r="r" b="b" t="t" l="l"/>
                <a:pathLst>
                  <a:path h="2583115" w="4596479">
                    <a:moveTo>
                      <a:pt x="4517061" y="0"/>
                    </a:moveTo>
                    <a:lnTo>
                      <a:pt x="79418" y="0"/>
                    </a:lnTo>
                    <a:cubicBezTo>
                      <a:pt x="79418" y="43699"/>
                      <a:pt x="44079" y="79418"/>
                      <a:pt x="0" y="79418"/>
                    </a:cubicBezTo>
                    <a:lnTo>
                      <a:pt x="0" y="2503697"/>
                    </a:lnTo>
                    <a:cubicBezTo>
                      <a:pt x="43699" y="2503697"/>
                      <a:pt x="79418" y="2539036"/>
                      <a:pt x="79418" y="2583115"/>
                    </a:cubicBezTo>
                    <a:lnTo>
                      <a:pt x="4517061" y="2583115"/>
                    </a:lnTo>
                    <a:cubicBezTo>
                      <a:pt x="4517061" y="2539416"/>
                      <a:pt x="4552400" y="2503697"/>
                      <a:pt x="4596479" y="2503697"/>
                    </a:cubicBezTo>
                    <a:lnTo>
                      <a:pt x="4596479" y="79418"/>
                    </a:lnTo>
                    <a:cubicBezTo>
                      <a:pt x="4552780" y="79418"/>
                      <a:pt x="4517061" y="44079"/>
                      <a:pt x="4517061" y="0"/>
                    </a:cubicBezTo>
                    <a:close/>
                  </a:path>
                </a:pathLst>
              </a:custGeom>
              <a:ln w="9525" cap="sq">
                <a:solidFill>
                  <a:srgbClr val="C29C84"/>
                </a:solidFill>
                <a:prstDash val="solid"/>
                <a:miter/>
              </a:ln>
            </p:spPr>
          </p:sp>
          <p:sp>
            <p:nvSpPr>
              <p:cNvPr name="TextBox 5" id="5"/>
              <p:cNvSpPr txBox="true"/>
              <p:nvPr/>
            </p:nvSpPr>
            <p:spPr>
              <a:xfrm>
                <a:off x="38100" y="-9525"/>
                <a:ext cx="4520279" cy="2554540"/>
              </a:xfrm>
              <a:prstGeom prst="rect">
                <a:avLst/>
              </a:prstGeom>
            </p:spPr>
            <p:txBody>
              <a:bodyPr anchor="ctr" rtlCol="false" tIns="50800" lIns="50800" bIns="50800" rIns="50800"/>
              <a:lstStyle/>
              <a:p>
                <a:pPr algn="ctr">
                  <a:lnSpc>
                    <a:spcPts val="2660"/>
                  </a:lnSpc>
                </a:pPr>
              </a:p>
            </p:txBody>
          </p:sp>
        </p:grpSp>
        <p:grpSp>
          <p:nvGrpSpPr>
            <p:cNvPr name="Group 6" id="6"/>
            <p:cNvGrpSpPr/>
            <p:nvPr/>
          </p:nvGrpSpPr>
          <p:grpSpPr>
            <a:xfrm rot="0">
              <a:off x="178937" y="207890"/>
              <a:ext cx="23995525" cy="13287466"/>
              <a:chOff x="0" y="0"/>
              <a:chExt cx="4596479" cy="2545290"/>
            </a:xfrm>
          </p:grpSpPr>
          <p:sp>
            <p:nvSpPr>
              <p:cNvPr name="Freeform 7" id="7"/>
              <p:cNvSpPr/>
              <p:nvPr/>
            </p:nvSpPr>
            <p:spPr>
              <a:xfrm flipH="false" flipV="false" rot="0">
                <a:off x="0" y="0"/>
                <a:ext cx="4596479" cy="2545290"/>
              </a:xfrm>
              <a:custGeom>
                <a:avLst/>
                <a:gdLst/>
                <a:ahLst/>
                <a:cxnLst/>
                <a:rect r="r" b="b" t="t" l="l"/>
                <a:pathLst>
                  <a:path h="2545290" w="4596479">
                    <a:moveTo>
                      <a:pt x="4517061" y="0"/>
                    </a:moveTo>
                    <a:lnTo>
                      <a:pt x="79418" y="0"/>
                    </a:lnTo>
                    <a:cubicBezTo>
                      <a:pt x="79418" y="43699"/>
                      <a:pt x="44079" y="79418"/>
                      <a:pt x="0" y="79418"/>
                    </a:cubicBezTo>
                    <a:lnTo>
                      <a:pt x="0" y="2465872"/>
                    </a:lnTo>
                    <a:cubicBezTo>
                      <a:pt x="43699" y="2465872"/>
                      <a:pt x="79418" y="2501211"/>
                      <a:pt x="79418" y="2545290"/>
                    </a:cubicBezTo>
                    <a:lnTo>
                      <a:pt x="4517061" y="2545290"/>
                    </a:lnTo>
                    <a:cubicBezTo>
                      <a:pt x="4517061" y="2501590"/>
                      <a:pt x="4552400" y="2465872"/>
                      <a:pt x="4596479" y="2465872"/>
                    </a:cubicBezTo>
                    <a:lnTo>
                      <a:pt x="4596479" y="79418"/>
                    </a:lnTo>
                    <a:cubicBezTo>
                      <a:pt x="4552780" y="79418"/>
                      <a:pt x="4517061" y="44079"/>
                      <a:pt x="4517061" y="0"/>
                    </a:cubicBezTo>
                    <a:close/>
                  </a:path>
                </a:pathLst>
              </a:custGeom>
              <a:solidFill>
                <a:srgbClr val="F8F2EC"/>
              </a:solidFill>
              <a:ln w="9525" cap="sq">
                <a:solidFill>
                  <a:srgbClr val="C29C84"/>
                </a:solidFill>
                <a:prstDash val="solid"/>
                <a:miter/>
              </a:ln>
            </p:spPr>
          </p:sp>
          <p:sp>
            <p:nvSpPr>
              <p:cNvPr name="TextBox 8" id="8"/>
              <p:cNvSpPr txBox="true"/>
              <p:nvPr/>
            </p:nvSpPr>
            <p:spPr>
              <a:xfrm>
                <a:off x="38100" y="-9525"/>
                <a:ext cx="4520279" cy="2516715"/>
              </a:xfrm>
              <a:prstGeom prst="rect">
                <a:avLst/>
              </a:prstGeom>
            </p:spPr>
            <p:txBody>
              <a:bodyPr anchor="ctr" rtlCol="false" tIns="50800" lIns="50800" bIns="50800" rIns="50800"/>
              <a:lstStyle/>
              <a:p>
                <a:pPr algn="ctr">
                  <a:lnSpc>
                    <a:spcPts val="2660"/>
                  </a:lnSpc>
                </a:pPr>
              </a:p>
            </p:txBody>
          </p:sp>
        </p:grpSp>
      </p:grpSp>
      <p:grpSp>
        <p:nvGrpSpPr>
          <p:cNvPr name="Group 9" id="9"/>
          <p:cNvGrpSpPr/>
          <p:nvPr/>
        </p:nvGrpSpPr>
        <p:grpSpPr>
          <a:xfrm rot="0">
            <a:off x="1288202" y="677425"/>
            <a:ext cx="16405157" cy="9053461"/>
            <a:chOff x="0" y="0"/>
            <a:chExt cx="4320700" cy="2384451"/>
          </a:xfrm>
        </p:grpSpPr>
        <p:sp>
          <p:nvSpPr>
            <p:cNvPr name="Freeform 10" id="10"/>
            <p:cNvSpPr/>
            <p:nvPr/>
          </p:nvSpPr>
          <p:spPr>
            <a:xfrm flipH="false" flipV="false" rot="0">
              <a:off x="0" y="0"/>
              <a:ext cx="4320700" cy="2384451"/>
            </a:xfrm>
            <a:custGeom>
              <a:avLst/>
              <a:gdLst/>
              <a:ahLst/>
              <a:cxnLst/>
              <a:rect r="r" b="b" t="t" l="l"/>
              <a:pathLst>
                <a:path h="2384451" w="4320700">
                  <a:moveTo>
                    <a:pt x="24068" y="0"/>
                  </a:moveTo>
                  <a:lnTo>
                    <a:pt x="4296632" y="0"/>
                  </a:lnTo>
                  <a:cubicBezTo>
                    <a:pt x="4309924" y="0"/>
                    <a:pt x="4320700" y="10776"/>
                    <a:pt x="4320700" y="24068"/>
                  </a:cubicBezTo>
                  <a:lnTo>
                    <a:pt x="4320700" y="2360383"/>
                  </a:lnTo>
                  <a:cubicBezTo>
                    <a:pt x="4320700" y="2373675"/>
                    <a:pt x="4309924" y="2384451"/>
                    <a:pt x="4296632" y="2384451"/>
                  </a:cubicBezTo>
                  <a:lnTo>
                    <a:pt x="24068" y="2384451"/>
                  </a:lnTo>
                  <a:cubicBezTo>
                    <a:pt x="10776" y="2384451"/>
                    <a:pt x="0" y="2373675"/>
                    <a:pt x="0" y="2360383"/>
                  </a:cubicBezTo>
                  <a:lnTo>
                    <a:pt x="0" y="24068"/>
                  </a:lnTo>
                  <a:cubicBezTo>
                    <a:pt x="0" y="10776"/>
                    <a:pt x="10776" y="0"/>
                    <a:pt x="24068"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a:ln w="19050" cap="rnd">
              <a:solidFill>
                <a:srgbClr val="000000"/>
              </a:solidFill>
              <a:prstDash val="solid"/>
              <a:round/>
            </a:ln>
          </p:spPr>
        </p:sp>
        <p:sp>
          <p:nvSpPr>
            <p:cNvPr name="TextBox 11" id="11"/>
            <p:cNvSpPr txBox="true"/>
            <p:nvPr/>
          </p:nvSpPr>
          <p:spPr>
            <a:xfrm>
              <a:off x="0" y="47625"/>
              <a:ext cx="4320700" cy="2336826"/>
            </a:xfrm>
            <a:prstGeom prst="rect">
              <a:avLst/>
            </a:prstGeom>
          </p:spPr>
          <p:txBody>
            <a:bodyPr anchor="ctr" rtlCol="false" tIns="50800" lIns="50800" bIns="50800" rIns="50800"/>
            <a:lstStyle/>
            <a:p>
              <a:pPr algn="ctr">
                <a:lnSpc>
                  <a:spcPts val="1620"/>
                </a:lnSpc>
              </a:pPr>
            </a:p>
          </p:txBody>
        </p:sp>
      </p:grpSp>
      <p:grpSp>
        <p:nvGrpSpPr>
          <p:cNvPr name="Group 12" id="12"/>
          <p:cNvGrpSpPr/>
          <p:nvPr/>
        </p:nvGrpSpPr>
        <p:grpSpPr>
          <a:xfrm rot="0">
            <a:off x="16530156" y="6970533"/>
            <a:ext cx="1458288" cy="145828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14" id="14"/>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15" id="15"/>
          <p:cNvGrpSpPr/>
          <p:nvPr/>
        </p:nvGrpSpPr>
        <p:grpSpPr>
          <a:xfrm rot="0">
            <a:off x="15976646" y="155750"/>
            <a:ext cx="1427910" cy="142791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17" id="17"/>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18" id="18"/>
          <p:cNvGrpSpPr/>
          <p:nvPr/>
        </p:nvGrpSpPr>
        <p:grpSpPr>
          <a:xfrm rot="0">
            <a:off x="2257890" y="9271213"/>
            <a:ext cx="626973" cy="62697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0" id="20"/>
            <p:cNvSpPr txBox="true"/>
            <p:nvPr/>
          </p:nvSpPr>
          <p:spPr>
            <a:xfrm>
              <a:off x="76200" y="95250"/>
              <a:ext cx="660400" cy="641350"/>
            </a:xfrm>
            <a:prstGeom prst="rect">
              <a:avLst/>
            </a:prstGeom>
          </p:spPr>
          <p:txBody>
            <a:bodyPr anchor="ctr" rtlCol="false" tIns="50800" lIns="50800" bIns="50800" rIns="50800"/>
            <a:lstStyle/>
            <a:p>
              <a:pPr algn="ctr">
                <a:lnSpc>
                  <a:spcPts val="2859"/>
                </a:lnSpc>
              </a:pPr>
            </a:p>
          </p:txBody>
        </p:sp>
      </p:grpSp>
      <p:grpSp>
        <p:nvGrpSpPr>
          <p:cNvPr name="Group 21" id="21"/>
          <p:cNvGrpSpPr/>
          <p:nvPr/>
        </p:nvGrpSpPr>
        <p:grpSpPr>
          <a:xfrm rot="0">
            <a:off x="222976" y="1310387"/>
            <a:ext cx="1246940" cy="1251772"/>
            <a:chOff x="0" y="0"/>
            <a:chExt cx="732060" cy="734897"/>
          </a:xfrm>
        </p:grpSpPr>
        <p:sp>
          <p:nvSpPr>
            <p:cNvPr name="Freeform 22" id="22"/>
            <p:cNvSpPr/>
            <p:nvPr/>
          </p:nvSpPr>
          <p:spPr>
            <a:xfrm flipH="false" flipV="false" rot="0">
              <a:off x="0" y="0"/>
              <a:ext cx="732060" cy="734897"/>
            </a:xfrm>
            <a:custGeom>
              <a:avLst/>
              <a:gdLst/>
              <a:ahLst/>
              <a:cxnLst/>
              <a:rect r="r" b="b" t="t" l="l"/>
              <a:pathLst>
                <a:path h="734897" w="732060">
                  <a:moveTo>
                    <a:pt x="366030" y="0"/>
                  </a:moveTo>
                  <a:cubicBezTo>
                    <a:pt x="163877" y="0"/>
                    <a:pt x="0" y="164512"/>
                    <a:pt x="0" y="367448"/>
                  </a:cubicBezTo>
                  <a:cubicBezTo>
                    <a:pt x="0" y="570384"/>
                    <a:pt x="163877" y="734897"/>
                    <a:pt x="366030" y="734897"/>
                  </a:cubicBezTo>
                  <a:cubicBezTo>
                    <a:pt x="568183" y="734897"/>
                    <a:pt x="732060" y="570384"/>
                    <a:pt x="732060" y="367448"/>
                  </a:cubicBezTo>
                  <a:cubicBezTo>
                    <a:pt x="732060" y="164512"/>
                    <a:pt x="568183" y="0"/>
                    <a:pt x="366030" y="0"/>
                  </a:cubicBezTo>
                  <a:close/>
                </a:path>
              </a:pathLst>
            </a:custGeom>
            <a:gradFill rotWithShape="true">
              <a:gsLst>
                <a:gs pos="0">
                  <a:srgbClr val="FFFFFF">
                    <a:alpha val="100000"/>
                  </a:srgbClr>
                </a:gs>
                <a:gs pos="50000">
                  <a:srgbClr val="FFFFFF">
                    <a:alpha val="100000"/>
                  </a:srgbClr>
                </a:gs>
                <a:gs pos="100000">
                  <a:srgbClr val="ECF5FE">
                    <a:alpha val="100000"/>
                  </a:srgbClr>
                </a:gs>
              </a:gsLst>
              <a:lin ang="5400000"/>
            </a:gradFill>
          </p:spPr>
        </p:sp>
        <p:sp>
          <p:nvSpPr>
            <p:cNvPr name="TextBox 23" id="23"/>
            <p:cNvSpPr txBox="true"/>
            <p:nvPr/>
          </p:nvSpPr>
          <p:spPr>
            <a:xfrm>
              <a:off x="68631" y="87947"/>
              <a:ext cx="594799" cy="578054"/>
            </a:xfrm>
            <a:prstGeom prst="rect">
              <a:avLst/>
            </a:prstGeom>
          </p:spPr>
          <p:txBody>
            <a:bodyPr anchor="ctr" rtlCol="false" tIns="50800" lIns="50800" bIns="50800" rIns="50800"/>
            <a:lstStyle/>
            <a:p>
              <a:pPr algn="ctr">
                <a:lnSpc>
                  <a:spcPts val="2859"/>
                </a:lnSpc>
              </a:pPr>
            </a:p>
          </p:txBody>
        </p:sp>
      </p:grpSp>
      <p:sp>
        <p:nvSpPr>
          <p:cNvPr name="TextBox 24" id="24"/>
          <p:cNvSpPr txBox="true"/>
          <p:nvPr/>
        </p:nvSpPr>
        <p:spPr>
          <a:xfrm rot="0">
            <a:off x="3180549" y="3716568"/>
            <a:ext cx="13349607" cy="2464388"/>
          </a:xfrm>
          <a:prstGeom prst="rect">
            <a:avLst/>
          </a:prstGeom>
        </p:spPr>
        <p:txBody>
          <a:bodyPr anchor="t" rtlCol="false" tIns="0" lIns="0" bIns="0" rIns="0">
            <a:spAutoFit/>
          </a:bodyPr>
          <a:lstStyle/>
          <a:p>
            <a:pPr algn="ctr">
              <a:lnSpc>
                <a:spcPts val="3243"/>
              </a:lnSpc>
            </a:pPr>
            <a:r>
              <a:rPr lang="en-US" sz="3059" spc="113">
                <a:solidFill>
                  <a:srgbClr val="000000"/>
                </a:solidFill>
                <a:latin typeface="Canva Sans"/>
                <a:ea typeface="Canva Sans"/>
                <a:cs typeface="Canva Sans"/>
                <a:sym typeface="Canva Sans"/>
              </a:rPr>
              <a:t>Ph</a:t>
            </a:r>
            <a:r>
              <a:rPr lang="en-US" sz="3059" spc="113">
                <a:solidFill>
                  <a:srgbClr val="000000"/>
                </a:solidFill>
                <a:latin typeface="Canva Sans"/>
                <a:ea typeface="Canva Sans"/>
                <a:cs typeface="Canva Sans"/>
                <a:sym typeface="Canva Sans"/>
              </a:rPr>
              <a:t>ishing is a common cybersecurity threat that targets people through deception and social engineering. By checking senders, links, attachments, and unusual requests, and by verifying suspicious messages through trusted channels, we can reduce the risk of becoming a victim. Staying alert and thinking before clicking are essential to staying safe online. </a:t>
            </a:r>
          </a:p>
        </p:txBody>
      </p:sp>
      <p:grpSp>
        <p:nvGrpSpPr>
          <p:cNvPr name="Group 25" id="25"/>
          <p:cNvGrpSpPr/>
          <p:nvPr/>
        </p:nvGrpSpPr>
        <p:grpSpPr>
          <a:xfrm rot="0">
            <a:off x="14884825" y="350702"/>
            <a:ext cx="519003" cy="51900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27" id="27"/>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grpSp>
        <p:nvGrpSpPr>
          <p:cNvPr name="Group 28" id="28"/>
          <p:cNvGrpSpPr/>
          <p:nvPr/>
        </p:nvGrpSpPr>
        <p:grpSpPr>
          <a:xfrm rot="0">
            <a:off x="15397573" y="9325198"/>
            <a:ext cx="519003" cy="519003"/>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8F2EC">
                    <a:alpha val="100000"/>
                  </a:srgbClr>
                </a:gs>
                <a:gs pos="100000">
                  <a:srgbClr val="B2977C">
                    <a:alpha val="100000"/>
                  </a:srgbClr>
                </a:gs>
              </a:gsLst>
              <a:lin ang="2700000"/>
            </a:gradFill>
          </p:spPr>
        </p:sp>
        <p:sp>
          <p:nvSpPr>
            <p:cNvPr name="TextBox 30" id="30"/>
            <p:cNvSpPr txBox="true"/>
            <p:nvPr/>
          </p:nvSpPr>
          <p:spPr>
            <a:xfrm>
              <a:off x="76200" y="114300"/>
              <a:ext cx="660400" cy="622300"/>
            </a:xfrm>
            <a:prstGeom prst="rect">
              <a:avLst/>
            </a:prstGeom>
          </p:spPr>
          <p:txBody>
            <a:bodyPr anchor="ctr" rtlCol="false" tIns="50800" lIns="50800" bIns="50800" rIns="50800"/>
            <a:lstStyle/>
            <a:p>
              <a:pPr algn="ctr">
                <a:lnSpc>
                  <a:spcPts val="1260"/>
                </a:lnSpc>
              </a:pPr>
            </a:p>
          </p:txBody>
        </p:sp>
      </p:grpSp>
      <p:sp>
        <p:nvSpPr>
          <p:cNvPr name="TextBox 31" id="31"/>
          <p:cNvSpPr txBox="true"/>
          <p:nvPr/>
        </p:nvSpPr>
        <p:spPr>
          <a:xfrm rot="0">
            <a:off x="7658150" y="2453752"/>
            <a:ext cx="3273815" cy="524764"/>
          </a:xfrm>
          <a:prstGeom prst="rect">
            <a:avLst/>
          </a:prstGeom>
        </p:spPr>
        <p:txBody>
          <a:bodyPr anchor="t" rtlCol="false" tIns="0" lIns="0" bIns="0" rIns="0">
            <a:spAutoFit/>
          </a:bodyPr>
          <a:lstStyle/>
          <a:p>
            <a:pPr algn="l">
              <a:lnSpc>
                <a:spcPts val="4028"/>
              </a:lnSpc>
              <a:spcBef>
                <a:spcPct val="0"/>
              </a:spcBef>
            </a:pPr>
            <a:r>
              <a:rPr lang="en-US" b="true" sz="3800" i="true" spc="140" u="sng">
                <a:solidFill>
                  <a:srgbClr val="000000"/>
                </a:solidFill>
                <a:latin typeface="Canva Sans Bold Italics"/>
                <a:ea typeface="Canva Sans Bold Italics"/>
                <a:cs typeface="Canva Sans Bold Italics"/>
                <a:sym typeface="Canva Sans Bold Italics"/>
              </a:rPr>
              <a:t>Conclusion :</a:t>
            </a:r>
          </a:p>
        </p:txBody>
      </p:sp>
      <p:sp>
        <p:nvSpPr>
          <p:cNvPr name="TextBox 32" id="32"/>
          <p:cNvSpPr txBox="true"/>
          <p:nvPr/>
        </p:nvSpPr>
        <p:spPr>
          <a:xfrm rot="0">
            <a:off x="7544312" y="8351964"/>
            <a:ext cx="3892937" cy="668064"/>
          </a:xfrm>
          <a:prstGeom prst="rect">
            <a:avLst/>
          </a:prstGeom>
        </p:spPr>
        <p:txBody>
          <a:bodyPr anchor="t" rtlCol="false" tIns="0" lIns="0" bIns="0" rIns="0">
            <a:spAutoFit/>
          </a:bodyPr>
          <a:lstStyle/>
          <a:p>
            <a:pPr algn="l">
              <a:lnSpc>
                <a:spcPts val="5196"/>
              </a:lnSpc>
              <a:spcBef>
                <a:spcPct val="0"/>
              </a:spcBef>
            </a:pPr>
            <a:r>
              <a:rPr lang="en-US" b="true" sz="4902" spc="181">
                <a:solidFill>
                  <a:srgbClr val="000000"/>
                </a:solidFill>
                <a:latin typeface="Cormorant Garamond Bold"/>
                <a:ea typeface="Cormorant Garamond Bold"/>
                <a:cs typeface="Cormorant Garamond Bold"/>
                <a:sym typeface="Cormorant Garamond Bold"/>
              </a:rPr>
              <a:t>THANK YOU</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DAHSc3LQMRE</dc:identifier>
  <dcterms:modified xsi:type="dcterms:W3CDTF">2011-08-01T06:04:30Z</dcterms:modified>
  <cp:revision>1</cp:revision>
  <dc:title>presentation-stage</dc:title>
</cp:coreProperties>
</file>